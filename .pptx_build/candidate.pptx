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70c93ade5a4715" /><Relationship Type="http://schemas.openxmlformats.org/officeDocument/2006/relationships/extended-properties" Target="/docProps/app.xml" Id="Rae200b961ae54502" /><Relationship Type="http://schemas.openxmlformats.org/officeDocument/2006/relationships/officeDocument" Target="/ppt/presentation.xml" Id="Re9bbfd5273b743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c0ea761b6e4deb"/>
  </p:sldMasterIdLst>
  <p:notesMasterIdLst>
    <p:notesMasterId xmlns:r="http://schemas.openxmlformats.org/officeDocument/2006/relationships" r:id="Ra94465401a0443d9"/>
  </p:notesMasterIdLst>
  <p:sldIdLst>
    <p:sldId xmlns:r="http://schemas.openxmlformats.org/officeDocument/2006/relationships" id="256" r:id="Ra4717c89793042e0"/>
    <p:sldId xmlns:r="http://schemas.openxmlformats.org/officeDocument/2006/relationships" id="257" r:id="R67f259254dee4bfd"/>
    <p:sldId xmlns:r="http://schemas.openxmlformats.org/officeDocument/2006/relationships" id="258" r:id="Rcf059f8b88b74128"/>
    <p:sldId xmlns:r="http://schemas.openxmlformats.org/officeDocument/2006/relationships" id="259" r:id="R5e5cc61edea44374"/>
    <p:sldId xmlns:r="http://schemas.openxmlformats.org/officeDocument/2006/relationships" id="260" r:id="R041cf3dd4d6c493d"/>
    <p:sldId xmlns:r="http://schemas.openxmlformats.org/officeDocument/2006/relationships" id="261" r:id="R287b0936d5b44717"/>
    <p:sldId xmlns:r="http://schemas.openxmlformats.org/officeDocument/2006/relationships" id="262" r:id="R4bdcd40945d74a34"/>
    <p:sldId xmlns:r="http://schemas.openxmlformats.org/officeDocument/2006/relationships" id="263" r:id="R01cc06cb5bf840f6"/>
    <p:sldId xmlns:r="http://schemas.openxmlformats.org/officeDocument/2006/relationships" id="264" r:id="Rd6d054d02bcf4150"/>
    <p:sldId xmlns:r="http://schemas.openxmlformats.org/officeDocument/2006/relationships" id="265" r:id="R33ab6114c0cd469f"/>
    <p:sldId xmlns:r="http://schemas.openxmlformats.org/officeDocument/2006/relationships" id="266" r:id="R9d7b6af7b96f48b6"/>
    <p:sldId xmlns:r="http://schemas.openxmlformats.org/officeDocument/2006/relationships" id="267" r:id="R11b9929e3c34473d"/>
    <p:sldId xmlns:r="http://schemas.openxmlformats.org/officeDocument/2006/relationships" id="268" r:id="Ra18c4d60b18e47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87301e0f174ef2" /><Relationship Type="http://schemas.openxmlformats.org/officeDocument/2006/relationships/slideMaster" Target="/ppt/slideMasters/slideMaster1.xml" Id="R8dc0ea761b6e4deb" /><Relationship Type="http://schemas.openxmlformats.org/officeDocument/2006/relationships/notesMaster" Target="/ppt/notesMasters/notesMaster1.xml" Id="Ra94465401a0443d9" /><Relationship Type="http://schemas.openxmlformats.org/officeDocument/2006/relationships/presProps" Target="/ppt/presProps.xml" Id="R106a776f99674746" /><Relationship Type="http://schemas.openxmlformats.org/officeDocument/2006/relationships/tableStyles" Target="/ppt/tableStyles.xml" Id="Red93e7d0e7f14332" /><Relationship Type="http://schemas.openxmlformats.org/officeDocument/2006/relationships/slide" Target="/ppt/slides/slide1.xml" Id="Ra4717c89793042e0" /><Relationship Type="http://schemas.openxmlformats.org/officeDocument/2006/relationships/slide" Target="/ppt/slides/slide2.xml" Id="R67f259254dee4bfd" /><Relationship Type="http://schemas.openxmlformats.org/officeDocument/2006/relationships/slide" Target="/ppt/slides/slide3.xml" Id="Rcf059f8b88b74128" /><Relationship Type="http://schemas.openxmlformats.org/officeDocument/2006/relationships/slide" Target="/ppt/slides/slide4.xml" Id="R5e5cc61edea44374" /><Relationship Type="http://schemas.openxmlformats.org/officeDocument/2006/relationships/slide" Target="/ppt/slides/slide5.xml" Id="R041cf3dd4d6c493d" /><Relationship Type="http://schemas.openxmlformats.org/officeDocument/2006/relationships/slide" Target="/ppt/slides/slide6.xml" Id="R287b0936d5b44717" /><Relationship Type="http://schemas.openxmlformats.org/officeDocument/2006/relationships/slide" Target="/ppt/slides/slide7.xml" Id="R4bdcd40945d74a34" /><Relationship Type="http://schemas.openxmlformats.org/officeDocument/2006/relationships/slide" Target="/ppt/slides/slide8.xml" Id="R01cc06cb5bf840f6" /><Relationship Type="http://schemas.openxmlformats.org/officeDocument/2006/relationships/slide" Target="/ppt/slides/slide9.xml" Id="Rd6d054d02bcf4150" /><Relationship Type="http://schemas.openxmlformats.org/officeDocument/2006/relationships/slide" Target="/ppt/slides/slide10.xml" Id="R33ab6114c0cd469f" /><Relationship Type="http://schemas.openxmlformats.org/officeDocument/2006/relationships/slide" Target="/ppt/slides/slide11.xml" Id="R9d7b6af7b96f48b6" /><Relationship Type="http://schemas.openxmlformats.org/officeDocument/2006/relationships/slide" Target="/ppt/slides/slide12.xml" Id="R11b9929e3c34473d" /><Relationship Type="http://schemas.openxmlformats.org/officeDocument/2006/relationships/slide" Target="/ppt/slides/slide13.xml" Id="Ra18c4d60b18e47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02b9e79e004b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c25fb8aa2b4a57" /><Relationship Type="http://schemas.openxmlformats.org/officeDocument/2006/relationships/notesMaster" Target="/ppt/notesMasters/notesMaster1.xml" Id="R48a5f0365e6546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0acec129aa4801" /><Relationship Type="http://schemas.openxmlformats.org/officeDocument/2006/relationships/notesMaster" Target="/ppt/notesMasters/notesMaster1.xml" Id="R456b30eb4f164f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a5b6d02c28475d" /><Relationship Type="http://schemas.openxmlformats.org/officeDocument/2006/relationships/notesMaster" Target="/ppt/notesMasters/notesMaster1.xml" Id="R8691e28954ec45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14007a56844217" /><Relationship Type="http://schemas.openxmlformats.org/officeDocument/2006/relationships/notesMaster" Target="/ppt/notesMasters/notesMaster1.xml" Id="R89f456c3945842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b3bf0243f840df" /><Relationship Type="http://schemas.openxmlformats.org/officeDocument/2006/relationships/notesMaster" Target="/ppt/notesMasters/notesMaster1.xml" Id="Rf6e460c2fc4943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fe744da3374be6" /><Relationship Type="http://schemas.openxmlformats.org/officeDocument/2006/relationships/notesMaster" Target="/ppt/notesMasters/notesMaster1.xml" Id="R2f6235909ff745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b7ccc9ca2c433e" /><Relationship Type="http://schemas.openxmlformats.org/officeDocument/2006/relationships/notesMaster" Target="/ppt/notesMasters/notesMaster1.xml" Id="R8d14a2cc0f9944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4a4419ce354f9a" /><Relationship Type="http://schemas.openxmlformats.org/officeDocument/2006/relationships/notesMaster" Target="/ppt/notesMasters/notesMaster1.xml" Id="R18add9e5f6f447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1a4c053c1f46ff" /><Relationship Type="http://schemas.openxmlformats.org/officeDocument/2006/relationships/notesMaster" Target="/ppt/notesMasters/notesMaster1.xml" Id="R242047e05d3347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f3a748d86e4532" /><Relationship Type="http://schemas.openxmlformats.org/officeDocument/2006/relationships/notesMaster" Target="/ppt/notesMasters/notesMaster1.xml" Id="R3927bb523bc349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ea175ec5864663" /><Relationship Type="http://schemas.openxmlformats.org/officeDocument/2006/relationships/notesMaster" Target="/ppt/notesMasters/notesMaster1.xml" Id="R129f7d98b22a47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40b1ac254e44f9" /><Relationship Type="http://schemas.openxmlformats.org/officeDocument/2006/relationships/notesMaster" Target="/ppt/notesMasters/notesMaster1.xml" Id="R5d037017101249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634cc59d564ce7" /><Relationship Type="http://schemas.openxmlformats.org/officeDocument/2006/relationships/notesMaster" Target="/ppt/notesMasters/notesMaster1.xml" Id="Rd4627bff1133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hospital_patient_analytics_dash_1.xlsx; clean_patients.csv; clean_patients_cleaned.csv; hospital_patient_data_cleaning.ipynb; hospital_patient_visualization.ipynb. The source files do not name an individual author.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hospital_patient_analytics_dash_1.xlsx, Dashboard and Chart Data sheets; clean_patients_cleaned.csv. Record counts reflect rows, not validated unique encounters.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hospital_patient_data_cleaning.ipynb, cleaning and validation cells; clean_patients.csv; clean_patients_cleaned.csv. The notebook removes four exact duplicate rows, flags 85 out-of-range ages (150 and 999), imputes those ages with the valid-age mean rounded to 43, and retains non-identical repeated IDs.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hospital_patient_analytics_dash_1.xlsx, Chart Data; clean_patients_cleaned.csv; hospital_patient_visualization.ipynb. Counts represent records by admission date. Sunday dips occur on 7, 14, 21, and 28 June; this is a descriptive pattern, not proof of reduced demand.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hospital_patient_analytics_dash_1.xlsx, Dashboard and Chart Data; clean_patients_cleaned.csv. Shares are calculated from 40,596 cleaned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hospital_patient_analytics_dash_1.xlsx, Chart Data; clean_patients_cleaned.csv. Status counts are descriptive administrative labels, not validated clinical outcomes. Percentages are rounded.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hospital_patient_analytics_dash_1.xlsx, Dashboard and Chart Data; clean_patients_cleaned.csv. Percentages use 40,596 cleaned records and are rounded.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hospital_patient_analytics_dash_1.xlsx, Chart Data; hospital_patient_visualization.ipynb. The workbook reports average treatment cost per patient-day of ₹14,237.55 for IPD and ₹3,972.30 for OPD; the source extract does not document the patient-day formula in this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hospital_patient_analytics_dash_1.xlsx, Chart Data; clean_patients_cleaned.csv; hospital_patient_visualization.ipynb. OPD waiting time is calculated for OPD rows; room-allocation time is calculated for IPD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clean_patients_cleaned.csv; hospital_patient_visualization.ipynb; hospital_patient_analytics_dash_1.xlsx. Means calculated across rows by payment label; these observational differences do not establish payment effects. Rounded to nearest rupee.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clean_patients_cleaned.csv; hospital_patient_analytics_dash_1.xlsx, Chart Data. Emergency records are defined by patient_category = Emergency; daily averages divide June totals by 30 calendar days. These are record counts, not unique patients.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hospital_patient_analytics_dash_1.xlsx, Dashboard and Chart Data; clean_patients_cleaned.csv. The summary combines eight dashboard visuals and key metrics. All figures are descriptive and row-based.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hospital_patient_data_cleaning.ipynb; hospital_patient_visualization.ipynb; hospital_patient_analytics_dash_1.xlsx; clean_patients_cleaned.csv. This analysis is descriptive and does not estimate realized savings or causal clinical effects.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437e54c224c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236bec08d143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fd9af40e241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2b8cfe88b4c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0eb70786a4e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5d673dac147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3A04FC-C1BA-4782-B98B-4A5744E3F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4885A5A-B43D-4417-8901-2E5275485F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3E7708-A0DC-4613-8FC3-F5CE3C15E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F7669C-E1EF-47CE-8CC6-E95086C698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C078D3-4BB4-4C16-A031-D6C656014B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F4DC9D-39DC-4CD8-88BE-F998982937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C22DF9-9BD6-4A6A-9492-C535B3B83D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B303FBB-0D71-4EBE-80A3-BD25431C84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BB8731-822E-4572-A09D-4CDD818FD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FA1495-EDF0-4765-B213-31B60850AC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12294af17b445b" /><Relationship Type="http://schemas.openxmlformats.org/officeDocument/2006/relationships/slideLayout" Target="/ppt/slideLayouts/slideLayout1.xml" Id="R735847570c3a400f" /><Relationship Type="http://schemas.openxmlformats.org/officeDocument/2006/relationships/slideLayout" Target="/ppt/slideLayouts/slideLayout2.xml" Id="Rb20cdfbf91e84713" /><Relationship Type="http://schemas.openxmlformats.org/officeDocument/2006/relationships/slideLayout" Target="/ppt/slideLayouts/slideLayout3.xml" Id="R17bb28f45de54b4f" /><Relationship Type="http://schemas.openxmlformats.org/officeDocument/2006/relationships/slideLayout" Target="/ppt/slideLayouts/slideLayout4.xml" Id="Rc31b318d4ae14536" /><Relationship Type="http://schemas.openxmlformats.org/officeDocument/2006/relationships/slideLayout" Target="/ppt/slideLayouts/slideLayout5.xml" Id="R6f27f788bbca480d" /><Relationship Type="http://schemas.openxmlformats.org/officeDocument/2006/relationships/slideLayout" Target="/ppt/slideLayouts/slideLayout6.xml" Id="Rda4fefe5eb3144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847570c3a400f"/>
    <p:sldLayoutId xmlns:r="http://schemas.openxmlformats.org/officeDocument/2006/relationships" id="2147483650" r:id="Rb20cdfbf91e84713"/>
    <p:sldLayoutId xmlns:r="http://schemas.openxmlformats.org/officeDocument/2006/relationships" id="2147483651" r:id="R17bb28f45de54b4f"/>
    <p:sldLayoutId xmlns:r="http://schemas.openxmlformats.org/officeDocument/2006/relationships" id="2147483652" r:id="Rc31b318d4ae14536"/>
    <p:sldLayoutId xmlns:r="http://schemas.openxmlformats.org/officeDocument/2006/relationships" id="2147483653" r:id="R6f27f788bbca480d"/>
    <p:sldLayoutId xmlns:r="http://schemas.openxmlformats.org/officeDocument/2006/relationships" id="2147483654" r:id="Rda4fefe5eb3144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63bfa20835445d" /><Relationship Type="http://schemas.openxmlformats.org/officeDocument/2006/relationships/notesSlide" Target="/ppt/notesSlides/notesSlide1.xml" Id="Rf1032586520549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3d5fa2f914b35" /><Relationship Type="http://schemas.openxmlformats.org/officeDocument/2006/relationships/notesSlide" Target="/ppt/notesSlides/notesSlide2.xml" Id="R195c1a9beebb4a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cb9d28b1c64ee5" /><Relationship Type="http://schemas.openxmlformats.org/officeDocument/2006/relationships/notesSlide" Target="/ppt/notesSlides/notesSlide3.xml" Id="Ra98ec17c7c2543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b98a3c4a34211" /><Relationship Type="http://schemas.openxmlformats.org/officeDocument/2006/relationships/chart" Target="/ppt/slides/charts/chart1.xml" Id="R5602bffe4b414742" /><Relationship Type="http://schemas.openxmlformats.org/officeDocument/2006/relationships/notesSlide" Target="/ppt/notesSlides/notesSlide4.xml" Id="Rff959ddf96cc41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e8ac1c346477b" /><Relationship Type="http://schemas.openxmlformats.org/officeDocument/2006/relationships/chart" Target="/ppt/slides/charts/chart2.xml" Id="R47e21245a76e4e2f" /><Relationship Type="http://schemas.openxmlformats.org/officeDocument/2006/relationships/notesSlide" Target="/ppt/notesSlides/notesSlide5.xml" Id="Re7f5d8b62a8b4a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7e7f24ba8c4843" /><Relationship Type="http://schemas.openxmlformats.org/officeDocument/2006/relationships/chart" Target="/ppt/slides/charts/chart3.xml" Id="R70bf56a064784625" /><Relationship Type="http://schemas.openxmlformats.org/officeDocument/2006/relationships/notesSlide" Target="/ppt/notesSlides/notesSlide6.xml" Id="R12d4e5d52bda4c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cd79ce1da4125" /><Relationship Type="http://schemas.openxmlformats.org/officeDocument/2006/relationships/chart" Target="/ppt/slides/charts/chart4.xml" Id="R38c2b9a792354bff" /><Relationship Type="http://schemas.openxmlformats.org/officeDocument/2006/relationships/notesSlide" Target="/ppt/notesSlides/notesSlide7.xml" Id="R491f517a83c348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ce0efec794c71" /><Relationship Type="http://schemas.openxmlformats.org/officeDocument/2006/relationships/chart" Target="/ppt/slides/charts/chart5.xml" Id="R9f5ef0f9c89c41f8" /><Relationship Type="http://schemas.openxmlformats.org/officeDocument/2006/relationships/notesSlide" Target="/ppt/notesSlides/notesSlide8.xml" Id="R68d375b9b24546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d5a7eaf6947bb" /><Relationship Type="http://schemas.openxmlformats.org/officeDocument/2006/relationships/chart" Target="/ppt/slides/charts/chart6.xml" Id="Rd80854ba71ad4ae1" /><Relationship Type="http://schemas.openxmlformats.org/officeDocument/2006/relationships/notesSlide" Target="/ppt/notesSlides/notesSlide9.xml" Id="R631f3f4fbd8347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816ef2ac0b480a" /><Relationship Type="http://schemas.openxmlformats.org/officeDocument/2006/relationships/chart" Target="/ppt/slides/charts/chart7.xml" Id="Raf46c593ef8c4e86" /><Relationship Type="http://schemas.openxmlformats.org/officeDocument/2006/relationships/notesSlide" Target="/ppt/notesSlides/notesSlide10.xml" Id="R5702f1af41c74f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fcbe5ea6504f89" /><Relationship Type="http://schemas.openxmlformats.org/officeDocument/2006/relationships/chart" Target="/ppt/slides/charts/chart8.xml" Id="R9cb0a39762034237" /><Relationship Type="http://schemas.openxmlformats.org/officeDocument/2006/relationships/notesSlide" Target="/ppt/notesSlides/notesSlide11.xml" Id="Rf25c9195490743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0d4896d6c41e5" /><Relationship Type="http://schemas.openxmlformats.org/officeDocument/2006/relationships/notesSlide" Target="/ppt/notesSlides/notesSlide12.xml" Id="R0cec6b4045df4e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b85b49b394cf9" /><Relationship Type="http://schemas.openxmlformats.org/officeDocument/2006/relationships/notesSlide" Target="/ppt/notesSlides/notesSlide13.xml" Id="R35dd60c2eb44458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Records</c:v>
          </c:tx>
          <c:spPr>
            <a:ln xmlns:a="http://schemas.openxmlformats.org/drawingml/2006/main" w="28575">
              <a:solidFill>
                <a:srgbClr val="087E8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87E8B"/>
              </a:solidFill>
            </c:spPr>
          </c:marker>
          <c:cat>
            <c:numLit>
              <c:formatCode>General</c:formatCode>
              <c:ptCount val="30"/>
              <c:pt idx="0">
                <c:v>01</c:v>
              </c:pt>
              <c:pt idx="1">
                <c:v>02</c:v>
              </c:pt>
              <c:pt idx="2">
                <c:v>03</c:v>
              </c:pt>
              <c:pt idx="3">
                <c:v>04</c:v>
              </c:pt>
              <c:pt idx="4">
                <c:v>05</c:v>
              </c:pt>
              <c:pt idx="5">
                <c:v>06</c:v>
              </c:pt>
              <c:pt idx="6">
                <c:v>07</c:v>
              </c:pt>
              <c:pt idx="7">
                <c:v>08</c:v>
              </c:pt>
              <c:pt idx="8">
                <c:v>09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General</c:formatCode>
              <c:ptCount val="30"/>
              <c:pt idx="0">
                <c:v>1516</c:v>
              </c:pt>
              <c:pt idx="1">
                <c:v>1511</c:v>
              </c:pt>
              <c:pt idx="2">
                <c:v>1543</c:v>
              </c:pt>
              <c:pt idx="3">
                <c:v>1575</c:v>
              </c:pt>
              <c:pt idx="4">
                <c:v>1559</c:v>
              </c:pt>
              <c:pt idx="5">
                <c:v>1534</c:v>
              </c:pt>
              <c:pt idx="6">
                <c:v>190</c:v>
              </c:pt>
              <c:pt idx="7">
                <c:v>1483</c:v>
              </c:pt>
              <c:pt idx="8">
                <c:v>1482</c:v>
              </c:pt>
              <c:pt idx="9">
                <c:v>1525</c:v>
              </c:pt>
              <c:pt idx="10">
                <c:v>1557</c:v>
              </c:pt>
              <c:pt idx="11">
                <c:v>1547</c:v>
              </c:pt>
              <c:pt idx="12">
                <c:v>1627</c:v>
              </c:pt>
              <c:pt idx="13">
                <c:v>196</c:v>
              </c:pt>
              <c:pt idx="14">
                <c:v>1534</c:v>
              </c:pt>
              <c:pt idx="15">
                <c:v>1529</c:v>
              </c:pt>
              <c:pt idx="16">
                <c:v>1529</c:v>
              </c:pt>
              <c:pt idx="17">
                <c:v>1490</c:v>
              </c:pt>
              <c:pt idx="18">
                <c:v>1481</c:v>
              </c:pt>
              <c:pt idx="19">
                <c:v>1487</c:v>
              </c:pt>
              <c:pt idx="20">
                <c:v>229</c:v>
              </c:pt>
              <c:pt idx="21">
                <c:v>1536</c:v>
              </c:pt>
              <c:pt idx="22">
                <c:v>1565</c:v>
              </c:pt>
              <c:pt idx="23">
                <c:v>1531</c:v>
              </c:pt>
              <c:pt idx="24">
                <c:v>1551</c:v>
              </c:pt>
              <c:pt idx="25">
                <c:v>1613</c:v>
              </c:pt>
              <c:pt idx="26">
                <c:v>1549</c:v>
              </c:pt>
              <c:pt idx="27">
                <c:v>198</c:v>
              </c:pt>
              <c:pt idx="28">
                <c:v>1456</c:v>
              </c:pt>
              <c:pt idx="29">
                <c:v>1473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27D98"/>
                    </a:solidFill>
                    <a:latin typeface="Arial"/>
                    <a:ea typeface="Arial"/>
                    <a:cs typeface="Arial"/>
                  </a:rPr>
                  <a:t>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27D9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6F4E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Records</c:v>
          </c:tx>
          <c:dPt>
            <c:idx val="0"/>
            <c:spPr>
              <a:solidFill xmlns:a="http://schemas.openxmlformats.org/drawingml/2006/main">
                <a:srgbClr val="087E8B"/>
              </a:solidFill>
            </c:spPr>
          </c:dPt>
          <c:dPt>
            <c:idx val="1"/>
            <c:spPr>
              <a:solidFill xmlns:a="http://schemas.openxmlformats.org/drawingml/2006/main">
                <a:srgbClr val="D9822B"/>
              </a:solidFill>
            </c:spPr>
          </c:dPt>
          <c:cat>
            <c:strLit>
              <c:ptCount val="2"/>
              <c:pt idx="0">
                <c:v>OPD</c:v>
              </c:pt>
              <c:pt idx="1">
                <c:v>IPD</c:v>
              </c:pt>
            </c:strLit>
          </c:cat>
          <c:val>
            <c:numLit>
              <c:formatCode>General</c:formatCode>
              <c:ptCount val="2"/>
              <c:pt idx="0">
                <c:v>30759</c:v>
              </c:pt>
              <c:pt idx="1">
                <c:v>9837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70"/>
        <c:holeSize val="62"/>
      </c:doughnutChart>
      <c:spPr>
        <a:solidFill xmlns:a="http://schemas.openxmlformats.org/drawingml/2006/main">
          <a:srgbClr val="F6F4E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83B56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4E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087E8B"/>
            </a:solidFill>
          </c:spPr>
          <c:invertIfNegative val="0"/>
          <c:cat>
            <c:strLit>
              <c:ptCount val="5"/>
              <c:pt idx="0">
                <c:v>Recovered</c:v>
              </c:pt>
              <c:pt idx="1">
                <c:v>Under treatment</c:v>
              </c:pt>
              <c:pt idx="2">
                <c:v>Referred</c:v>
              </c:pt>
              <c:pt idx="3">
                <c:v>LAMA</c:v>
              </c:pt>
              <c:pt idx="4">
                <c:v>Deceased</c:v>
              </c:pt>
            </c:strLit>
          </c:cat>
          <c:val>
            <c:numLit>
              <c:formatCode>General</c:formatCode>
              <c:ptCount val="5"/>
              <c:pt idx="0">
                <c:v>33038</c:v>
              </c:pt>
              <c:pt idx="1">
                <c:v>4572</c:v>
              </c:pt>
              <c:pt idx="2">
                <c:v>2255</c:v>
              </c:pt>
              <c:pt idx="3">
                <c:v>464</c:v>
              </c:pt>
              <c:pt idx="4">
                <c:v>267</c:v>
              </c:pt>
            </c:numLit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6F4E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2B6F8A"/>
            </a:solidFill>
          </c:spPr>
          <c:invertIfNegative val="0"/>
          <c:cat>
            <c:strLit>
              <c:ptCount val="4"/>
              <c:pt idx="0">
                <c:v>Moderate</c:v>
              </c:pt>
              <c:pt idx="1">
                <c:v>Mild</c:v>
              </c:pt>
              <c:pt idx="2">
                <c:v>Severe</c:v>
              </c:pt>
              <c:pt idx="3">
                <c:v>Critical</c:v>
              </c:pt>
            </c:strLit>
          </c:cat>
          <c:val>
            <c:numLit>
              <c:formatCode>General</c:formatCode>
              <c:ptCount val="4"/>
              <c:pt idx="0">
                <c:v>27908</c:v>
              </c:pt>
              <c:pt idx="1">
                <c:v>6083</c:v>
              </c:pt>
              <c:pt idx="2">
                <c:v>4312</c:v>
              </c:pt>
              <c:pt idx="3">
                <c:v>2293</c:v>
              </c:pt>
            </c:numLit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6F4E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INR per patient-day</c:v>
          </c:tx>
          <c:spPr>
            <a:solidFill xmlns:a="http://schemas.openxmlformats.org/drawingml/2006/main">
              <a:srgbClr val="087E8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D982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E8B"/>
              </a:solidFill>
            </c:spPr>
          </c:dPt>
          <c:cat>
            <c:strLit>
              <c:ptCount val="2"/>
              <c:pt idx="0">
                <c:v>IPD</c:v>
              </c:pt>
              <c:pt idx="1">
                <c:v>OPD</c:v>
              </c:pt>
            </c:strLit>
          </c:cat>
          <c:val>
            <c:numLit>
              <c:formatCode>₹#,##0</c:formatCode>
              <c:ptCount val="2"/>
              <c:pt idx="0">
                <c:v>14237.55</c:v>
              </c:pt>
              <c:pt idx="1">
                <c:v>3972.3</c:v>
              </c:pt>
            </c:numLit>
          </c:val>
        </c:ser>
        <c:dLbls>
          <c:numFmt formatCode="₹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27D98"/>
                    </a:solidFill>
                    <a:latin typeface="Arial"/>
                    <a:ea typeface="Arial"/>
                    <a:cs typeface="Arial"/>
                  </a:rPr>
                  <a:t>INR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27D9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₹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6F4EF"/>
    </a:solidFill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minutes</c:v>
          </c:tx>
          <c:spPr>
            <a:solidFill xmlns:a="http://schemas.openxmlformats.org/drawingml/2006/main">
              <a:srgbClr val="2B6F8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87E8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822B"/>
              </a:solidFill>
            </c:spPr>
          </c:dPt>
          <c:cat>
            <c:strLit>
              <c:ptCount val="2"/>
              <c:pt idx="0">
                <c:v>OPD waiting</c:v>
              </c:pt>
              <c:pt idx="1">
                <c:v>IPD room allocation</c:v>
              </c:pt>
            </c:strLit>
          </c:cat>
          <c:val>
            <c:numLit>
              <c:formatCode>0</c:formatCode>
              <c:ptCount val="2"/>
              <c:pt idx="0">
                <c:v>44.5079</c:v>
              </c:pt>
              <c:pt idx="1">
                <c:v>34.7773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27D98"/>
                    </a:solidFill>
                    <a:latin typeface="Arial"/>
                    <a:ea typeface="Arial"/>
                    <a:cs typeface="Arial"/>
                  </a:rPr>
                  <a:t>Minutes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27D9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6F4EF"/>
    </a:solidFill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Average treatment cost (INR)</c:v>
          </c:tx>
          <c:spPr>
            <a:solidFill xmlns:a="http://schemas.openxmlformats.org/drawingml/2006/main">
              <a:srgbClr val="087E8B"/>
            </a:solidFill>
          </c:spPr>
          <c:invertIfNegative val="0"/>
          <c:cat>
            <c:strLit>
              <c:ptCount val="5"/>
              <c:pt idx="0">
                <c:v>Insurance</c:v>
              </c:pt>
              <c:pt idx="1">
                <c:v>Credit card</c:v>
              </c:pt>
              <c:pt idx="2">
                <c:v>Debit card</c:v>
              </c:pt>
              <c:pt idx="3">
                <c:v>UPI</c:v>
              </c:pt>
              <c:pt idx="4">
                <c:v>Cash</c:v>
              </c:pt>
            </c:strLit>
          </c:cat>
          <c:val>
            <c:numLit>
              <c:formatCode>General</c:formatCode>
              <c:ptCount val="5"/>
              <c:pt idx="0">
                <c:v>88064.21</c:v>
              </c:pt>
              <c:pt idx="1">
                <c:v>40766.86</c:v>
              </c:pt>
              <c:pt idx="2">
                <c:v>22327.15</c:v>
              </c:pt>
              <c:pt idx="3">
                <c:v>9272.31</c:v>
              </c:pt>
              <c:pt idx="4">
                <c:v>7156.65</c:v>
              </c:pt>
            </c:numLit>
          </c:val>
        </c:ser>
        <c:dLbls>
          <c:numFmt formatCode="₹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₹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6F4EF"/>
    </a:solidFill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Average records per day</c:v>
          </c:tx>
          <c:spPr>
            <a:solidFill xmlns:a="http://schemas.openxmlformats.org/drawingml/2006/main">
              <a:srgbClr val="D9822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D982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E8B"/>
              </a:solidFill>
            </c:spPr>
          </c:dPt>
          <c:cat>
            <c:strLit>
              <c:ptCount val="2"/>
              <c:pt idx="0">
                <c:v>Uninsured</c:v>
              </c:pt>
              <c:pt idx="1">
                <c:v>Insured</c:v>
              </c:pt>
            </c:strLit>
          </c:cat>
          <c:val>
            <c:numLit>
              <c:formatCode>General</c:formatCode>
              <c:ptCount val="2"/>
              <c:pt idx="0">
                <c:v>130.87</c:v>
              </c:pt>
              <c:pt idx="1">
                <c:v>71.83</c:v>
              </c:pt>
            </c:numLit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6F4E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1958A-EF3C-47D1-BBF5-4CEE70C4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0BBB5-22E7-4BCC-AFF5-F0720DBC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1000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HOSPITAL PATIENT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58A29-5CD9-49A5-ABB7-141E7B18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B8DC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 i="0">
                <a:solidFill>
                  <a:srgbClr val="B8DCE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B8DCE0"/>
                </a:solidFill>
                <a:latin typeface="Arial"/>
                <a:ea typeface="Arial"/>
                <a:cs typeface="Arial"/>
              </a:rPr>
              <a:t>Executive Overview &amp; Data Insights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454A8-1565-49F9-8567-2D8017B7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733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BD72C-A1F0-41C6-A773-8CCD4335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JUNE 2026  •  OPERATIONS  •  COSTS  • 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24EDC-8400-49CB-ADF2-9B65448C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D9E7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D9E7E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9E7EF"/>
                </a:solidFill>
                <a:latin typeface="Arial"/>
                <a:ea typeface="Arial"/>
                <a:cs typeface="Arial"/>
              </a:rPr>
              <a:t>40,596 cleaned records  |  21 fields  |  8 dashboard visuals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96625-BF03-41C0-8653-B450208B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B8C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B8C7D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8C7D5"/>
                </a:solidFill>
                <a:latin typeface="Arial"/>
                <a:ea typeface="Arial"/>
                <a:cs typeface="Arial"/>
              </a:rPr>
              <a:t>Prepared 16 October 2026  |  Analytics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09FBA-6EB4-4BFC-B8A3-E76B366D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1502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9FB3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FB3C8"/>
                </a:solidFill>
                <a:latin typeface="Arial"/>
                <a:ea typeface="Arial"/>
                <a:cs typeface="Arial"/>
              </a:rPr>
              <a:t>Source workbook and project data files</a:t>
            </a:r>
          </a:p>
        </p:txBody>
      </p:sp>
    </p:spTree>
    <p:extLst>
      <p:ext uri="{BB962C8B-B14F-4D97-AF65-F5344CB8AC3E}">
        <p14:creationId xmlns:p14="http://schemas.microsoft.com/office/powerpoint/2010/main" val="44400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C2C04-3097-4165-B407-566343F0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Dataset scope &amp; measures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AED45-5626-49CD-9D9D-F9271C4F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One month of descriptive patient-record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562A5-9072-4529-849C-1292553D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F255A-6911-44C5-BED0-200D308A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7BD43-D497-4587-99AF-095D809F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HOSPITAL PATIENT ANALYTICS  / 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6C316-0B9B-4FD6-9C8F-067207CB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C5D45-1C29-44B3-8D2A-B91413D1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E3FDB-4D11-4ACC-A898-A60C7F00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CORE 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04B67-B4ED-4B56-9CBA-27956D52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62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EXECUTIVE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74DF6-1228-4AF6-BBED-686A48E8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8463E-3329-4A65-B8A0-5D4ADFE7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8D56E-4607-4EE9-94E8-8516CAED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050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FE928-3F28-4E45-B533-A3718A38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40,596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8129E-DB37-4883-A90C-DC1F1400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records after cleaning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64ABE-D411-4D2C-B37F-C57D2300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21 source fields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Coverage: 1–30 June 2026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40,000 distinct patient IDs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No unique encounter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8118B-EAF9-4246-882C-DB9D302F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194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Demographic and patient identifiers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Disease, severity, referral, status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Service, dates, costs, payment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Wait, room time, insurance, rating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20222-24D9-4985-AD6A-2A0EAA15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147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30,759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A91C5-186B-4DF4-A3F1-9155A5A9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OPD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72356-0CC3-4C53-A848-360BA0C3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95500"/>
            <a:ext cx="147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D982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D9822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9822B"/>
                </a:solidFill>
                <a:latin typeface="Arial"/>
                <a:ea typeface="Arial"/>
                <a:cs typeface="Arial"/>
              </a:rPr>
              <a:t>9,837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3B718-201F-48AB-BC4E-35919695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98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IPD 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E5E71-D80C-4A6D-8E0D-0C1EEEFA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8C9B78-106D-49FB-AA9C-7F9B5B97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670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₹1.10B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ACC2D-A069-4702-A2DD-BEDF2FE4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total recorded treatment 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FD301-600E-4415-AC09-816F7BB9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100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8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3.96 /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535E6-E2AA-41CF-91EF-AB5E2B7D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14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average patient rating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829034-D645-49C2-ADA6-93D907E6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405D0E-B5C7-4DDF-A179-FEC851A2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Counting caveat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99A81-F9CE-4531-973D-1379CEAB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Records are not confirmed unique visits; repeated IDs lack an encounter key.</a:t>
            </a:r>
          </a:p>
        </p:txBody>
      </p:sp>
    </p:spTree>
    <p:extLst>
      <p:ext uri="{BB962C8B-B14F-4D97-AF65-F5344CB8AC3E}">
        <p14:creationId xmlns:p14="http://schemas.microsoft.com/office/powerpoint/2010/main" val="1334828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1C7B5-02D9-4779-A62C-FBB43141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cleaning &amp; quality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0AFD1-49AA-42B0-AB7F-CA96D2CC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Raw extract: 40,600 rows  →  cleaned extract: 40,596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EE8E2-D044-486E-BF96-5C0712E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AE70E-AB48-4436-BD2D-76090EBA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80626-9A67-4B3A-89EA-90CBFDF9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HOSPITAL PATIENT ANALYTICS  / 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12C65-71AC-4C55-A14D-BB61B2C6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8F462-349C-4665-9BFC-9B9E587A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9AC5E-2EE9-49A3-9BAB-1B4778FD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00589-6E72-4B9D-8E87-E0313A7F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77BCF-4FA3-4738-BD90-D5790325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145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AB7C9-D5CC-41DE-9F5F-1B20FDB5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81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71E99-9FEB-41A3-8201-381F7D4B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145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9E6AF-76E9-450A-A7C4-A69DF0CB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9FBD2-635C-48DE-BB36-140E266A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exact duplicate rows removed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8D41F-E781-4C1D-B8AD-53652D9D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85 ages outside 0–120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No raw missing values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21 fields; 40,600 source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10D18-7325-4772-96FA-454362DF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D982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 i="0">
                <a:solidFill>
                  <a:srgbClr val="D9822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D9822B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98645-4311-42DA-8628-0774270E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invalid ages imputed to 43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659F2-00D9-415C-907A-460A38FC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3286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Parsed dates; converted numeric fields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Normalized text; no changes needed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Retained valid age zero and high costs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2B28F-895C-4E8D-A48D-EE283E25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31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23A07-61A8-4408-85D2-B7EC0585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860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missing values after cleaning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152F5-CFD9-4E03-92CE-6A062CEA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81375"/>
            <a:ext cx="3286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Date order checks passed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OPD/IPD timing checks passed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40,596 output rows retained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B8E67-C883-4E6E-8EA2-E282B7C9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8E807-314E-4208-94B3-9CD25F7A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Data limitation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C74AD-BE9C-4D04-94C4-F03FC2D0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1,192 rows share patient IDs; repeated IDs may be separate encounters.</a:t>
            </a:r>
          </a:p>
        </p:txBody>
      </p:sp>
    </p:spTree>
    <p:extLst>
      <p:ext uri="{BB962C8B-B14F-4D97-AF65-F5344CB8AC3E}">
        <p14:creationId xmlns:p14="http://schemas.microsoft.com/office/powerpoint/2010/main" val="1440737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1D5E2-E4AA-4B4C-9E57-EFCF5C30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Daily patient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FC21E-6905-4365-B5C3-99E8D14E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Line chart  |  Admissions by date, June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0D330-2F7A-44CD-AE3B-4C54EA60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E1CEA-495A-4B57-86C1-2302ED75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7736E-5AB1-42C6-BBF9-532A9F65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HOSPITAL PATIENT ANALYTICS  / 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523BB-BE5B-4179-A7CA-D3BC6733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BF8AA-275E-4996-9E5E-5D8C21DA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4F4AE-89FB-4E06-9F9C-6E50A47E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Most dates cluster near 1,500 records; four Sundays fall sharply.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89214-F5E3-4419-B43A-66473B55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KEY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7A772-5B5D-48BF-A93A-13C60719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Median: 1,529 records per day.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Peak: 1,627 records on 13 June.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Sundays: 190–229 records, about 85% below median.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9355E-6CD1-4A5C-8AE4-B15F7D9B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382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BF6AB3C3-9E5B-40E6-B9BE-A1BFB1B947C1}"/>
              </a:ext>
            </a:extLst>
          </p:cNvPr>
          <p:cNvGraphicFramePr/>
          <p:nvPr/>
        </p:nvGraphicFramePr>
        <p:xfrm>
          <a:off xmlns:a="http://schemas.openxmlformats.org/drawingml/2006/main" x="5257800" y="1504950"/>
          <a:ext xmlns:a="http://schemas.openxmlformats.org/drawingml/2006/main" cx="6286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02bffe4b414742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D6AD1-F1E2-4353-B19A-57326409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A4580-FA3E-481B-999B-7F887DD7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CAB26-FA6D-41F8-A649-BD82793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10200"/>
            <a:ext cx="882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Verify Sunday reporting and operating schedules before changing staffing.</a:t>
            </a:r>
          </a:p>
        </p:txBody>
      </p:sp>
    </p:spTree>
    <p:extLst>
      <p:ext uri="{BB962C8B-B14F-4D97-AF65-F5344CB8AC3E}">
        <p14:creationId xmlns:p14="http://schemas.microsoft.com/office/powerpoint/2010/main" val="22839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07B4A-9488-4B79-9549-9C59F432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OPD and IPD service mix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624F8-E657-439A-BCDC-658A1944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Doughnut chart  |  Share of cleaned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59C3B-72A0-47BA-88AB-221B8A12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11537-1BF4-49CA-AC9D-ACE1BEA0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7D4E1-4E0D-4099-AE41-DE0D5B46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HOSPITAL PATIENT ANALYTICS  / 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84D75-1057-4023-B813-4EE49850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298F8-7981-423C-A8DD-9169B6E8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8FFD1-FF5B-4C80-8C25-5FEC9D5B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OPD represents about three-quarters of recorded service volume.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4865F-4CB9-4A50-86B2-89D80989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KEY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3C83D-0F29-4A32-B089-2A9591AD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OPD: 30,759 records (75.8%).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IPD: 9,837 records (24.2%).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Record mix does not establish capacity utilization.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33147-CA66-4B40-9F39-88C322C5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382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666203AE-3CD9-48A6-ADB1-40E7D449626C}"/>
              </a:ext>
            </a:extLst>
          </p:cNvPr>
          <p:cNvGraphicFramePr/>
          <p:nvPr/>
        </p:nvGraphicFramePr>
        <p:xfrm>
          <a:off xmlns:a="http://schemas.openxmlformats.org/drawingml/2006/main" x="5572125" y="1504950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e21245a76e4e2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AD91B-2E29-48D2-B7FC-A98D30C0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A6068-57D5-43C0-925F-D4DA0184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B37A9-BC27-4AF2-8AED-4314AE1B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10200"/>
            <a:ext cx="882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Align outpatient capacity to volume; protect inpatient staffing and beds.</a:t>
            </a:r>
          </a:p>
        </p:txBody>
      </p:sp>
    </p:spTree>
    <p:extLst>
      <p:ext uri="{BB962C8B-B14F-4D97-AF65-F5344CB8AC3E}">
        <p14:creationId xmlns:p14="http://schemas.microsoft.com/office/powerpoint/2010/main" val="12581988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E85D1-12B4-4CCB-A76F-5083EC4C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Recorded patient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ED62E-B35B-48DD-9D3B-B060AB98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Horizontal bar chart  |  Status 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E26F1-013A-4ACC-874C-E8E5B786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94C24-C0C2-4245-A627-2924571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2B9A9-EC3F-4597-8589-DACE7EF7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HOSPITAL PATIENT ANALYTICS  / 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F317C-9DD8-4D1C-9AEA-1859B624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6E67C-DFD8-4CC9-A3D9-85D26A6D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2712A-74B7-42D4-BC0A-D70686AC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Recovery is the most common recorded status; 18.6% show another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41B7C-D654-4AD3-9E49-0DBD76F8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KEY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C49D6-F643-4819-9C4A-1F7E08F4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Recovered: 33,038 records (81.4%).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Under treatment: 4,572; referred: 2,255.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LAMA: 464; deceased: 267 (0.7%).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2B83A-5839-4AE9-A0D9-EF6F4738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382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48BDE232-062B-4435-B8B5-6E409D626545}"/>
              </a:ext>
            </a:extLst>
          </p:cNvPr>
          <p:cNvGraphicFramePr/>
          <p:nvPr/>
        </p:nvGraphicFramePr>
        <p:xfrm>
          <a:off xmlns:a="http://schemas.openxmlformats.org/drawingml/2006/main" x="5391150" y="1524000"/>
          <a:ext xmlns:a="http://schemas.openxmlformats.org/drawingml/2006/main" cx="60960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bf56a064784625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C5880-A303-4D8E-AD74-62CDB144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35CA7-AD29-4732-AD7F-AE095D5F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C24DC-24AC-4521-B893-6F6E6226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10200"/>
            <a:ext cx="882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Review non-recovered statuses in clinical context; avoid risk-adjusted claims.</a:t>
            </a:r>
          </a:p>
        </p:txBody>
      </p:sp>
    </p:spTree>
    <p:extLst>
      <p:ext uri="{BB962C8B-B14F-4D97-AF65-F5344CB8AC3E}">
        <p14:creationId xmlns:p14="http://schemas.microsoft.com/office/powerpoint/2010/main" val="1672526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2F1FD-17A7-4BF2-BC05-2A2175A2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Severity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A0A3B-7E12-4C76-92DE-97FCE6B9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Horizontal bar chart  |  Recorded case severity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9D995-AA76-493F-8BF6-B23E531B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5F782-5C1E-49BF-96A9-E9F509B1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F641B-C186-43D0-9BC0-D28ED9B8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HOSPITAL PATIENT ANALYTICS  / 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0C8B9-E76A-4ADE-811E-04D69175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40E38-0E6D-43F0-B133-43BD5B06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CD85A-18FF-4363-8316-97894580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Moderate cases dominate the recorded severity mix.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9E6AF-482B-4C3C-A031-ED897F9B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KEY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396FC-D264-4C8B-BFB9-1873A4D9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Moderate: 27,908 records (68.7%).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Mild: 6,083; severe: 4,312.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Critical: 2,293; severe plus critical: 16.3%.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23286-D8CD-4EF7-BA62-BDBC463A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382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15878B2C-59C3-4FEB-8654-765B4E9353EF}"/>
              </a:ext>
            </a:extLst>
          </p:cNvPr>
          <p:cNvGraphicFramePr/>
          <p:nvPr/>
        </p:nvGraphicFramePr>
        <p:xfrm>
          <a:off xmlns:a="http://schemas.openxmlformats.org/drawingml/2006/main" x="5391150" y="1524000"/>
          <a:ext xmlns:a="http://schemas.openxmlformats.org/drawingml/2006/main" cx="60960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c2b9a792354bff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1AB84-4062-48DF-8BFD-C5EE45FA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90678-5D2D-4B8D-BC7F-503B7E6C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FCB11-DAA8-4651-A95E-C6137C37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10200"/>
            <a:ext cx="882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acuity mix in capacity reviews; confirm the source coding definitions.</a:t>
            </a:r>
          </a:p>
        </p:txBody>
      </p:sp>
    </p:spTree>
    <p:extLst>
      <p:ext uri="{BB962C8B-B14F-4D97-AF65-F5344CB8AC3E}">
        <p14:creationId xmlns:p14="http://schemas.microsoft.com/office/powerpoint/2010/main" val="297494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A5E6E-D1C0-4215-983C-E4A05ED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Average treatment cost per patient-day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284D0-12C5-4C70-9A2E-0F2718B3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Column chart  |  OPD and IPD, INR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D1652-781E-4974-B12A-6EA43762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9445D-415F-4DEA-9E33-55E8C2F0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3AD05-BC5C-46BC-A28A-519BF711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HOSPITAL PATIENT ANALYTICS  / 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9996E-FE7D-4147-8B9E-33EA4B51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EDBC9-0420-4364-9894-A9A76024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9C4C7-D111-4EAC-A2A6-30F3C9CA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Recorded IPD cost per patient-day is about 3.6× OPD.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9B128-C9F6-48BD-AC1C-398A0682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KEY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DE27E-F748-4789-AF2A-FEB1064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IPD: ₹14,237.55 per patient-day.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OPD: ₹3,972.30 per patient-day.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Compare only after confirming cost and day definitions.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4FE18-846F-47A2-AD64-A736B7AB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382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D9038010-71C0-440F-B6CA-F09FF5EBFFE8}"/>
              </a:ext>
            </a:extLst>
          </p:cNvPr>
          <p:cNvGraphicFramePr/>
          <p:nvPr/>
        </p:nvGraphicFramePr>
        <p:xfrm>
          <a:off xmlns:a="http://schemas.openxmlformats.org/drawingml/2006/main" x="5486400" y="1524000"/>
          <a:ext xmlns:a="http://schemas.openxmlformats.org/drawingml/2006/main" cx="59055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5ef0f9c89c41f8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E87DD-5058-4F8E-A059-3D750FB9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CD8CB-C4B3-40B5-AA78-7A0FDBBF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77801-809C-4E99-BBC3-0A2DEF25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10200"/>
            <a:ext cx="882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Review inpatient cost drivers and validate patient-day calculations.</a:t>
            </a:r>
          </a:p>
        </p:txBody>
      </p:sp>
    </p:spTree>
    <p:extLst>
      <p:ext uri="{BB962C8B-B14F-4D97-AF65-F5344CB8AC3E}">
        <p14:creationId xmlns:p14="http://schemas.microsoft.com/office/powerpoint/2010/main" val="48411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A681F-C51B-4EAF-BEB8-970CC9E3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Average service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5F09D-76F8-4A3F-8525-08A81681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Column chart  |  Service-specific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85808-D5E1-4B0C-BD1E-7B0E07A0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593B2-F614-419F-A26A-1005C312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74AD6-5C33-4193-BABE-E16DE81A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HOSPITAL PATIENT ANALYTICS  / 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B6BA2-C382-4772-A1E9-BB6DAD80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FD314-BC44-4C16-B18B-578CE851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B2184-CB71-41F5-B58E-566C6FC3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OPD waiting and IPD room allocation average distinct service times.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199BA-796F-453E-B90A-356E0DA8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KEY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C58FA-2623-4963-A2C8-23ADF70A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OPD average waiting time: 44.5 minutes.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IPD average room allocation: 34.8 minutes.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Do not compare as equivalent workflow measures.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C8E2A-563C-4585-A843-65F10642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382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9350F274-64DE-4676-B6F7-B4E0EDAAE80F}"/>
              </a:ext>
            </a:extLst>
          </p:cNvPr>
          <p:cNvGraphicFramePr/>
          <p:nvPr/>
        </p:nvGraphicFramePr>
        <p:xfrm>
          <a:off xmlns:a="http://schemas.openxmlformats.org/drawingml/2006/main" x="5486400" y="1524000"/>
          <a:ext xmlns:a="http://schemas.openxmlformats.org/drawingml/2006/main" cx="59055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0854ba71ad4ae1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F15B6-5556-44D2-A093-17AA3A23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085AE-4147-41A7-930A-DF92BBE4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1625C-3132-4CF5-A959-976697D6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10200"/>
            <a:ext cx="882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Set separate service targets and track monthly median alongside averages.</a:t>
            </a:r>
          </a:p>
        </p:txBody>
      </p:sp>
    </p:spTree>
    <p:extLst>
      <p:ext uri="{BB962C8B-B14F-4D97-AF65-F5344CB8AC3E}">
        <p14:creationId xmlns:p14="http://schemas.microsoft.com/office/powerpoint/2010/main" val="520449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7CD9C-4034-4014-BCD1-E2178C86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Average recorded treatment cost by payment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1D693-6BFB-4245-BFD9-6D8B7A29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Horizontal bar chart  |  INR per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98373-2390-4D8C-83BC-FB7CD984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A3339-7041-4778-9E3A-782C47B4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763B3-8EA0-48C2-A77A-26B62A34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HOSPITAL PATIENT ANALYTICS  / 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2F03B-6DF7-4B75-A8C3-F37FBB6A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A468B-F1A1-40C6-9A1D-A5DF2ACF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D324F-7852-4C49-9335-7C975D60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Average recorded cost varies by payment label and case mix.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AD173-76A6-4803-91A4-73A0ECD0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KEY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C03C4-4AFF-4E18-9663-09D0A2E8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Insurance: ₹88,064 average; credit card: ₹40,767.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Debit: ₹22,327; UPI: ₹9,272; cash: ₹7,157.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Averages may reflect service mix and high-cost cases.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DDAA5-7173-4DBA-B357-260EE134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382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9B4603E8-E818-4448-A1C9-56C5A14E22A2}"/>
              </a:ext>
            </a:extLst>
          </p:cNvPr>
          <p:cNvGraphicFramePr/>
          <p:nvPr/>
        </p:nvGraphicFramePr>
        <p:xfrm>
          <a:off xmlns:a="http://schemas.openxmlformats.org/drawingml/2006/main" x="5334000" y="1466850"/>
          <a:ext xmlns:a="http://schemas.openxmlformats.org/drawingml/2006/main" cx="6143625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46c593ef8c4e86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62858-EFD9-4E5C-9108-8CD46000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F3B38-6486-4D78-BD59-BFB01809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7C0E9-F6E5-42E7-9E99-600F1DA2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10200"/>
            <a:ext cx="882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Compare payment categories within service type before drawing conclusions.</a:t>
            </a:r>
          </a:p>
        </p:txBody>
      </p:sp>
    </p:spTree>
    <p:extLst>
      <p:ext uri="{BB962C8B-B14F-4D97-AF65-F5344CB8AC3E}">
        <p14:creationId xmlns:p14="http://schemas.microsoft.com/office/powerpoint/2010/main" val="2708024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F2EAD-CA5E-4E78-AD90-6EA18C6E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Emergency records by insurance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FB84B-FFF0-4389-B219-1B04D447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Horizontal bar chart  |  Average records per day, June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FDF84-A478-4723-AF58-77AACA51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B88DE-DE92-4C24-8292-76B3FF10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03C2D-A1B5-44CA-8101-A6253752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HOSPITAL PATIENT ANALYTICS  / 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A7998-03EF-4921-B54B-8D4CD6B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A028A-395C-464C-9E38-A38F26C3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DA50E-D420-400C-9F7B-66D71075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More daily emergency records are marked uninsured in this extract.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BB3AB-839C-42F0-8805-282ED517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KEY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04A0B-36D7-4062-B0CD-D5EEC6D4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Uninsured: 130.9 emergency records per day.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Insured: 71.8 emergency records per day.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575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83B56"/>
                </a:solidFill>
                <a:latin typeface="Arial"/>
                <a:ea typeface="Arial"/>
                <a:cs typeface="Arial"/>
              </a:rPr>
              <a:t>Validate insurance capture and case mix before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B06AE-4106-405D-9B83-8A4A0559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382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391F9033-629C-41D6-A05A-3DD852A8225A}"/>
              </a:ext>
            </a:extLst>
          </p:cNvPr>
          <p:cNvGraphicFramePr/>
          <p:nvPr/>
        </p:nvGraphicFramePr>
        <p:xfrm>
          <a:off xmlns:a="http://schemas.openxmlformats.org/drawingml/2006/main" x="5391150" y="1524000"/>
          <a:ext xmlns:a="http://schemas.openxmlformats.org/drawingml/2006/main" cx="60960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b0a39762034237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C1C04-0C31-45E4-9BE7-7D8516E8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5B8C3-5BAC-4801-B15C-C188AEDC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53B87-C73C-40B3-9B37-F926153D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10200"/>
            <a:ext cx="882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Check insurance completeness and emergency case mix before resource decisions.</a:t>
            </a:r>
          </a:p>
        </p:txBody>
      </p:sp>
    </p:spTree>
    <p:extLst>
      <p:ext uri="{BB962C8B-B14F-4D97-AF65-F5344CB8AC3E}">
        <p14:creationId xmlns:p14="http://schemas.microsoft.com/office/powerpoint/2010/main" val="13065862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EBE5E8-4176-4C8F-A2DC-21BD436A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Executive dashboard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3C6B7-36C5-49A7-B794-242A6B29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June operating picture  |  All metrics describe recorded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AEB2A-9CA3-47F5-9CFE-2E600B36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9B926-7950-4A95-B7FE-320BDDCF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91D51-9459-4CA2-A1C2-D06D302B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HOSPITAL PATIENT ANALYTICS  / 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9468D-286D-4511-96E5-DECB17D5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E3192-87AA-4429-8F09-7E73D2BE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SERVICE MIX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A46F7-E157-40D4-8E3E-AF38549F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73DEC-4C9C-43F5-A0C7-A203B66C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75.8% OPD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69911-D06F-4DB0-A679-F813C031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30,759 OPD  •  9,837 IPD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A8F4B-4119-4656-AEE7-8159D14A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81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2B6F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2B6F8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B6F8A"/>
                </a:solidFill>
                <a:latin typeface="Arial"/>
                <a:ea typeface="Arial"/>
                <a:cs typeface="Arial"/>
              </a:rPr>
              <a:t>RECORDED OUTCOMES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079B7-C406-4454-BC54-03181744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30716-A619-407E-A4DD-090FFD19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81.4% recovered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395F4-4285-468A-A77A-82989203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267 deceased records  •  0.7%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10A4A-8E9C-4467-8071-F2A21990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D982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D9822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822B"/>
                </a:solidFill>
                <a:latin typeface="Arial"/>
                <a:ea typeface="Arial"/>
                <a:cs typeface="Arial"/>
              </a:rPr>
              <a:t>SERVICE TIMES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FBA34-0236-444A-9683-171A4DB1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92CC7-2322-47A5-9CA2-EA700CA7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44.5 / 34.8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F1E46-16C2-4C2C-8907-98036D31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OPD wait / IPD room allocation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AA1B9-1E6D-402E-9009-AA760831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B84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4A4A"/>
                </a:solidFill>
                <a:latin typeface="Arial"/>
                <a:ea typeface="Arial"/>
                <a:cs typeface="Arial"/>
              </a:rPr>
              <a:t>DATA SIGNAL TO 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710E7-5BB6-454C-A030-45628AD0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90537-E5D1-41D9-905A-6C12E776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434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190–229 Sundays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B9AB5-6B74-4450-884A-2EA66736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83B56"/>
                </a:solidFill>
                <a:latin typeface="Arial"/>
                <a:ea typeface="Arial"/>
                <a:cs typeface="Arial"/>
              </a:rPr>
              <a:t>Versus 1,529 median daily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A98FE-6F4F-4ADB-A031-572472C2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D6716-BB5D-4A95-BB7D-A2822A82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Unified takeaway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66266-F58B-4717-989B-8AD5CE97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67400"/>
            <a:ext cx="901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Volume, acuity, cost, service time, and outcomes form a baseline—not causal evidence.</a:t>
            </a:r>
          </a:p>
        </p:txBody>
      </p:sp>
    </p:spTree>
    <p:extLst>
      <p:ext uri="{BB962C8B-B14F-4D97-AF65-F5344CB8AC3E}">
        <p14:creationId xmlns:p14="http://schemas.microsoft.com/office/powerpoint/2010/main" val="11096835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7A30C-40B3-4856-AB6B-613AE80A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 &amp; strategic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58571-0926-4635-9C2D-F7675C4B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15750-1C67-414C-8ACC-F85264D4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8BD1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8BD1D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BD1D1"/>
                </a:solidFill>
                <a:latin typeface="Arial"/>
                <a:ea typeface="Arial"/>
                <a:cs typeface="Arial"/>
              </a:rPr>
              <a:t>CORE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18B00-2612-4645-BD77-42CF3683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June provides a one-month baseline; validate reporting anomalies before operational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0525D-7E4A-4F78-B56B-8CE8AF93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8BD1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8BD1D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BD1D1"/>
                </a:solidFill>
                <a:latin typeface="Arial"/>
                <a:ea typeface="Arial"/>
                <a:cs typeface="Arial"/>
              </a:rPr>
              <a:t>RECOMMENDED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1B6E0-B937-4F93-AC8B-1E8C8789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287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Sunday volume and insurance capture with source-system owners.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 cost comparisons by service type and clinical severity.</a:t>
            </a:r>
          </a:p>
          <a:p xmlns:a="http://schemas.openxmlformats.org/drawingml/2006/main">
            <a:pPr marL="215900" indent="-114300">
              <a:spcAft>
                <a:spcPts val="900"/>
              </a:spcAft>
              <a:buChar char="•"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 separate targets for OPD waiting and IPD room allocation.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2257C-9161-4240-A5DC-6BDC8D99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64C93-1EF0-4A6B-8E2D-4F6B034A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8BD1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8BD1D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BD1D1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87099-F3C7-485C-A513-F5838CA1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40,596 cleaned records  •  8 dashboard visuals  •  Operational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85B7F-357B-4DCC-BF5B-F56DD758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B8C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B8C7D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7D5"/>
                </a:solidFill>
                <a:latin typeface="Arial"/>
                <a:ea typeface="Arial"/>
                <a:cs typeface="Arial"/>
              </a:rPr>
              <a:t>No financial savings or outcome improvement is established by this analysis.</a:t>
            </a:r>
          </a:p>
        </p:txBody>
      </p:sp>
    </p:spTree>
    <p:extLst>
      <p:ext uri="{BB962C8B-B14F-4D97-AF65-F5344CB8AC3E}">
        <p14:creationId xmlns:p14="http://schemas.microsoft.com/office/powerpoint/2010/main" val="1210036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2026-10-16T13:02:56.9200000Z</dcterms:created>
  <dcterms:modified xsi:type="dcterms:W3CDTF">2026-10-16T13:02:56.9200000Z</dcterms:modified>
</coreProperties>
</file>