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7.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8.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f76d63fcb4e436d" /><Relationship Type="http://schemas.openxmlformats.org/officeDocument/2006/relationships/extended-properties" Target="/docProps/app.xml" Id="Rd15e51b59ac1496d" /><Relationship Type="http://schemas.openxmlformats.org/officeDocument/2006/relationships/officeDocument" Target="/ppt/presentation.xml" Id="R507fd61584974393" /></Relationships>
</file>

<file path=ppt/presentation.xml><?xml version="1.0" encoding="utf-8"?>
<p:presentation xmlns:p="http://schemas.openxmlformats.org/presentationml/2006/main">
  <p:sldMasterIdLst>
    <p:sldMasterId xmlns:r="http://schemas.openxmlformats.org/officeDocument/2006/relationships" id="2147483648" r:id="Re7a89f155a254a6a"/>
  </p:sldMasterIdLst>
  <p:notesMasterIdLst>
    <p:notesMasterId xmlns:r="http://schemas.openxmlformats.org/officeDocument/2006/relationships" r:id="R982fa814c46549b3"/>
  </p:notesMasterIdLst>
  <p:sldIdLst>
    <p:sldId xmlns:r="http://schemas.openxmlformats.org/officeDocument/2006/relationships" id="256" r:id="R42d95df3486b4cc3"/>
    <p:sldId xmlns:r="http://schemas.openxmlformats.org/officeDocument/2006/relationships" id="257" r:id="Rd3e0a325fd9e4f3a"/>
    <p:sldId xmlns:r="http://schemas.openxmlformats.org/officeDocument/2006/relationships" id="258" r:id="Rcb1aa7fff27d45da"/>
    <p:sldId xmlns:r="http://schemas.openxmlformats.org/officeDocument/2006/relationships" id="259" r:id="Rba99f3097ff247e5"/>
    <p:sldId xmlns:r="http://schemas.openxmlformats.org/officeDocument/2006/relationships" id="260" r:id="R416e7be9e3dc4e7c"/>
    <p:sldId xmlns:r="http://schemas.openxmlformats.org/officeDocument/2006/relationships" id="261" r:id="R69aea416c9dc4d72"/>
    <p:sldId xmlns:r="http://schemas.openxmlformats.org/officeDocument/2006/relationships" id="262" r:id="R209b117d32564c71"/>
    <p:sldId xmlns:r="http://schemas.openxmlformats.org/officeDocument/2006/relationships" id="263" r:id="Rc4035e5c20c6448b"/>
    <p:sldId xmlns:r="http://schemas.openxmlformats.org/officeDocument/2006/relationships" id="264" r:id="Re10952797de24888"/>
    <p:sldId xmlns:r="http://schemas.openxmlformats.org/officeDocument/2006/relationships" id="265" r:id="R092699338fc7415b"/>
    <p:sldId xmlns:r="http://schemas.openxmlformats.org/officeDocument/2006/relationships" id="266" r:id="Rdd05633506e44e69"/>
    <p:sldId xmlns:r="http://schemas.openxmlformats.org/officeDocument/2006/relationships" id="267" r:id="R9b96cab864aa4364"/>
    <p:sldId xmlns:r="http://schemas.openxmlformats.org/officeDocument/2006/relationships" id="268" r:id="Ra25ddc9104034f0b"/>
    <p:sldId xmlns:r="http://schemas.openxmlformats.org/officeDocument/2006/relationships" id="269" r:id="Rb49e619479484b04"/>
    <p:sldId xmlns:r="http://schemas.openxmlformats.org/officeDocument/2006/relationships" id="270" r:id="R7bf64cc4610043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0d88dd41b94c4e" /><Relationship Type="http://schemas.openxmlformats.org/officeDocument/2006/relationships/slideMaster" Target="/ppt/slideMasters/slideMaster1.xml" Id="Re7a89f155a254a6a" /><Relationship Type="http://schemas.openxmlformats.org/officeDocument/2006/relationships/notesMaster" Target="/ppt/notesMasters/notesMaster1.xml" Id="R982fa814c46549b3" /><Relationship Type="http://schemas.openxmlformats.org/officeDocument/2006/relationships/presProps" Target="/ppt/presProps.xml" Id="R29abe056a45c4165" /><Relationship Type="http://schemas.openxmlformats.org/officeDocument/2006/relationships/tableStyles" Target="/ppt/tableStyles.xml" Id="R4642a5c2b1b14c21" /><Relationship Type="http://schemas.openxmlformats.org/officeDocument/2006/relationships/slide" Target="/ppt/slides/slide1.xml" Id="R42d95df3486b4cc3" /><Relationship Type="http://schemas.openxmlformats.org/officeDocument/2006/relationships/slide" Target="/ppt/slides/slide2.xml" Id="Rd3e0a325fd9e4f3a" /><Relationship Type="http://schemas.openxmlformats.org/officeDocument/2006/relationships/slide" Target="/ppt/slides/slide3.xml" Id="Rcb1aa7fff27d45da" /><Relationship Type="http://schemas.openxmlformats.org/officeDocument/2006/relationships/slide" Target="/ppt/slides/slide4.xml" Id="Rba99f3097ff247e5" /><Relationship Type="http://schemas.openxmlformats.org/officeDocument/2006/relationships/slide" Target="/ppt/slides/slide5.xml" Id="R416e7be9e3dc4e7c" /><Relationship Type="http://schemas.openxmlformats.org/officeDocument/2006/relationships/slide" Target="/ppt/slides/slide6.xml" Id="R69aea416c9dc4d72" /><Relationship Type="http://schemas.openxmlformats.org/officeDocument/2006/relationships/slide" Target="/ppt/slides/slide7.xml" Id="R209b117d32564c71" /><Relationship Type="http://schemas.openxmlformats.org/officeDocument/2006/relationships/slide" Target="/ppt/slides/slide8.xml" Id="Rc4035e5c20c6448b" /><Relationship Type="http://schemas.openxmlformats.org/officeDocument/2006/relationships/slide" Target="/ppt/slides/slide9.xml" Id="Re10952797de24888" /><Relationship Type="http://schemas.openxmlformats.org/officeDocument/2006/relationships/slide" Target="/ppt/slides/slide10.xml" Id="R092699338fc7415b" /><Relationship Type="http://schemas.openxmlformats.org/officeDocument/2006/relationships/slide" Target="/ppt/slides/slide11.xml" Id="Rdd05633506e44e69" /><Relationship Type="http://schemas.openxmlformats.org/officeDocument/2006/relationships/slide" Target="/ppt/slides/slide12.xml" Id="R9b96cab864aa4364" /><Relationship Type="http://schemas.openxmlformats.org/officeDocument/2006/relationships/slide" Target="/ppt/slides/slide13.xml" Id="Ra25ddc9104034f0b" /><Relationship Type="http://schemas.openxmlformats.org/officeDocument/2006/relationships/slide" Target="/ppt/slides/slide14.xml" Id="Rb49e619479484b04" /><Relationship Type="http://schemas.openxmlformats.org/officeDocument/2006/relationships/slide" Target="/ppt/slides/slide15.xml" Id="R7bf64cc4610043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acb4c854b148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8843f93ae54d74" /><Relationship Type="http://schemas.openxmlformats.org/officeDocument/2006/relationships/notesMaster" Target="/ppt/notesMasters/notesMaster1.xml" Id="Re54e4f8dbae249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dd85ddce534d64" /><Relationship Type="http://schemas.openxmlformats.org/officeDocument/2006/relationships/notesMaster" Target="/ppt/notesMasters/notesMaster1.xml" Id="R1c706dbc9cb54e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7ff43b118444f5" /><Relationship Type="http://schemas.openxmlformats.org/officeDocument/2006/relationships/notesMaster" Target="/ppt/notesMasters/notesMaster1.xml" Id="R3b0f68c127cc4b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90a477dd1345c3" /><Relationship Type="http://schemas.openxmlformats.org/officeDocument/2006/relationships/notesMaster" Target="/ppt/notesMasters/notesMaster1.xml" Id="R24f330252c8147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d667cbfafa4950" /><Relationship Type="http://schemas.openxmlformats.org/officeDocument/2006/relationships/notesMaster" Target="/ppt/notesMasters/notesMaster1.xml" Id="R14ef7a1435f34c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bd0d7cd5334e03" /><Relationship Type="http://schemas.openxmlformats.org/officeDocument/2006/relationships/notesMaster" Target="/ppt/notesMasters/notesMaster1.xml" Id="R9fae9e2e466140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350f2453cc4f3c" /><Relationship Type="http://schemas.openxmlformats.org/officeDocument/2006/relationships/notesMaster" Target="/ppt/notesMasters/notesMaster1.xml" Id="Re4c0b41fa8884a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1d70004f9b49bf" /><Relationship Type="http://schemas.openxmlformats.org/officeDocument/2006/relationships/notesMaster" Target="/ppt/notesMasters/notesMaster1.xml" Id="Rc475686e5f5643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76936ae31c420a" /><Relationship Type="http://schemas.openxmlformats.org/officeDocument/2006/relationships/notesMaster" Target="/ppt/notesMasters/notesMaster1.xml" Id="R263ff2bff11e45b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e1d987f7ce4552" /><Relationship Type="http://schemas.openxmlformats.org/officeDocument/2006/relationships/notesMaster" Target="/ppt/notesMasters/notesMaster1.xml" Id="R6f05b992db16488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5319e87e6141c6" /><Relationship Type="http://schemas.openxmlformats.org/officeDocument/2006/relationships/notesMaster" Target="/ppt/notesMasters/notesMaster1.xml" Id="R0ecadab63e92434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32dacbec6bb4a90" /><Relationship Type="http://schemas.openxmlformats.org/officeDocument/2006/relationships/notesMaster" Target="/ppt/notesMasters/notesMaster1.xml" Id="R76b9aa6a31da4f6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df03e727cf44dd3" /><Relationship Type="http://schemas.openxmlformats.org/officeDocument/2006/relationships/notesMaster" Target="/ppt/notesMasters/notesMaster1.xml" Id="Rddc9f8afc15f4e0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421cf1aacb74be7" /><Relationship Type="http://schemas.openxmlformats.org/officeDocument/2006/relationships/notesMaster" Target="/ppt/notesMasters/notesMaster1.xml" Id="R44708809f93c461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c69b7cdb3cc47b0" /><Relationship Type="http://schemas.openxmlformats.org/officeDocument/2006/relationships/notesMaster" Target="/ppt/notesMasters/notesMaster1.xml" Id="R27a91e667ae346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hospital_patient_analytics_dash_1.xlsx; clean_patients.csv; clean_patients_cleaned.csv; hospital_patient_data_cleaning.ipynb; hospital_patient_visualization.ipynb. The source files do not name an individual author.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hospital_patient_analytics_dash_1.xlsx, Dashboard and Chart Data sheets; clean_patients_cleaned.csv. Record counts reflect rows, not validated unique encounters.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hospital_patient_data_cleaning.ipynb, cleaning and validation cells; clean_patients.csv; clean_patients_cleaned.csv. The notebook removes four exact duplicate rows, flags 85 out-of-range ages (150 and 999), imputes those ages with the valid-age mean rounded to 43, and retains non-identical repeated IDs.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hospital_patient_data_cleaning.ipynb, cleaning, range, relationship, and validation cells. Text normalization changed zero values. Five numeric fields were converted; both dates were parsed. After age handling, no date-order, cost, timing, rating, or service-relationship exceptions remained. No categorical values were missing, so categorical mode imputation was not used. Non-identical repeated patient IDs, age zero, and high costs were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clean_patients.csv, raw age field before cleaning. 40,600 nonmissing age values. Quartiles use the inclusive linear percentile method (Q1=28, median=44, Q3=60); IQR=32. Fences are −20 and 108. Whiskers end at the minimum and maximum in-fence values (0 and 85). There are 85 upper-fence outliers: 46 records at age 150 and 39 at age 999. The age axis in the embedded plot is compressed above typical values so both outlier groups remain visible. Statistical outliers require source review; the plot alone does not prove data errors.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hospital_patient_analytics_dash_1.xlsx, Chart Data; clean_patients_cleaned.csv; hospital_patient_visualization.ipynb. Counts represent records by admission date. Sunday dips occur on 7, 14, 21, and 28 June; this is a descriptive pattern, not proof of reduced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hospital_patient_analytics_dash_1.xlsx, Dashboard and Chart Data; clean_patients_cleaned.csv. Shares are calculated from 40,596 cleaned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hospital_patient_analytics_dash_1.xlsx, Chart Data; clean_patients_cleaned.csv. Status counts are descriptive administrative labels, not validated clinical outcomes. Percentages are rounded.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hospital_patient_analytics_dash_1.xlsx, Dashboard and Chart Data; clean_patients_cleaned.csv. Percentages use 40,596 cleaned records and are rounded.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hospital_patient_analytics_dash_1.xlsx, Chart Data; hospital_patient_visualization.ipynb. The workbook reports average treatment cost per patient-day of ₹14,237.55 for IPD and ₹3,972.30 for OPD; the source extract does not document the patient-day formula in this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hospital_patient_analytics_dash_1.xlsx, Chart Data; clean_patients_cleaned.csv; hospital_patient_visualization.ipynb. OPD waiting time is calculated for OPD rows; room-allocation time is calculated for IPD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clean_patients_cleaned.csv; hospital_patient_visualization.ipynb; hospital_patient_analytics_dash_1.xlsx. Means calculated across rows by payment label; these observational differences do not establish payment effects. Rounded to nearest rupee.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clean_patients_cleaned.csv; hospital_patient_analytics_dash_1.xlsx, Chart Data. Emergency records are defined by patient_category = Emergency; daily averages divide June totals by 30 calendar days. These are record counts, not unique patients.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dashboard screenshots embedded without alteration: Screenshot 2026-10-16 184109.png; Screenshot 2026-10-16 184139.png; Screenshot 2026-10-16 184202.png.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hospital_patient_data_cleaning.ipynb; hospital_patient_visualization.ipynb; hospital_patient_analytics_dash_1.xlsx; clean_patients_cleaned.csv. This analysis is descriptive and does not estimate realized savings or causal clinical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e72ad76fd047e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7cbe98bda2145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6d4bf04a2c4f9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27eaff408d641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7155b07d60e437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92fd81ee01446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435D7D-705F-4088-A227-F9D5E77C187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CFB9DB8-8527-45CC-8E29-53B2EA242B2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61EF55A-382F-49A9-A9EE-E6EE386BE42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AAEAED-C7E5-4B7E-8C10-40F61FD595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3D4B9EE-6C73-4FAF-A2CC-55850528A26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C786B60-DD2F-435F-916C-B5EBD8D380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3046B9-40FB-42B6-91C0-61170ED5A2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1353842-656C-4A9E-93A5-20B49101479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784CDD-D7FC-4523-A41F-5332C5D537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669216-C829-4109-835B-51BAB7070D9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db0e28bfc04108" /><Relationship Type="http://schemas.openxmlformats.org/officeDocument/2006/relationships/slideLayout" Target="/ppt/slideLayouts/slideLayout1.xml" Id="R897ccf982e804672" /><Relationship Type="http://schemas.openxmlformats.org/officeDocument/2006/relationships/slideLayout" Target="/ppt/slideLayouts/slideLayout2.xml" Id="Rbb546667ba8743f7" /><Relationship Type="http://schemas.openxmlformats.org/officeDocument/2006/relationships/slideLayout" Target="/ppt/slideLayouts/slideLayout3.xml" Id="R1996b14fa867483a" /><Relationship Type="http://schemas.openxmlformats.org/officeDocument/2006/relationships/slideLayout" Target="/ppt/slideLayouts/slideLayout4.xml" Id="R204d71c6e2294961" /><Relationship Type="http://schemas.openxmlformats.org/officeDocument/2006/relationships/slideLayout" Target="/ppt/slideLayouts/slideLayout5.xml" Id="Rf20325575a0f43dc" /><Relationship Type="http://schemas.openxmlformats.org/officeDocument/2006/relationships/slideLayout" Target="/ppt/slideLayouts/slideLayout6.xml" Id="Rb5affd4af82d42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7ccf982e804672"/>
    <p:sldLayoutId xmlns:r="http://schemas.openxmlformats.org/officeDocument/2006/relationships" id="2147483650" r:id="Rbb546667ba8743f7"/>
    <p:sldLayoutId xmlns:r="http://schemas.openxmlformats.org/officeDocument/2006/relationships" id="2147483651" r:id="R1996b14fa867483a"/>
    <p:sldLayoutId xmlns:r="http://schemas.openxmlformats.org/officeDocument/2006/relationships" id="2147483652" r:id="R204d71c6e2294961"/>
    <p:sldLayoutId xmlns:r="http://schemas.openxmlformats.org/officeDocument/2006/relationships" id="2147483653" r:id="Rf20325575a0f43dc"/>
    <p:sldLayoutId xmlns:r="http://schemas.openxmlformats.org/officeDocument/2006/relationships" id="2147483654" r:id="Rb5affd4af82d42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e1db6a751454498" /><Relationship Type="http://schemas.openxmlformats.org/officeDocument/2006/relationships/notesSlide" Target="/ppt/notesSlides/notesSlide1.xml" Id="Rcd7c8ff87d474a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96e19a32af34594" /><Relationship Type="http://schemas.openxmlformats.org/officeDocument/2006/relationships/notesSlide" Target="/ppt/notesSlides/notesSlide2.xml" Id="Ra07d0d7d22ed44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82a8d710d074a61" /><Relationship Type="http://schemas.openxmlformats.org/officeDocument/2006/relationships/notesSlide" Target="/ppt/notesSlides/notesSlide3.xml" Id="Rf71784dfd6ac42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7583850e2b945c9" /><Relationship Type="http://schemas.openxmlformats.org/officeDocument/2006/relationships/notesSlide" Target="/ppt/notesSlides/notesSlide4.xml" Id="R9fc2d465f6b242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923ba27bbd04f53" /><Relationship Type="http://schemas.openxmlformats.org/officeDocument/2006/relationships/image" Target="/ppt/media/image.png" Id="R9d1f8d5f11e2444e" /><Relationship Type="http://schemas.openxmlformats.org/officeDocument/2006/relationships/notesSlide" Target="/ppt/notesSlides/notesSlide5.xml" Id="R324591b3f3a54b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4095ca440144f82" /><Relationship Type="http://schemas.openxmlformats.org/officeDocument/2006/relationships/chart" Target="/ppt/slides/charts/chart1.xml" Id="R1ebad86ebfc54655" /><Relationship Type="http://schemas.openxmlformats.org/officeDocument/2006/relationships/notesSlide" Target="/ppt/notesSlides/notesSlide6.xml" Id="R86dd5ee69be949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9643be9a184d77" /><Relationship Type="http://schemas.openxmlformats.org/officeDocument/2006/relationships/chart" Target="/ppt/slides/charts/chart2.xml" Id="R18bcd368f0594378" /><Relationship Type="http://schemas.openxmlformats.org/officeDocument/2006/relationships/notesSlide" Target="/ppt/notesSlides/notesSlide7.xml" Id="R2cbb29f1a13244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a0eff2bbe3142f8" /><Relationship Type="http://schemas.openxmlformats.org/officeDocument/2006/relationships/chart" Target="/ppt/slides/charts/chart3.xml" Id="R14dd7edfd37941d9" /><Relationship Type="http://schemas.openxmlformats.org/officeDocument/2006/relationships/notesSlide" Target="/ppt/notesSlides/notesSlide8.xml" Id="Rbc91baf732194b0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19527be73b1475b" /><Relationship Type="http://schemas.openxmlformats.org/officeDocument/2006/relationships/chart" Target="/ppt/slides/charts/chart4.xml" Id="R43f4c3ec6c334961" /><Relationship Type="http://schemas.openxmlformats.org/officeDocument/2006/relationships/notesSlide" Target="/ppt/notesSlides/notesSlide9.xml" Id="R3e23ae95091c4c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550c639b2c24830" /><Relationship Type="http://schemas.openxmlformats.org/officeDocument/2006/relationships/chart" Target="/ppt/slides/charts/chart5.xml" Id="Raadff5eab2834e71" /><Relationship Type="http://schemas.openxmlformats.org/officeDocument/2006/relationships/notesSlide" Target="/ppt/notesSlides/notesSlide10.xml" Id="R99db19f3b9ed46b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643ba3a64f34445" /><Relationship Type="http://schemas.openxmlformats.org/officeDocument/2006/relationships/chart" Target="/ppt/slides/charts/chart6.xml" Id="Rc9dc9f71b9c145d2" /><Relationship Type="http://schemas.openxmlformats.org/officeDocument/2006/relationships/notesSlide" Target="/ppt/notesSlides/notesSlide11.xml" Id="R2da22b7566174a6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54742649b37486b" /><Relationship Type="http://schemas.openxmlformats.org/officeDocument/2006/relationships/chart" Target="/ppt/slides/charts/chart7.xml" Id="R301706ae24274c19" /><Relationship Type="http://schemas.openxmlformats.org/officeDocument/2006/relationships/notesSlide" Target="/ppt/notesSlides/notesSlide12.xml" Id="R7616654b49824ed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ff80638cd0248e0" /><Relationship Type="http://schemas.openxmlformats.org/officeDocument/2006/relationships/chart" Target="/ppt/slides/charts/chart8.xml" Id="Rad6512d4742f480f" /><Relationship Type="http://schemas.openxmlformats.org/officeDocument/2006/relationships/notesSlide" Target="/ppt/notesSlides/notesSlide13.xml" Id="R70b1c618bb41418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8b1d5fb91bc4995" /><Relationship Type="http://schemas.openxmlformats.org/officeDocument/2006/relationships/image" Target="/ppt/media/image2.png" Id="R1ff8deb4a9d7411b" /><Relationship Type="http://schemas.openxmlformats.org/officeDocument/2006/relationships/image" Target="/ppt/media/image3.png" Id="R342006d4fa69483b" /><Relationship Type="http://schemas.openxmlformats.org/officeDocument/2006/relationships/image" Target="/ppt/media/image4.png" Id="R3ba2c5572e824ae6" /><Relationship Type="http://schemas.openxmlformats.org/officeDocument/2006/relationships/notesSlide" Target="/ppt/notesSlides/notesSlide14.xml" Id="R9813262b6b5b416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1ed72dbd917453d" /><Relationship Type="http://schemas.openxmlformats.org/officeDocument/2006/relationships/notesSlide" Target="/ppt/notesSlides/notesSlide15.xml" Id="R7114c5ad74f8420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Records</c:v>
          </c:tx>
          <c:spPr>
            <a:ln xmlns:a="http://schemas.openxmlformats.org/drawingml/2006/main" w="28575">
              <a:solidFill>
                <a:srgbClr val="087E8B"/>
              </a:solidFill>
              <a:prstDash val="solid"/>
            </a:ln>
          </c:spPr>
          <c:marker>
            <c:symbol val="circle"/>
            <c:size val="4"/>
            <c:spPr>
              <a:solidFill xmlns:a="http://schemas.openxmlformats.org/drawingml/2006/main">
                <a:srgbClr val="087E8B"/>
              </a:solidFill>
            </c:spPr>
          </c:marker>
          <c:cat>
            <c:numRef>
              <c:f>'Chart Data'!$A$2:$A$31</c:f>
              <c:numCache>
                <c:formatCode>General</c:formatCode>
                <c:ptCount val="30"/>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'Chart Data'!$B$2:$B$31</c:f>
              <c:numCache>
                <c:formatCode>General</c:formatCode>
                <c:ptCount val="30"/>
                <c:pt idx="0">
                  <c:v>1516</c:v>
                </c:pt>
                <c:pt idx="1">
                  <c:v>1511</c:v>
                </c:pt>
                <c:pt idx="2">
                  <c:v>1543</c:v>
                </c:pt>
                <c:pt idx="3">
                  <c:v>1575</c:v>
                </c:pt>
                <c:pt idx="4">
                  <c:v>1559</c:v>
                </c:pt>
                <c:pt idx="5">
                  <c:v>1534</c:v>
                </c:pt>
                <c:pt idx="6">
                  <c:v>190</c:v>
                </c:pt>
                <c:pt idx="7">
                  <c:v>1483</c:v>
                </c:pt>
                <c:pt idx="8">
                  <c:v>1482</c:v>
                </c:pt>
                <c:pt idx="9">
                  <c:v>1525</c:v>
                </c:pt>
                <c:pt idx="10">
                  <c:v>1557</c:v>
                </c:pt>
                <c:pt idx="11">
                  <c:v>1547</c:v>
                </c:pt>
                <c:pt idx="12">
                  <c:v>1627</c:v>
                </c:pt>
                <c:pt idx="13">
                  <c:v>196</c:v>
                </c:pt>
                <c:pt idx="14">
                  <c:v>1534</c:v>
                </c:pt>
                <c:pt idx="15">
                  <c:v>1529</c:v>
                </c:pt>
                <c:pt idx="16">
                  <c:v>1529</c:v>
                </c:pt>
                <c:pt idx="17">
                  <c:v>1490</c:v>
                </c:pt>
                <c:pt idx="18">
                  <c:v>1481</c:v>
                </c:pt>
                <c:pt idx="19">
                  <c:v>1487</c:v>
                </c:pt>
                <c:pt idx="20">
                  <c:v>229</c:v>
                </c:pt>
                <c:pt idx="21">
                  <c:v>1536</c:v>
                </c:pt>
                <c:pt idx="22">
                  <c:v>1565</c:v>
                </c:pt>
                <c:pt idx="23">
                  <c:v>1531</c:v>
                </c:pt>
                <c:pt idx="24">
                  <c:v>1551</c:v>
                </c:pt>
                <c:pt idx="25">
                  <c:v>1613</c:v>
                </c:pt>
                <c:pt idx="26">
                  <c:v>1549</c:v>
                </c:pt>
                <c:pt idx="27">
                  <c:v>198</c:v>
                </c:pt>
                <c:pt idx="28">
                  <c:v>1456</c:v>
                </c:pt>
                <c:pt idx="29">
                  <c:v>1473</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E1E8"/>
            </a:solidFill>
            <a:prstDash val="solid"/>
          </a:ln>
        </c:spPr>
        <c:txPr>
          <a:bodyPr xmlns:a="http://schemas.openxmlformats.org/drawingml/2006/main" anchorCtr="1"/>
          <a:lstStyle xmlns:a="http://schemas.openxmlformats.org/drawingml/2006/main"/>
          <a:p xmlns:a="http://schemas.openxmlformats.org/drawingml/2006/main">
            <a:pPr>
              <a:defRPr sz="750">
                <a:solidFill>
                  <a:srgbClr val="627D98"/>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627D98"/>
                    </a:solidFill>
                    <a:latin typeface="Arial"/>
                    <a:ea typeface="Arial"/>
                    <a:cs typeface="Arial"/>
                  </a:rPr>
                  <a:t>Records</a:t>
                </a:r>
              </a:p>
            </c:rich>
          </c:tx>
          <c:overlay val="0"/>
          <c:txPr>
            <a:bodyPr xmlns:a="http://schemas.openxmlformats.org/drawingml/2006/main" anchorCtr="1"/>
            <a:lstStyle xmlns:a="http://schemas.openxmlformats.org/drawingml/2006/main"/>
            <a:p xmlns:a="http://schemas.openxmlformats.org/drawingml/2006/main">
              <a:pPr>
                <a:defRPr sz="900">
                  <a:solidFill>
                    <a:srgbClr val="627D9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27D98"/>
                </a:solidFill>
                <a:latin typeface="Arial"/>
                <a:ea typeface="Arial"/>
                <a:cs typeface="Arial"/>
              </a:defRPr>
            </a:pPr>
          </a:p>
        </c:txPr>
        <c:crossAx val="48650112"/>
        <c:crossBetween val="between"/>
      </c:valAx>
      <c:spPr>
        <a:solidFill xmlns:a="http://schemas.openxmlformats.org/drawingml/2006/main">
          <a:srgbClr val="F6F4EF"/>
        </a:solidFill>
        <a:ln xmlns:a="http://schemas.openxmlformats.org/drawingml/2006/main" w="0">
          <a:noFill/>
          <a:prstDash val="solid"/>
        </a:ln>
      </c:spPr>
    </c:plotArea>
    <c:plotVisOnly val="1"/>
  </c:chart>
  <c:spPr>
    <a:solidFill xmlns:a="http://schemas.openxmlformats.org/drawingml/2006/main">
      <a:srgbClr val="F6F4E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doughnutChart>
        <c:ser>
          <c:idx val="0"/>
          <c:order val="0"/>
          <c:tx>
            <c:v>Records</c:v>
          </c:tx>
          <c:dPt>
            <c:idx val="0"/>
            <c:spPr>
              <a:solidFill xmlns:a="http://schemas.openxmlformats.org/drawingml/2006/main">
                <a:srgbClr val="087E8B"/>
              </a:solidFill>
            </c:spPr>
          </c:dPt>
          <c:dPt>
            <c:idx val="1"/>
            <c:spPr>
              <a:solidFill xmlns:a="http://schemas.openxmlformats.org/drawingml/2006/main">
                <a:srgbClr val="D9822B"/>
              </a:solidFill>
            </c:spPr>
          </c:dPt>
          <c:cat>
            <c:strRef>
              <c:f>'Chart Data'!$A$2:$A$3</c:f>
              <c:strCache>
                <c:ptCount val="2"/>
                <c:pt idx="0">
                  <c:v>OPD</c:v>
                </c:pt>
                <c:pt idx="1">
                  <c:v>IPD</c:v>
                </c:pt>
              </c:strCache>
            </c:strRef>
          </c:cat>
          <c:val>
            <c:numRef>
              <c:f>'Chart Data'!$B$2:$B$3</c:f>
              <c:numCache>
                <c:formatCode>General</c:formatCode>
                <c:ptCount val="2"/>
                <c:pt idx="0">
                  <c:v>30759</c:v>
                </c:pt>
                <c:pt idx="1">
                  <c:v>9837</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showLegendKey val="0"/>
          <c:showVal val="0"/>
          <c:showCatName val="1"/>
          <c:showSerName val="0"/>
          <c:showPercent val="1"/>
          <c:showBubbleSize val="0"/>
          <c:showLeaderLines val="0"/>
        </c:dLbls>
        <c:firstSliceAng val="270"/>
        <c:holeSize val="62"/>
      </c:doughnutChart>
      <c:spPr>
        <a:solidFill xmlns:a="http://schemas.openxmlformats.org/drawingml/2006/main">
          <a:srgbClr val="F6F4E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83B56"/>
              </a:solidFill>
              <a:latin typeface="Arial"/>
              <a:ea typeface="Arial"/>
              <a:cs typeface="Arial"/>
            </a:defRPr>
          </a:pPr>
        </a:p>
      </c:txPr>
    </c:legend>
    <c:plotVisOnly val="1"/>
  </c:chart>
  <c:spPr>
    <a:solidFill xmlns:a="http://schemas.openxmlformats.org/drawingml/2006/main">
      <a:srgbClr val="F6F4E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Records</c:v>
          </c:tx>
          <c:spPr>
            <a:solidFill xmlns:a="http://schemas.openxmlformats.org/drawingml/2006/main">
              <a:srgbClr val="087E8B"/>
            </a:solidFill>
          </c:spPr>
          <c:invertIfNegative val="0"/>
          <c:cat>
            <c:strRef>
              <c:f>'Chart Data'!$A$2:$A$6</c:f>
              <c:strCache>
                <c:ptCount val="5"/>
                <c:pt idx="0">
                  <c:v>Recovered</c:v>
                </c:pt>
                <c:pt idx="1">
                  <c:v>Under treatment</c:v>
                </c:pt>
                <c:pt idx="2">
                  <c:v>Referred</c:v>
                </c:pt>
                <c:pt idx="3">
                  <c:v>LAMA</c:v>
                </c:pt>
                <c:pt idx="4">
                  <c:v>Deceased</c:v>
                </c:pt>
              </c:strCache>
            </c:strRef>
          </c:cat>
          <c:val>
            <c:numRef>
              <c:f>'Chart Data'!$B$2:$B$6</c:f>
              <c:numCache>
                <c:formatCode>General</c:formatCode>
                <c:ptCount val="5"/>
                <c:pt idx="0">
                  <c:v>33038</c:v>
                </c:pt>
                <c:pt idx="1">
                  <c:v>4572</c:v>
                </c:pt>
                <c:pt idx="2">
                  <c:v>2255</c:v>
                </c:pt>
                <c:pt idx="3">
                  <c:v>464</c:v>
                </c:pt>
                <c:pt idx="4">
                  <c:v>267</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975" b="1">
                  <a:solidFill>
                    <a:srgbClr val="102A43"/>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majorGridlines>
          <c:spPr>
            <a:ln xmlns:a="http://schemas.openxmlformats.org/drawingml/2006/main" w="9525">
              <a:solidFill>
                <a:srgbClr val="D9E1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27D98"/>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183B56"/>
                </a:solidFill>
                <a:latin typeface="Arial"/>
                <a:ea typeface="Arial"/>
                <a:cs typeface="Arial"/>
              </a:defRPr>
            </a:pPr>
          </a:p>
        </c:txPr>
        <c:crossAx val="48650112"/>
        <c:crossBetween val="between"/>
      </c:valAx>
      <c:spPr>
        <a:solidFill xmlns:a="http://schemas.openxmlformats.org/drawingml/2006/main">
          <a:srgbClr val="F6F4EF"/>
        </a:solidFill>
        <a:ln xmlns:a="http://schemas.openxmlformats.org/drawingml/2006/main" w="0">
          <a:noFill/>
          <a:prstDash val="solid"/>
        </a:ln>
      </c:spPr>
    </c:plotArea>
    <c:plotVisOnly val="1"/>
  </c:chart>
  <c:spPr>
    <a:solidFill xmlns:a="http://schemas.openxmlformats.org/drawingml/2006/main">
      <a:srgbClr val="F6F4EF"/>
    </a:solidFill>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Records</c:v>
          </c:tx>
          <c:spPr>
            <a:solidFill xmlns:a="http://schemas.openxmlformats.org/drawingml/2006/main">
              <a:srgbClr val="2B6F8A"/>
            </a:solidFill>
          </c:spPr>
          <c:invertIfNegative val="0"/>
          <c:cat>
            <c:strRef>
              <c:f>'Chart Data'!$A$2:$A$5</c:f>
              <c:strCache>
                <c:ptCount val="4"/>
                <c:pt idx="0">
                  <c:v>Moderate</c:v>
                </c:pt>
                <c:pt idx="1">
                  <c:v>Mild</c:v>
                </c:pt>
                <c:pt idx="2">
                  <c:v>Severe</c:v>
                </c:pt>
                <c:pt idx="3">
                  <c:v>Critical</c:v>
                </c:pt>
              </c:strCache>
            </c:strRef>
          </c:cat>
          <c:val>
            <c:numRef>
              <c:f>'Chart Data'!$B$2:$B$5</c:f>
              <c:numCache>
                <c:formatCode>General</c:formatCode>
                <c:ptCount val="4"/>
                <c:pt idx="0">
                  <c:v>27908</c:v>
                </c:pt>
                <c:pt idx="1">
                  <c:v>6083</c:v>
                </c:pt>
                <c:pt idx="2">
                  <c:v>4312</c:v>
                </c:pt>
                <c:pt idx="3">
                  <c:v>2293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975" b="1">
                  <a:solidFill>
                    <a:srgbClr val="102A43"/>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9E1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27D98"/>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183B56"/>
                </a:solidFill>
                <a:latin typeface="Arial"/>
                <a:ea typeface="Arial"/>
                <a:cs typeface="Arial"/>
              </a:defRPr>
            </a:pPr>
          </a:p>
        </c:txPr>
        <c:crossAx val="48650112"/>
        <c:crossBetween val="between"/>
      </c:valAx>
      <c:spPr>
        <a:solidFill xmlns:a="http://schemas.openxmlformats.org/drawingml/2006/main">
          <a:srgbClr val="F6F4EF"/>
        </a:solidFill>
        <a:ln xmlns:a="http://schemas.openxmlformats.org/drawingml/2006/main" w="0">
          <a:noFill/>
          <a:prstDash val="solid"/>
        </a:ln>
      </c:spPr>
    </c:plotArea>
    <c:plotVisOnly val="1"/>
  </c:chart>
  <c:spPr>
    <a:solidFill xmlns:a="http://schemas.openxmlformats.org/drawingml/2006/main">
      <a:srgbClr val="F6F4EF"/>
    </a:solidFill>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INR per patient-day</c:v>
          </c:tx>
          <c:spPr>
            <a:solidFill xmlns:a="http://schemas.openxmlformats.org/drawingml/2006/main">
              <a:srgbClr val="087E8B"/>
            </a:solidFill>
          </c:spPr>
          <c:invertIfNegative val="0"/>
          <c:dPt>
            <c:idx val="0"/>
            <c:invertIfNegative val="0"/>
            <c:spPr>
              <a:solidFill xmlns:a="http://schemas.openxmlformats.org/drawingml/2006/main">
                <a:srgbClr val="D9822B"/>
              </a:solidFill>
            </c:spPr>
          </c:dPt>
          <c:dPt>
            <c:idx val="1"/>
            <c:invertIfNegative val="0"/>
            <c:spPr>
              <a:solidFill xmlns:a="http://schemas.openxmlformats.org/drawingml/2006/main">
                <a:srgbClr val="087E8B"/>
              </a:solidFill>
            </c:spPr>
          </c:dPt>
          <c:cat>
            <c:strRef>
              <c:f>'Chart Data'!$A$2:$A$3</c:f>
              <c:strCache>
                <c:ptCount val="2"/>
                <c:pt idx="0">
                  <c:v>IPD</c:v>
                </c:pt>
                <c:pt idx="1">
                  <c:v>OPD</c:v>
                </c:pt>
              </c:strCache>
            </c:strRef>
          </c:cat>
          <c:val>
            <c:numRef>
              <c:f>'Chart Data'!$B$2:$B$3</c:f>
              <c:numCache>
                <c:formatCode>₹#,##0</c:formatCode>
                <c:ptCount val="2"/>
                <c:pt idx="0">
                  <c:v>14237.55</c:v>
                </c:pt>
                <c:pt idx="1">
                  <c:v>3972.3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prstDash val="solid"/>
          </a:ln>
        </c:spPr>
        <c:txPr>
          <a:bodyPr xmlns:a="http://schemas.openxmlformats.org/drawingml/2006/main" anchorCtr="1"/>
          <a:lstStyle xmlns:a="http://schemas.openxmlformats.org/drawingml/2006/main"/>
          <a:p xmlns:a="http://schemas.openxmlformats.org/drawingml/2006/main">
            <a:pPr>
              <a:defRPr sz="1125">
                <a:solidFill>
                  <a:srgbClr val="183B5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627D98"/>
                    </a:solidFill>
                    <a:latin typeface="Arial"/>
                    <a:ea typeface="Arial"/>
                    <a:cs typeface="Arial"/>
                  </a:rPr>
                  <a:t>INR</a:t>
                </a:r>
              </a:p>
            </c:rich>
          </c:tx>
          <c:overlay val="0"/>
          <c:txPr>
            <a:bodyPr xmlns:a="http://schemas.openxmlformats.org/drawingml/2006/main" anchorCtr="1"/>
            <a:lstStyle xmlns:a="http://schemas.openxmlformats.org/drawingml/2006/main"/>
            <a:p xmlns:a="http://schemas.openxmlformats.org/drawingml/2006/main">
              <a:pPr>
                <a:defRPr sz="900">
                  <a:solidFill>
                    <a:srgbClr val="627D98"/>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27D98"/>
                </a:solidFill>
                <a:latin typeface="Arial"/>
                <a:ea typeface="Arial"/>
                <a:cs typeface="Arial"/>
              </a:defRPr>
            </a:pPr>
          </a:p>
        </c:txPr>
        <c:crossAx val="48650112"/>
        <c:crossBetween val="between"/>
      </c:valAx>
      <c:spPr>
        <a:solidFill xmlns:a="http://schemas.openxmlformats.org/drawingml/2006/main">
          <a:srgbClr val="F6F4EF"/>
        </a:solidFill>
        <a:ln xmlns:a="http://schemas.openxmlformats.org/drawingml/2006/main" w="0">
          <a:noFill/>
          <a:prstDash val="solid"/>
        </a:ln>
      </c:spPr>
    </c:plotArea>
    <c:plotVisOnly val="1"/>
  </c:chart>
  <c:spPr>
    <a:solidFill xmlns:a="http://schemas.openxmlformats.org/drawingml/2006/main">
      <a:srgbClr val="F6F4EF"/>
    </a:solidFill>
    <a:ln xmlns:a="http://schemas.openxmlformats.org/drawingml/2006/main" w="0">
      <a:no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Average minutes</c:v>
          </c:tx>
          <c:spPr>
            <a:solidFill xmlns:a="http://schemas.openxmlformats.org/drawingml/2006/main">
              <a:srgbClr val="2B6F8A"/>
            </a:solidFill>
          </c:spPr>
          <c:invertIfNegative val="0"/>
          <c:dPt>
            <c:idx val="0"/>
            <c:invertIfNegative val="0"/>
            <c:spPr>
              <a:solidFill xmlns:a="http://schemas.openxmlformats.org/drawingml/2006/main">
                <a:srgbClr val="087E8B"/>
              </a:solidFill>
            </c:spPr>
          </c:dPt>
          <c:dPt>
            <c:idx val="1"/>
            <c:invertIfNegative val="0"/>
            <c:spPr>
              <a:solidFill xmlns:a="http://schemas.openxmlformats.org/drawingml/2006/main">
                <a:srgbClr val="D9822B"/>
              </a:solidFill>
            </c:spPr>
          </c:dPt>
          <c:cat>
            <c:strRef>
              <c:f>'Chart Data'!$A$2:$A$3</c:f>
              <c:strCache>
                <c:ptCount val="2"/>
                <c:pt idx="0">
                  <c:v>OPD waiting</c:v>
                </c:pt>
                <c:pt idx="1">
                  <c:v>IPD room allocation</c:v>
                </c:pt>
              </c:strCache>
            </c:strRef>
          </c:cat>
          <c:val>
            <c:numRef>
              <c:f>'Chart Data'!$B$2:$B$3</c:f>
              <c:numCache>
                <c:formatCode>0</c:formatCode>
                <c:ptCount val="2"/>
                <c:pt idx="0">
                  <c:v>44.5079</c:v>
                </c:pt>
                <c:pt idx="1">
                  <c:v>34.7773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prstDash val="solid"/>
          </a:ln>
        </c:spPr>
        <c:txPr>
          <a:bodyPr xmlns:a="http://schemas.openxmlformats.org/drawingml/2006/main" anchorCtr="1"/>
          <a:lstStyle xmlns:a="http://schemas.openxmlformats.org/drawingml/2006/main"/>
          <a:p xmlns:a="http://schemas.openxmlformats.org/drawingml/2006/main">
            <a:pPr>
              <a:defRPr sz="1050">
                <a:solidFill>
                  <a:srgbClr val="183B5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627D98"/>
                    </a:solidFill>
                    <a:latin typeface="Arial"/>
                    <a:ea typeface="Arial"/>
                    <a:cs typeface="Arial"/>
                  </a:rPr>
                  <a:t>Minutes</a:t>
                </a:r>
              </a:p>
            </c:rich>
          </c:tx>
          <c:overlay val="0"/>
          <c:txPr>
            <a:bodyPr xmlns:a="http://schemas.openxmlformats.org/drawingml/2006/main" anchorCtr="1"/>
            <a:lstStyle xmlns:a="http://schemas.openxmlformats.org/drawingml/2006/main"/>
            <a:p xmlns:a="http://schemas.openxmlformats.org/drawingml/2006/main">
              <a:pPr>
                <a:defRPr sz="900">
                  <a:solidFill>
                    <a:srgbClr val="627D98"/>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27D98"/>
                </a:solidFill>
                <a:latin typeface="Arial"/>
                <a:ea typeface="Arial"/>
                <a:cs typeface="Arial"/>
              </a:defRPr>
            </a:pPr>
          </a:p>
        </c:txPr>
        <c:crossAx val="48650112"/>
        <c:crossBetween val="between"/>
      </c:valAx>
      <c:spPr>
        <a:solidFill xmlns:a="http://schemas.openxmlformats.org/drawingml/2006/main">
          <a:srgbClr val="F6F4EF"/>
        </a:solidFill>
        <a:ln xmlns:a="http://schemas.openxmlformats.org/drawingml/2006/main" w="0">
          <a:noFill/>
          <a:prstDash val="solid"/>
        </a:ln>
      </c:spPr>
    </c:plotArea>
    <c:plotVisOnly val="1"/>
  </c:chart>
  <c:spPr>
    <a:solidFill xmlns:a="http://schemas.openxmlformats.org/drawingml/2006/main">
      <a:srgbClr val="F6F4EF"/>
    </a:solidFill>
    <a:ln xmlns:a="http://schemas.openxmlformats.org/drawingml/2006/main" w="0">
      <a:no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Average treatment cost (INR)</c:v>
          </c:tx>
          <c:spPr>
            <a:solidFill xmlns:a="http://schemas.openxmlformats.org/drawingml/2006/main">
              <a:srgbClr val="087E8B"/>
            </a:solidFill>
          </c:spPr>
          <c:invertIfNegative val="0"/>
          <c:cat>
            <c:strRef>
              <c:f>'Chart Data'!$A$2:$A$6</c:f>
              <c:strCache>
                <c:ptCount val="5"/>
                <c:pt idx="0">
                  <c:v>Insurance</c:v>
                </c:pt>
                <c:pt idx="1">
                  <c:v>Credit card</c:v>
                </c:pt>
                <c:pt idx="2">
                  <c:v>Debit card</c:v>
                </c:pt>
                <c:pt idx="3">
                  <c:v>UPI</c:v>
                </c:pt>
                <c:pt idx="4">
                  <c:v>Cash</c:v>
                </c:pt>
              </c:strCache>
            </c:strRef>
          </c:cat>
          <c:val>
            <c:numRef>
              <c:f>'Chart Data'!$B$2:$B$6</c:f>
              <c:numCache>
                <c:formatCode>General</c:formatCode>
                <c:ptCount val="5"/>
                <c:pt idx="0">
                  <c:v>88064.21</c:v>
                </c:pt>
                <c:pt idx="1">
                  <c:v>40766.86</c:v>
                </c:pt>
                <c:pt idx="2">
                  <c:v>22327.15</c:v>
                </c:pt>
                <c:pt idx="3">
                  <c:v>9272.31</c:v>
                </c:pt>
                <c:pt idx="4">
                  <c:v>7156.65</c:v>
                </c:pt>
              </c:numCache>
            </c:numRef>
          </c:val>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l"/>
        <c:majorGridlines>
          <c:spPr>
            <a:ln xmlns:a="http://schemas.openxmlformats.org/drawingml/2006/main" w="9525">
              <a:solidFill>
                <a:srgbClr val="D9E1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27D98"/>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975">
                <a:solidFill>
                  <a:srgbClr val="183B56"/>
                </a:solidFill>
                <a:latin typeface="Arial"/>
                <a:ea typeface="Arial"/>
                <a:cs typeface="Arial"/>
              </a:defRPr>
            </a:pPr>
          </a:p>
        </c:txPr>
        <c:crossAx val="48650112"/>
        <c:crossBetween val="between"/>
      </c:valAx>
      <c:spPr>
        <a:solidFill xmlns:a="http://schemas.openxmlformats.org/drawingml/2006/main">
          <a:srgbClr val="F6F4EF"/>
        </a:solidFill>
        <a:ln xmlns:a="http://schemas.openxmlformats.org/drawingml/2006/main" w="0">
          <a:noFill/>
          <a:prstDash val="solid"/>
        </a:ln>
      </c:spPr>
    </c:plotArea>
    <c:plotVisOnly val="1"/>
  </c:chart>
  <c:spPr>
    <a:solidFill xmlns:a="http://schemas.openxmlformats.org/drawingml/2006/main">
      <a:srgbClr val="F6F4EF"/>
    </a:solidFill>
    <a:ln xmlns:a="http://schemas.openxmlformats.org/drawingml/2006/main" w="0">
      <a:noFill/>
      <a:prstDash val="solid"/>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Average records per day</c:v>
          </c:tx>
          <c:spPr>
            <a:solidFill xmlns:a="http://schemas.openxmlformats.org/drawingml/2006/main">
              <a:srgbClr val="D9822B"/>
            </a:solidFill>
          </c:spPr>
          <c:invertIfNegative val="0"/>
          <c:dPt>
            <c:idx val="0"/>
            <c:invertIfNegative val="0"/>
            <c:spPr>
              <a:solidFill xmlns:a="http://schemas.openxmlformats.org/drawingml/2006/main">
                <a:srgbClr val="D9822B"/>
              </a:solidFill>
            </c:spPr>
          </c:dPt>
          <c:dPt>
            <c:idx val="1"/>
            <c:invertIfNegative val="0"/>
            <c:spPr>
              <a:solidFill xmlns:a="http://schemas.openxmlformats.org/drawingml/2006/main">
                <a:srgbClr val="087E8B"/>
              </a:solidFill>
            </c:spPr>
          </c:dPt>
          <c:cat>
            <c:strRef>
              <c:f>'Chart Data'!$A$2:$A$3</c:f>
              <c:strCache>
                <c:ptCount val="2"/>
                <c:pt idx="0">
                  <c:v>Uninsured</c:v>
                </c:pt>
                <c:pt idx="1">
                  <c:v>Insured</c:v>
                </c:pt>
              </c:strCache>
            </c:strRef>
          </c:cat>
          <c:val>
            <c:numRef>
              <c:f>'Chart Data'!$B$2:$B$3</c:f>
              <c:numCache>
                <c:formatCode>General</c:formatCode>
                <c:ptCount val="2"/>
                <c:pt idx="0">
                  <c:v>130.87</c:v>
                </c:pt>
                <c:pt idx="1">
                  <c:v>71.83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l"/>
        <c:majorGridlines>
          <c:spPr>
            <a:ln xmlns:a="http://schemas.openxmlformats.org/drawingml/2006/main" w="9525">
              <a:solidFill>
                <a:srgbClr val="D9E1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27D98"/>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125">
                <a:solidFill>
                  <a:srgbClr val="183B56"/>
                </a:solidFill>
                <a:latin typeface="Arial"/>
                <a:ea typeface="Arial"/>
                <a:cs typeface="Arial"/>
              </a:defRPr>
            </a:pPr>
          </a:p>
        </c:txPr>
        <c:crossAx val="48650112"/>
        <c:crossBetween val="between"/>
      </c:valAx>
      <c:spPr>
        <a:solidFill xmlns:a="http://schemas.openxmlformats.org/drawingml/2006/main">
          <a:srgbClr val="F6F4EF"/>
        </a:solidFill>
        <a:ln xmlns:a="http://schemas.openxmlformats.org/drawingml/2006/main" w="0">
          <a:noFill/>
          <a:prstDash val="solid"/>
        </a:ln>
      </c:spPr>
    </c:plotArea>
    <c:plotVisOnly val="1"/>
  </c:chart>
  <c:spPr>
    <a:solidFill xmlns:a="http://schemas.openxmlformats.org/drawingml/2006/main">
      <a:srgbClr val="F6F4E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2CF3BA-A51B-4794-B1DB-36D726A4D5B4}"/>
              </a:ext>
            </a:extLst>
          </p:cNvPr>
          <p:cNvSpPr>
            <a:spLocks xmlns:a="http://schemas.openxmlformats.org/drawingml/2006/main" noGrp="1"/>
          </p:cNvSpPr>
          <p:nvPr/>
        </p:nvSpPr>
        <p:spPr>
          <a:xfrm xmlns:a="http://schemas.openxmlformats.org/drawingml/2006/main">
            <a:off x="0" y="0"/>
            <a:ext cx="142875" cy="6858000"/>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5811B1D-8A57-4AF0-93A0-B4C8EF3EAE51}"/>
              </a:ext>
            </a:extLst>
          </p:cNvPr>
          <p:cNvSpPr>
            <a:spLocks xmlns:a="http://schemas.openxmlformats.org/drawingml/2006/main" noGrp="1"/>
          </p:cNvSpPr>
          <p:nvPr/>
        </p:nvSpPr>
        <p:spPr>
          <a:xfrm xmlns:a="http://schemas.openxmlformats.org/drawingml/2006/main">
            <a:off x="819150" y="1066800"/>
            <a:ext cx="10001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4050" b="1" i="0">
                <a:solidFill>
                  <a:srgbClr val="FFFFFF"/>
                </a:solidFill>
                <a:latin typeface="Arial"/>
                <a:ea typeface="Arial"/>
                <a:cs typeface="Arial"/>
              </a:defRPr>
            </a:defPPr>
          </a:lstStyle>
          <a:p xmlns:a="http://schemas.openxmlformats.org/drawingml/2006/main">
            <a:pPr algn="l">
              <a:defRPr sz="4050" b="1" i="0">
                <a:solidFill>
                  <a:srgbClr val="FFFFFF"/>
                </a:solidFill>
                <a:latin typeface="Arial"/>
                <a:ea typeface="Arial"/>
                <a:cs typeface="Arial"/>
              </a:defRPr>
            </a:pPr>
            <a:r>
              <a:rPr sz="4050" b="1" i="0">
                <a:solidFill>
                  <a:srgbClr val="FFFFFF"/>
                </a:solidFill>
                <a:latin typeface="Arial"/>
                <a:ea typeface="Arial"/>
                <a:cs typeface="Arial"/>
              </a:rPr>
              <a:t>HOSPITAL PATIENT ANALYTICS</a:t>
            </a:r>
          </a:p>
        </p:txBody>
      </p:sp>
      <p:sp>
        <p:nvSpPr>
          <p:cNvPr id="3" name="">
            <a:extLst xmlns:a="http://schemas.openxmlformats.org/drawingml/2006/main">
              <a:ext uri="{FF2B5EF4-FFF2-40B4-BE49-F238E27FC236}">
                <a16:creationId xmlns:a16="http://schemas.microsoft.com/office/drawing/2014/main" id="{45A90054-8F5A-46FA-A52D-00028A126B7A}"/>
              </a:ext>
            </a:extLst>
          </p:cNvPr>
          <p:cNvSpPr>
            <a:spLocks xmlns:a="http://schemas.openxmlformats.org/drawingml/2006/main" noGrp="1"/>
          </p:cNvSpPr>
          <p:nvPr/>
        </p:nvSpPr>
        <p:spPr>
          <a:xfrm xmlns:a="http://schemas.openxmlformats.org/drawingml/2006/main">
            <a:off x="857250" y="2105025"/>
            <a:ext cx="885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100" b="0" i="0">
                <a:solidFill>
                  <a:srgbClr val="B8DCE0"/>
                </a:solidFill>
                <a:latin typeface="Arial"/>
                <a:ea typeface="Arial"/>
                <a:cs typeface="Arial"/>
              </a:defRPr>
            </a:defPPr>
          </a:lstStyle>
          <a:p xmlns:a="http://schemas.openxmlformats.org/drawingml/2006/main">
            <a:pPr algn="l">
              <a:defRPr sz="2100" b="0" i="0">
                <a:solidFill>
                  <a:srgbClr val="B8DCE0"/>
                </a:solidFill>
                <a:latin typeface="Arial"/>
                <a:ea typeface="Arial"/>
                <a:cs typeface="Arial"/>
              </a:defRPr>
            </a:pPr>
            <a:r>
              <a:rPr sz="2100" b="0" i="0">
                <a:solidFill>
                  <a:srgbClr val="B8DCE0"/>
                </a:solidFill>
                <a:latin typeface="Arial"/>
                <a:ea typeface="Arial"/>
                <a:cs typeface="Arial"/>
              </a:rPr>
              <a:t>Executive Overview &amp; Data Insights</a:t>
            </a:r>
          </a:p>
        </p:txBody>
      </p:sp>
      <p:sp>
        <p:nvSpPr>
          <p:cNvPr id="4" name="">
            <a:extLst xmlns:a="http://schemas.openxmlformats.org/drawingml/2006/main">
              <a:ext uri="{FF2B5EF4-FFF2-40B4-BE49-F238E27FC236}">
                <a16:creationId xmlns:a16="http://schemas.microsoft.com/office/drawing/2014/main" id="{735E6287-4224-414F-A9BB-B31F381A6BDF}"/>
              </a:ext>
            </a:extLst>
          </p:cNvPr>
          <p:cNvSpPr>
            <a:spLocks xmlns:a="http://schemas.openxmlformats.org/drawingml/2006/main" noGrp="1"/>
          </p:cNvSpPr>
          <p:nvPr/>
        </p:nvSpPr>
        <p:spPr>
          <a:xfrm xmlns:a="http://schemas.openxmlformats.org/drawingml/2006/main">
            <a:off x="857250" y="3009900"/>
            <a:ext cx="7334250" cy="38100"/>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AC8C6D6-BA86-49B0-B103-E408CBDBF81B}"/>
              </a:ext>
            </a:extLst>
          </p:cNvPr>
          <p:cNvSpPr>
            <a:spLocks xmlns:a="http://schemas.openxmlformats.org/drawingml/2006/main" noGrp="1"/>
          </p:cNvSpPr>
          <p:nvPr/>
        </p:nvSpPr>
        <p:spPr>
          <a:xfrm xmlns:a="http://schemas.openxmlformats.org/drawingml/2006/main">
            <a:off x="857250" y="329565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1" i="0">
                <a:solidFill>
                  <a:srgbClr val="FFFFFF"/>
                </a:solidFill>
                <a:latin typeface="Arial"/>
                <a:ea typeface="Arial"/>
                <a:cs typeface="Arial"/>
              </a:defRPr>
            </a:defPPr>
          </a:lstStyle>
          <a:p xmlns:a="http://schemas.openxmlformats.org/drawingml/2006/main">
            <a:pPr algn="l">
              <a:defRPr sz="1275" b="1" i="0">
                <a:solidFill>
                  <a:srgbClr val="FFFFFF"/>
                </a:solidFill>
                <a:latin typeface="Arial"/>
                <a:ea typeface="Arial"/>
                <a:cs typeface="Arial"/>
              </a:defRPr>
            </a:pPr>
            <a:r>
              <a:rPr sz="1275" b="1" i="0">
                <a:solidFill>
                  <a:srgbClr val="FFFFFF"/>
                </a:solidFill>
                <a:latin typeface="Arial"/>
                <a:ea typeface="Arial"/>
                <a:cs typeface="Arial"/>
              </a:rPr>
              <a:t>JUNE 2026  •  OPERATIONS  •  COSTS  •  OUTCOMES</a:t>
            </a:r>
          </a:p>
        </p:txBody>
      </p:sp>
      <p:sp>
        <p:nvSpPr>
          <p:cNvPr id="6" name="">
            <a:extLst xmlns:a="http://schemas.openxmlformats.org/drawingml/2006/main">
              <a:ext uri="{FF2B5EF4-FFF2-40B4-BE49-F238E27FC236}">
                <a16:creationId xmlns:a16="http://schemas.microsoft.com/office/drawing/2014/main" id="{2CD18585-8088-4BB2-9330-8E9711B601DB}"/>
              </a:ext>
            </a:extLst>
          </p:cNvPr>
          <p:cNvSpPr>
            <a:spLocks xmlns:a="http://schemas.openxmlformats.org/drawingml/2006/main" noGrp="1"/>
          </p:cNvSpPr>
          <p:nvPr/>
        </p:nvSpPr>
        <p:spPr>
          <a:xfrm xmlns:a="http://schemas.openxmlformats.org/drawingml/2006/main">
            <a:off x="857250" y="3781425"/>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00" b="0" i="0">
                <a:solidFill>
                  <a:srgbClr val="D9E7EF"/>
                </a:solidFill>
                <a:latin typeface="Arial"/>
                <a:ea typeface="Arial"/>
                <a:cs typeface="Arial"/>
              </a:defRPr>
            </a:defPPr>
          </a:lstStyle>
          <a:p xmlns:a="http://schemas.openxmlformats.org/drawingml/2006/main">
            <a:pPr algn="l">
              <a:defRPr sz="1500" b="0" i="0">
                <a:solidFill>
                  <a:srgbClr val="D9E7EF"/>
                </a:solidFill>
                <a:latin typeface="Arial"/>
                <a:ea typeface="Arial"/>
                <a:cs typeface="Arial"/>
              </a:defRPr>
            </a:pPr>
            <a:r>
              <a:rPr sz="1500" b="0" i="0">
                <a:solidFill>
                  <a:srgbClr val="D9E7EF"/>
                </a:solidFill>
                <a:latin typeface="Arial"/>
                <a:ea typeface="Arial"/>
                <a:cs typeface="Arial"/>
              </a:rPr>
              <a:t>40,596 cleaned records  |  21 fields  |  8 dashboard visuals</a:t>
            </a:r>
          </a:p>
        </p:txBody>
      </p:sp>
      <p:sp>
        <p:nvSpPr>
          <p:cNvPr id="7" name="">
            <a:extLst xmlns:a="http://schemas.openxmlformats.org/drawingml/2006/main">
              <a:ext uri="{FF2B5EF4-FFF2-40B4-BE49-F238E27FC236}">
                <a16:creationId xmlns:a16="http://schemas.microsoft.com/office/drawing/2014/main" id="{EDEF20FE-2646-4346-B265-B7F5C90AA639}"/>
              </a:ext>
            </a:extLst>
          </p:cNvPr>
          <p:cNvSpPr>
            <a:spLocks xmlns:a="http://schemas.openxmlformats.org/drawingml/2006/main" noGrp="1"/>
          </p:cNvSpPr>
          <p:nvPr/>
        </p:nvSpPr>
        <p:spPr>
          <a:xfrm xmlns:a="http://schemas.openxmlformats.org/drawingml/2006/main">
            <a:off x="857250" y="5638800"/>
            <a:ext cx="742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00" b="0" i="0">
                <a:solidFill>
                  <a:srgbClr val="B8C7D5"/>
                </a:solidFill>
                <a:latin typeface="Arial"/>
                <a:ea typeface="Arial"/>
                <a:cs typeface="Arial"/>
              </a:defRPr>
            </a:defPPr>
          </a:lstStyle>
          <a:p xmlns:a="http://schemas.openxmlformats.org/drawingml/2006/main">
            <a:pPr algn="l">
              <a:defRPr sz="1200" b="0" i="0">
                <a:solidFill>
                  <a:srgbClr val="B8C7D5"/>
                </a:solidFill>
                <a:latin typeface="Arial"/>
                <a:ea typeface="Arial"/>
                <a:cs typeface="Arial"/>
              </a:defRPr>
            </a:pPr>
            <a:r>
              <a:rPr sz="1200" b="0" i="0">
                <a:solidFill>
                  <a:srgbClr val="B8C7D5"/>
                </a:solidFill>
                <a:latin typeface="Arial"/>
                <a:ea typeface="Arial"/>
                <a:cs typeface="Arial"/>
              </a:rPr>
              <a:t>Prepared 16 October 2026  |  Analytics team</a:t>
            </a:r>
          </a:p>
        </p:txBody>
      </p:sp>
      <p:sp>
        <p:nvSpPr>
          <p:cNvPr id="8" name="">
            <a:extLst xmlns:a="http://schemas.openxmlformats.org/drawingml/2006/main">
              <a:ext uri="{FF2B5EF4-FFF2-40B4-BE49-F238E27FC236}">
                <a16:creationId xmlns:a16="http://schemas.microsoft.com/office/drawing/2014/main" id="{3618A2F0-A52E-44E9-AA23-D984FD95A1B2}"/>
              </a:ext>
            </a:extLst>
          </p:cNvPr>
          <p:cNvSpPr>
            <a:spLocks xmlns:a="http://schemas.openxmlformats.org/drawingml/2006/main" noGrp="1"/>
          </p:cNvSpPr>
          <p:nvPr/>
        </p:nvSpPr>
        <p:spPr>
          <a:xfrm xmlns:a="http://schemas.openxmlformats.org/drawingml/2006/main">
            <a:off x="857250" y="5915025"/>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0" i="0">
                <a:solidFill>
                  <a:srgbClr val="9FB3C8"/>
                </a:solidFill>
                <a:latin typeface="Arial"/>
                <a:ea typeface="Arial"/>
                <a:cs typeface="Arial"/>
              </a:defRPr>
            </a:defPPr>
          </a:lstStyle>
          <a:p xmlns:a="http://schemas.openxmlformats.org/drawingml/2006/main">
            <a:pPr algn="l">
              <a:defRPr sz="1050" b="0" i="0">
                <a:solidFill>
                  <a:srgbClr val="9FB3C8"/>
                </a:solidFill>
                <a:latin typeface="Arial"/>
                <a:ea typeface="Arial"/>
                <a:cs typeface="Arial"/>
              </a:defRPr>
            </a:pPr>
            <a:r>
              <a:rPr sz="1050" b="0" i="0">
                <a:solidFill>
                  <a:srgbClr val="9FB3C8"/>
                </a:solidFill>
                <a:latin typeface="Arial"/>
                <a:ea typeface="Arial"/>
                <a:cs typeface="Arial"/>
              </a:rPr>
              <a:t>Source workbook and project data files</a:t>
            </a:r>
          </a:p>
        </p:txBody>
      </p:sp>
    </p:spTree>
    <p:extLst>
      <p:ext uri="{BB962C8B-B14F-4D97-AF65-F5344CB8AC3E}">
        <p14:creationId xmlns:p14="http://schemas.microsoft.com/office/powerpoint/2010/main" val="936431086"/>
      </p:ext>
    </p:extLst>
  </p:cSld>
</p:sld>
</file>

<file path=ppt/slides/slide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2AA240F-B2AF-472E-8463-CB90311F7AAB}"/>
              </a:ext>
            </a:extLst>
          </p:cNvPr>
          <p:cNvSpPr>
            <a:spLocks xmlns:a="http://schemas.openxmlformats.org/drawingml/2006/main" noGrp="1"/>
          </p:cNvSpPr>
          <p:nvPr/>
        </p:nvSpPr>
        <p:spPr>
          <a:xfrm xmlns:a="http://schemas.openxmlformats.org/drawingml/2006/main">
            <a:off x="609600" y="3619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925" b="1" i="0">
                <a:solidFill>
                  <a:srgbClr val="102A43"/>
                </a:solidFill>
                <a:latin typeface="Arial"/>
                <a:ea typeface="Arial"/>
                <a:cs typeface="Arial"/>
              </a:defRPr>
            </a:defPPr>
          </a:lstStyle>
          <a:p xmlns:a="http://schemas.openxmlformats.org/drawingml/2006/main">
            <a:pPr algn="l">
              <a:defRPr sz="2925" b="1" i="0">
                <a:solidFill>
                  <a:srgbClr val="102A43"/>
                </a:solidFill>
                <a:latin typeface="Arial"/>
                <a:ea typeface="Arial"/>
                <a:cs typeface="Arial"/>
              </a:defRPr>
            </a:pPr>
            <a:r>
              <a:rPr sz="2925" b="1" i="0">
                <a:solidFill>
                  <a:srgbClr val="102A43"/>
                </a:solidFill>
                <a:latin typeface="Arial"/>
                <a:ea typeface="Arial"/>
                <a:cs typeface="Arial"/>
              </a:rPr>
              <a:t>Dataset scope &amp; measures</a:t>
            </a:r>
          </a:p>
        </p:txBody>
      </p:sp>
      <p:sp>
        <p:nvSpPr>
          <p:cNvPr id="2" name="">
            <a:extLst xmlns:a="http://schemas.openxmlformats.org/drawingml/2006/main">
              <a:ext uri="{FF2B5EF4-FFF2-40B4-BE49-F238E27FC236}">
                <a16:creationId xmlns:a16="http://schemas.microsoft.com/office/drawing/2014/main" id="{6596E7CC-AFAC-48CD-AE75-E65B31622CFB}"/>
              </a:ext>
            </a:extLst>
          </p:cNvPr>
          <p:cNvSpPr>
            <a:spLocks xmlns:a="http://schemas.openxmlformats.org/drawingml/2006/main" noGrp="1"/>
          </p:cNvSpPr>
          <p:nvPr/>
        </p:nvSpPr>
        <p:spPr>
          <a:xfrm xmlns:a="http://schemas.openxmlformats.org/drawingml/2006/main">
            <a:off x="628650" y="895350"/>
            <a:ext cx="10934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627D98"/>
                </a:solidFill>
                <a:latin typeface="Arial"/>
                <a:ea typeface="Arial"/>
                <a:cs typeface="Arial"/>
              </a:defRPr>
            </a:defPPr>
          </a:lstStyle>
          <a:p xmlns:a="http://schemas.openxmlformats.org/drawingml/2006/main">
            <a:pPr algn="l">
              <a:defRPr sz="1275" b="0" i="0">
                <a:solidFill>
                  <a:srgbClr val="627D98"/>
                </a:solidFill>
                <a:latin typeface="Arial"/>
                <a:ea typeface="Arial"/>
                <a:cs typeface="Arial"/>
              </a:defRPr>
            </a:pPr>
            <a:r>
              <a:rPr sz="1275" b="0" i="0">
                <a:solidFill>
                  <a:srgbClr val="627D98"/>
                </a:solidFill>
                <a:latin typeface="Arial"/>
                <a:ea typeface="Arial"/>
                <a:cs typeface="Arial"/>
              </a:rPr>
              <a:t>One month of descriptive patient-record analysis</a:t>
            </a:r>
          </a:p>
        </p:txBody>
      </p:sp>
      <p:sp>
        <p:nvSpPr>
          <p:cNvPr id="3" name="">
            <a:extLst xmlns:a="http://schemas.openxmlformats.org/drawingml/2006/main">
              <a:ext uri="{FF2B5EF4-FFF2-40B4-BE49-F238E27FC236}">
                <a16:creationId xmlns:a16="http://schemas.microsoft.com/office/drawing/2014/main" id="{A55C4F90-2F47-4529-9B86-5371D462E6AD}"/>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EABA111-2F62-4EDE-9947-52632A4E290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C31FA5B-C15B-4A07-BFFD-CF62E1E375BB}"/>
              </a:ext>
            </a:extLst>
          </p:cNvPr>
          <p:cNvSpPr>
            <a:spLocks xmlns:a="http://schemas.openxmlformats.org/drawingml/2006/main" noGrp="1"/>
          </p:cNvSpPr>
          <p:nvPr/>
        </p:nvSpPr>
        <p:spPr>
          <a:xfrm xmlns:a="http://schemas.openxmlformats.org/drawingml/2006/main">
            <a:off x="609600" y="649605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900" b="1" i="0">
                <a:solidFill>
                  <a:srgbClr val="627D98"/>
                </a:solidFill>
                <a:latin typeface="Arial"/>
                <a:ea typeface="Arial"/>
                <a:cs typeface="Arial"/>
              </a:defRPr>
            </a:defPPr>
          </a:lstStyle>
          <a:p xmlns:a="http://schemas.openxmlformats.org/drawingml/2006/main">
            <a:pPr algn="l">
              <a:defRPr sz="900" b="1" i="0">
                <a:solidFill>
                  <a:srgbClr val="627D98"/>
                </a:solidFill>
                <a:latin typeface="Arial"/>
                <a:ea typeface="Arial"/>
                <a:cs typeface="Arial"/>
              </a:defRPr>
            </a:pPr>
            <a:r>
              <a:rPr sz="900" b="1" i="0">
                <a:solidFill>
                  <a:srgbClr val="627D98"/>
                </a:solidFill>
                <a:latin typeface="Arial"/>
                <a:ea typeface="Arial"/>
                <a:cs typeface="Arial"/>
              </a:rPr>
              <a:t>HOSPITAL PATIENT ANALYTICS  /  JUNE 2026</a:t>
            </a:r>
          </a:p>
        </p:txBody>
      </p:sp>
      <p:sp>
        <p:nvSpPr>
          <p:cNvPr id="6" name="">
            <a:extLst xmlns:a="http://schemas.openxmlformats.org/drawingml/2006/main">
              <a:ext uri="{FF2B5EF4-FFF2-40B4-BE49-F238E27FC236}">
                <a16:creationId xmlns:a16="http://schemas.microsoft.com/office/drawing/2014/main" id="{99989CCB-FC1C-4618-A22F-CD5EDCC30AC5}"/>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r">
              <a:defRPr sz="1050" b="1" i="0">
                <a:solidFill>
                  <a:srgbClr val="627D98"/>
                </a:solidFill>
                <a:latin typeface="Arial"/>
                <a:ea typeface="Arial"/>
                <a:cs typeface="Arial"/>
              </a:defRPr>
            </a:defPPr>
          </a:lstStyle>
          <a:p xmlns:a="http://schemas.openxmlformats.org/drawingml/2006/main">
            <a:pPr algn="r">
              <a:defRPr sz="1050" b="1" i="0">
                <a:solidFill>
                  <a:srgbClr val="627D98"/>
                </a:solidFill>
                <a:latin typeface="Arial"/>
                <a:ea typeface="Arial"/>
                <a:cs typeface="Arial"/>
              </a:defRPr>
            </a:pPr>
            <a:r>
              <a:rPr sz="1050" b="1" i="0">
                <a:solidFill>
                  <a:srgbClr val="627D9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57D0A4D4-DB36-4BD4-8DE3-87A134331A35}"/>
              </a:ext>
            </a:extLst>
          </p:cNvPr>
          <p:cNvSpPr>
            <a:spLocks xmlns:a="http://schemas.openxmlformats.org/drawingml/2006/main" noGrp="1"/>
          </p:cNvSpPr>
          <p:nvPr/>
        </p:nvSpPr>
        <p:spPr>
          <a:xfrm xmlns:a="http://schemas.openxmlformats.org/drawingml/2006/main">
            <a:off x="685800" y="15621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125" b="1" i="0">
                <a:solidFill>
                  <a:srgbClr val="087E8B"/>
                </a:solidFill>
                <a:latin typeface="Arial"/>
                <a:ea typeface="Arial"/>
                <a:cs typeface="Arial"/>
              </a:defRPr>
            </a:defPPr>
          </a:lstStyle>
          <a:p xmlns:a="http://schemas.openxmlformats.org/drawingml/2006/main">
            <a:pPr algn="l">
              <a:defRPr sz="1125" b="1" i="0">
                <a:solidFill>
                  <a:srgbClr val="087E8B"/>
                </a:solidFill>
                <a:latin typeface="Arial"/>
                <a:ea typeface="Arial"/>
                <a:cs typeface="Arial"/>
              </a:defRPr>
            </a:pPr>
            <a:r>
              <a:rPr sz="1125" b="1" i="0">
                <a:solidFill>
                  <a:srgbClr val="087E8B"/>
                </a:solidFill>
                <a:latin typeface="Arial"/>
                <a:ea typeface="Arial"/>
                <a:cs typeface="Arial"/>
              </a:rPr>
              <a:t>SCOPE</a:t>
            </a:r>
          </a:p>
        </p:txBody>
      </p:sp>
      <p:sp>
        <p:nvSpPr>
          <p:cNvPr id="8" name="">
            <a:extLst xmlns:a="http://schemas.openxmlformats.org/drawingml/2006/main">
              <a:ext uri="{FF2B5EF4-FFF2-40B4-BE49-F238E27FC236}">
                <a16:creationId xmlns:a16="http://schemas.microsoft.com/office/drawing/2014/main" id="{517CB05E-0F1A-4219-B63B-5E9E144B1F75}"/>
              </a:ext>
            </a:extLst>
          </p:cNvPr>
          <p:cNvSpPr>
            <a:spLocks xmlns:a="http://schemas.openxmlformats.org/drawingml/2006/main" noGrp="1"/>
          </p:cNvSpPr>
          <p:nvPr/>
        </p:nvSpPr>
        <p:spPr>
          <a:xfrm xmlns:a="http://schemas.openxmlformats.org/drawingml/2006/main">
            <a:off x="4476750" y="15621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125" b="1" i="0">
                <a:solidFill>
                  <a:srgbClr val="087E8B"/>
                </a:solidFill>
                <a:latin typeface="Arial"/>
                <a:ea typeface="Arial"/>
                <a:cs typeface="Arial"/>
              </a:defRPr>
            </a:defPPr>
          </a:lstStyle>
          <a:p xmlns:a="http://schemas.openxmlformats.org/drawingml/2006/main">
            <a:pPr algn="l">
              <a:defRPr sz="1125" b="1" i="0">
                <a:solidFill>
                  <a:srgbClr val="087E8B"/>
                </a:solidFill>
                <a:latin typeface="Arial"/>
                <a:ea typeface="Arial"/>
                <a:cs typeface="Arial"/>
              </a:defRPr>
            </a:pPr>
            <a:r>
              <a:rPr sz="1125" b="1" i="0">
                <a:solidFill>
                  <a:srgbClr val="087E8B"/>
                </a:solidFill>
                <a:latin typeface="Arial"/>
                <a:ea typeface="Arial"/>
                <a:cs typeface="Arial"/>
              </a:rPr>
              <a:t>CORE FIELDS</a:t>
            </a:r>
          </a:p>
        </p:txBody>
      </p:sp>
      <p:sp>
        <p:nvSpPr>
          <p:cNvPr id="9" name="">
            <a:extLst xmlns:a="http://schemas.openxmlformats.org/drawingml/2006/main">
              <a:ext uri="{FF2B5EF4-FFF2-40B4-BE49-F238E27FC236}">
                <a16:creationId xmlns:a16="http://schemas.microsoft.com/office/drawing/2014/main" id="{78C235AB-EC1B-411B-AA6B-5957F06E173A}"/>
              </a:ext>
            </a:extLst>
          </p:cNvPr>
          <p:cNvSpPr>
            <a:spLocks xmlns:a="http://schemas.openxmlformats.org/drawingml/2006/main" noGrp="1"/>
          </p:cNvSpPr>
          <p:nvPr/>
        </p:nvSpPr>
        <p:spPr>
          <a:xfrm xmlns:a="http://schemas.openxmlformats.org/drawingml/2006/main">
            <a:off x="8267700" y="15621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125" b="1" i="0">
                <a:solidFill>
                  <a:srgbClr val="087E8B"/>
                </a:solidFill>
                <a:latin typeface="Arial"/>
                <a:ea typeface="Arial"/>
                <a:cs typeface="Arial"/>
              </a:defRPr>
            </a:defPPr>
          </a:lstStyle>
          <a:p xmlns:a="http://schemas.openxmlformats.org/drawingml/2006/main">
            <a:pPr algn="l">
              <a:defRPr sz="1125" b="1" i="0">
                <a:solidFill>
                  <a:srgbClr val="087E8B"/>
                </a:solidFill>
                <a:latin typeface="Arial"/>
                <a:ea typeface="Arial"/>
                <a:cs typeface="Arial"/>
              </a:defRPr>
            </a:pPr>
            <a:r>
              <a:rPr sz="1125" b="1" i="0">
                <a:solidFill>
                  <a:srgbClr val="087E8B"/>
                </a:solidFill>
                <a:latin typeface="Arial"/>
                <a:ea typeface="Arial"/>
                <a:cs typeface="Arial"/>
              </a:rPr>
              <a:t>EXECUTIVE METRICS</a:t>
            </a:r>
          </a:p>
        </p:txBody>
      </p:sp>
      <p:sp>
        <p:nvSpPr>
          <p:cNvPr id="10" name="">
            <a:extLst xmlns:a="http://schemas.openxmlformats.org/drawingml/2006/main">
              <a:ext uri="{FF2B5EF4-FFF2-40B4-BE49-F238E27FC236}">
                <a16:creationId xmlns:a16="http://schemas.microsoft.com/office/drawing/2014/main" id="{76311B82-AC91-4790-8F63-E249F0B9F172}"/>
              </a:ext>
            </a:extLst>
          </p:cNvPr>
          <p:cNvSpPr>
            <a:spLocks xmlns:a="http://schemas.openxmlformats.org/drawingml/2006/main" noGrp="1"/>
          </p:cNvSpPr>
          <p:nvPr/>
        </p:nvSpPr>
        <p:spPr>
          <a:xfrm xmlns:a="http://schemas.openxmlformats.org/drawingml/2006/main">
            <a:off x="685800" y="1905000"/>
            <a:ext cx="314325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5D91476-9149-4AE6-B1FD-C3C6188FAE9A}"/>
              </a:ext>
            </a:extLst>
          </p:cNvPr>
          <p:cNvSpPr>
            <a:spLocks xmlns:a="http://schemas.openxmlformats.org/drawingml/2006/main" noGrp="1"/>
          </p:cNvSpPr>
          <p:nvPr/>
        </p:nvSpPr>
        <p:spPr>
          <a:xfrm xmlns:a="http://schemas.openxmlformats.org/drawingml/2006/main">
            <a:off x="4476750" y="1905000"/>
            <a:ext cx="314325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BB53034-E920-4BD8-A01C-23388DB2198E}"/>
              </a:ext>
            </a:extLst>
          </p:cNvPr>
          <p:cNvSpPr>
            <a:spLocks xmlns:a="http://schemas.openxmlformats.org/drawingml/2006/main" noGrp="1"/>
          </p:cNvSpPr>
          <p:nvPr/>
        </p:nvSpPr>
        <p:spPr>
          <a:xfrm xmlns:a="http://schemas.openxmlformats.org/drawingml/2006/main">
            <a:off x="8267700" y="1905000"/>
            <a:ext cx="32385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B879DA1-434E-4C85-BC29-8F9888E02781}"/>
              </a:ext>
            </a:extLst>
          </p:cNvPr>
          <p:cNvSpPr>
            <a:spLocks xmlns:a="http://schemas.openxmlformats.org/drawingml/2006/main" noGrp="1"/>
          </p:cNvSpPr>
          <p:nvPr/>
        </p:nvSpPr>
        <p:spPr>
          <a:xfrm xmlns:a="http://schemas.openxmlformats.org/drawingml/2006/main">
            <a:off x="685800" y="209550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3150" b="1" i="0">
                <a:solidFill>
                  <a:srgbClr val="102A43"/>
                </a:solidFill>
                <a:latin typeface="Arial"/>
                <a:ea typeface="Arial"/>
                <a:cs typeface="Arial"/>
              </a:defRPr>
            </a:defPPr>
          </a:lstStyle>
          <a:p xmlns:a="http://schemas.openxmlformats.org/drawingml/2006/main">
            <a:pPr algn="l">
              <a:defRPr sz="3150" b="1" i="0">
                <a:solidFill>
                  <a:srgbClr val="102A43"/>
                </a:solidFill>
                <a:latin typeface="Arial"/>
                <a:ea typeface="Arial"/>
                <a:cs typeface="Arial"/>
              </a:defRPr>
            </a:pPr>
            <a:r>
              <a:rPr sz="3150" b="1" i="0">
                <a:solidFill>
                  <a:srgbClr val="102A43"/>
                </a:solidFill>
                <a:latin typeface="Arial"/>
                <a:ea typeface="Arial"/>
                <a:cs typeface="Arial"/>
              </a:rPr>
              <a:t>40,596</a:t>
            </a:r>
          </a:p>
        </p:txBody>
      </p:sp>
      <p:sp>
        <p:nvSpPr>
          <p:cNvPr id="14" name="">
            <a:extLst xmlns:a="http://schemas.openxmlformats.org/drawingml/2006/main">
              <a:ext uri="{FF2B5EF4-FFF2-40B4-BE49-F238E27FC236}">
                <a16:creationId xmlns:a16="http://schemas.microsoft.com/office/drawing/2014/main" id="{D6D9E932-CC9F-4035-BFB6-8ED78830B372}"/>
              </a:ext>
            </a:extLst>
          </p:cNvPr>
          <p:cNvSpPr>
            <a:spLocks xmlns:a="http://schemas.openxmlformats.org/drawingml/2006/main" noGrp="1"/>
          </p:cNvSpPr>
          <p:nvPr/>
        </p:nvSpPr>
        <p:spPr>
          <a:xfrm xmlns:a="http://schemas.openxmlformats.org/drawingml/2006/main">
            <a:off x="685800" y="26479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00" b="0" i="0">
                <a:solidFill>
                  <a:srgbClr val="183B56"/>
                </a:solidFill>
                <a:latin typeface="Arial"/>
                <a:ea typeface="Arial"/>
                <a:cs typeface="Arial"/>
              </a:defRPr>
            </a:defPPr>
          </a:lstStyle>
          <a:p xmlns:a="http://schemas.openxmlformats.org/drawingml/2006/main">
            <a:pPr algn="l">
              <a:defRPr sz="1500" b="0" i="0">
                <a:solidFill>
                  <a:srgbClr val="183B56"/>
                </a:solidFill>
                <a:latin typeface="Arial"/>
                <a:ea typeface="Arial"/>
                <a:cs typeface="Arial"/>
              </a:defRPr>
            </a:pPr>
            <a:r>
              <a:rPr sz="1500" b="0" i="0">
                <a:solidFill>
                  <a:srgbClr val="183B56"/>
                </a:solidFill>
                <a:latin typeface="Arial"/>
                <a:ea typeface="Arial"/>
                <a:cs typeface="Arial"/>
              </a:rPr>
              <a:t>records after cleaning</a:t>
            </a:r>
          </a:p>
        </p:txBody>
      </p:sp>
      <p:sp>
        <p:nvSpPr>
          <p:cNvPr id="15" name="">
            <a:extLst xmlns:a="http://schemas.openxmlformats.org/drawingml/2006/main">
              <a:ext uri="{FF2B5EF4-FFF2-40B4-BE49-F238E27FC236}">
                <a16:creationId xmlns:a16="http://schemas.microsoft.com/office/drawing/2014/main" id="{83D5FE9B-430F-42D9-90D3-374F11D0FA5E}"/>
              </a:ext>
            </a:extLst>
          </p:cNvPr>
          <p:cNvSpPr>
            <a:spLocks xmlns:a="http://schemas.openxmlformats.org/drawingml/2006/main" noGrp="1"/>
          </p:cNvSpPr>
          <p:nvPr/>
        </p:nvSpPr>
        <p:spPr>
          <a:xfrm xmlns:a="http://schemas.openxmlformats.org/drawingml/2006/main">
            <a:off x="685800" y="3162300"/>
            <a:ext cx="3143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a:solidFill>
                  <a:srgbClr val="183B56"/>
                </a:solidFill>
                <a:latin typeface="Arial"/>
                <a:ea typeface="Arial"/>
                <a:cs typeface="Arial"/>
              </a:defRPr>
            </a:defPPr>
          </a:lstStyle>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21 source fields</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Coverage: 1–30 June 2026</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40,000 distinct patient IDs</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No unique encounter ID</a:t>
            </a:r>
          </a:p>
        </p:txBody>
      </p:sp>
      <p:sp>
        <p:nvSpPr>
          <p:cNvPr id="16" name="">
            <a:extLst xmlns:a="http://schemas.openxmlformats.org/drawingml/2006/main">
              <a:ext uri="{FF2B5EF4-FFF2-40B4-BE49-F238E27FC236}">
                <a16:creationId xmlns:a16="http://schemas.microsoft.com/office/drawing/2014/main" id="{E13B4831-1349-466C-8C02-8C04B433FBA5}"/>
              </a:ext>
            </a:extLst>
          </p:cNvPr>
          <p:cNvSpPr>
            <a:spLocks xmlns:a="http://schemas.openxmlformats.org/drawingml/2006/main" noGrp="1"/>
          </p:cNvSpPr>
          <p:nvPr/>
        </p:nvSpPr>
        <p:spPr>
          <a:xfrm xmlns:a="http://schemas.openxmlformats.org/drawingml/2006/main">
            <a:off x="4476750" y="2095500"/>
            <a:ext cx="32194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a:solidFill>
                  <a:srgbClr val="183B56"/>
                </a:solidFill>
                <a:latin typeface="Arial"/>
                <a:ea typeface="Arial"/>
                <a:cs typeface="Arial"/>
              </a:defRPr>
            </a:defPPr>
          </a:lstStyle>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Demographic and patient identifiers</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Disease, severity, referral, status</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Service, dates, costs, payment</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Wait, room time, insurance, rating</a:t>
            </a:r>
          </a:p>
        </p:txBody>
      </p:sp>
      <p:sp>
        <p:nvSpPr>
          <p:cNvPr id="17" name="">
            <a:extLst xmlns:a="http://schemas.openxmlformats.org/drawingml/2006/main">
              <a:ext uri="{FF2B5EF4-FFF2-40B4-BE49-F238E27FC236}">
                <a16:creationId xmlns:a16="http://schemas.microsoft.com/office/drawing/2014/main" id="{791BDDAC-21F8-4BCC-9119-2C8F9F002F32}"/>
              </a:ext>
            </a:extLst>
          </p:cNvPr>
          <p:cNvSpPr>
            <a:spLocks xmlns:a="http://schemas.openxmlformats.org/drawingml/2006/main" noGrp="1"/>
          </p:cNvSpPr>
          <p:nvPr/>
        </p:nvSpPr>
        <p:spPr>
          <a:xfrm xmlns:a="http://schemas.openxmlformats.org/drawingml/2006/main">
            <a:off x="8267700" y="2095500"/>
            <a:ext cx="1476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550" b="1" i="0">
                <a:solidFill>
                  <a:srgbClr val="087E8B"/>
                </a:solidFill>
                <a:latin typeface="Arial"/>
                <a:ea typeface="Arial"/>
                <a:cs typeface="Arial"/>
              </a:defRPr>
            </a:defPPr>
          </a:lstStyle>
          <a:p xmlns:a="http://schemas.openxmlformats.org/drawingml/2006/main">
            <a:pPr algn="l">
              <a:defRPr sz="2550" b="1" i="0">
                <a:solidFill>
                  <a:srgbClr val="087E8B"/>
                </a:solidFill>
                <a:latin typeface="Arial"/>
                <a:ea typeface="Arial"/>
                <a:cs typeface="Arial"/>
              </a:defRPr>
            </a:pPr>
            <a:r>
              <a:rPr sz="2550" b="1" i="0">
                <a:solidFill>
                  <a:srgbClr val="087E8B"/>
                </a:solidFill>
                <a:latin typeface="Arial"/>
                <a:ea typeface="Arial"/>
                <a:cs typeface="Arial"/>
              </a:rPr>
              <a:t>30,759</a:t>
            </a:r>
          </a:p>
        </p:txBody>
      </p:sp>
      <p:sp>
        <p:nvSpPr>
          <p:cNvPr id="18" name="">
            <a:extLst xmlns:a="http://schemas.openxmlformats.org/drawingml/2006/main">
              <a:ext uri="{FF2B5EF4-FFF2-40B4-BE49-F238E27FC236}">
                <a16:creationId xmlns:a16="http://schemas.microsoft.com/office/drawing/2014/main" id="{F40015B6-7ECE-4454-8838-16F9E30CF9FC}"/>
              </a:ext>
            </a:extLst>
          </p:cNvPr>
          <p:cNvSpPr>
            <a:spLocks xmlns:a="http://schemas.openxmlformats.org/drawingml/2006/main" noGrp="1"/>
          </p:cNvSpPr>
          <p:nvPr/>
        </p:nvSpPr>
        <p:spPr>
          <a:xfrm xmlns:a="http://schemas.openxmlformats.org/drawingml/2006/main">
            <a:off x="8267700" y="2609850"/>
            <a:ext cx="147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627D98"/>
                </a:solidFill>
                <a:latin typeface="Arial"/>
                <a:ea typeface="Arial"/>
                <a:cs typeface="Arial"/>
              </a:defRPr>
            </a:defPPr>
          </a:lstStyle>
          <a:p xmlns:a="http://schemas.openxmlformats.org/drawingml/2006/main">
            <a:pPr algn="l">
              <a:defRPr sz="1275" b="0" i="0">
                <a:solidFill>
                  <a:srgbClr val="627D98"/>
                </a:solidFill>
                <a:latin typeface="Arial"/>
                <a:ea typeface="Arial"/>
                <a:cs typeface="Arial"/>
              </a:defRPr>
            </a:pPr>
            <a:r>
              <a:rPr sz="1275" b="0" i="0">
                <a:solidFill>
                  <a:srgbClr val="627D98"/>
                </a:solidFill>
                <a:latin typeface="Arial"/>
                <a:ea typeface="Arial"/>
                <a:cs typeface="Arial"/>
              </a:rPr>
              <a:t>OPD records</a:t>
            </a:r>
          </a:p>
        </p:txBody>
      </p:sp>
      <p:sp>
        <p:nvSpPr>
          <p:cNvPr id="19" name="">
            <a:extLst xmlns:a="http://schemas.openxmlformats.org/drawingml/2006/main">
              <a:ext uri="{FF2B5EF4-FFF2-40B4-BE49-F238E27FC236}">
                <a16:creationId xmlns:a16="http://schemas.microsoft.com/office/drawing/2014/main" id="{E47C091C-C93A-4EBE-9C3A-E85947F40BB1}"/>
              </a:ext>
            </a:extLst>
          </p:cNvPr>
          <p:cNvSpPr>
            <a:spLocks xmlns:a="http://schemas.openxmlformats.org/drawingml/2006/main" noGrp="1"/>
          </p:cNvSpPr>
          <p:nvPr/>
        </p:nvSpPr>
        <p:spPr>
          <a:xfrm xmlns:a="http://schemas.openxmlformats.org/drawingml/2006/main">
            <a:off x="9953625" y="2095500"/>
            <a:ext cx="1476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550" b="1" i="0">
                <a:solidFill>
                  <a:srgbClr val="D9822B"/>
                </a:solidFill>
                <a:latin typeface="Arial"/>
                <a:ea typeface="Arial"/>
                <a:cs typeface="Arial"/>
              </a:defRPr>
            </a:defPPr>
          </a:lstStyle>
          <a:p xmlns:a="http://schemas.openxmlformats.org/drawingml/2006/main">
            <a:pPr algn="l">
              <a:defRPr sz="2550" b="1" i="0">
                <a:solidFill>
                  <a:srgbClr val="D9822B"/>
                </a:solidFill>
                <a:latin typeface="Arial"/>
                <a:ea typeface="Arial"/>
                <a:cs typeface="Arial"/>
              </a:defRPr>
            </a:pPr>
            <a:r>
              <a:rPr sz="2550" b="1" i="0">
                <a:solidFill>
                  <a:srgbClr val="D9822B"/>
                </a:solidFill>
                <a:latin typeface="Arial"/>
                <a:ea typeface="Arial"/>
                <a:cs typeface="Arial"/>
              </a:rPr>
              <a:t>9,837</a:t>
            </a:r>
          </a:p>
        </p:txBody>
      </p:sp>
      <p:sp>
        <p:nvSpPr>
          <p:cNvPr id="20" name="">
            <a:extLst xmlns:a="http://schemas.openxmlformats.org/drawingml/2006/main">
              <a:ext uri="{FF2B5EF4-FFF2-40B4-BE49-F238E27FC236}">
                <a16:creationId xmlns:a16="http://schemas.microsoft.com/office/drawing/2014/main" id="{25E1827C-C6AB-4E48-8118-8A1F996D2DC2}"/>
              </a:ext>
            </a:extLst>
          </p:cNvPr>
          <p:cNvSpPr>
            <a:spLocks xmlns:a="http://schemas.openxmlformats.org/drawingml/2006/main" noGrp="1"/>
          </p:cNvSpPr>
          <p:nvPr/>
        </p:nvSpPr>
        <p:spPr>
          <a:xfrm xmlns:a="http://schemas.openxmlformats.org/drawingml/2006/main">
            <a:off x="9953625" y="2609850"/>
            <a:ext cx="147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627D98"/>
                </a:solidFill>
                <a:latin typeface="Arial"/>
                <a:ea typeface="Arial"/>
                <a:cs typeface="Arial"/>
              </a:defRPr>
            </a:defPPr>
          </a:lstStyle>
          <a:p xmlns:a="http://schemas.openxmlformats.org/drawingml/2006/main">
            <a:pPr algn="l">
              <a:defRPr sz="1275" b="0" i="0">
                <a:solidFill>
                  <a:srgbClr val="627D98"/>
                </a:solidFill>
                <a:latin typeface="Arial"/>
                <a:ea typeface="Arial"/>
                <a:cs typeface="Arial"/>
              </a:defRPr>
            </a:pPr>
            <a:r>
              <a:rPr sz="1275" b="0" i="0">
                <a:solidFill>
                  <a:srgbClr val="627D98"/>
                </a:solidFill>
                <a:latin typeface="Arial"/>
                <a:ea typeface="Arial"/>
                <a:cs typeface="Arial"/>
              </a:rPr>
              <a:t>IPD records</a:t>
            </a:r>
          </a:p>
        </p:txBody>
      </p:sp>
      <p:sp>
        <p:nvSpPr>
          <p:cNvPr id="21" name="">
            <a:extLst xmlns:a="http://schemas.openxmlformats.org/drawingml/2006/main">
              <a:ext uri="{FF2B5EF4-FFF2-40B4-BE49-F238E27FC236}">
                <a16:creationId xmlns:a16="http://schemas.microsoft.com/office/drawing/2014/main" id="{9B4EB94C-714E-4661-B82A-F56FE6FB6214}"/>
              </a:ext>
            </a:extLst>
          </p:cNvPr>
          <p:cNvSpPr>
            <a:spLocks xmlns:a="http://schemas.openxmlformats.org/drawingml/2006/main" noGrp="1"/>
          </p:cNvSpPr>
          <p:nvPr/>
        </p:nvSpPr>
        <p:spPr>
          <a:xfrm xmlns:a="http://schemas.openxmlformats.org/drawingml/2006/main">
            <a:off x="8267700" y="3067050"/>
            <a:ext cx="32385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E5791BB-9180-4840-A272-D48ED26E97BE}"/>
              </a:ext>
            </a:extLst>
          </p:cNvPr>
          <p:cNvSpPr>
            <a:spLocks xmlns:a="http://schemas.openxmlformats.org/drawingml/2006/main" noGrp="1"/>
          </p:cNvSpPr>
          <p:nvPr/>
        </p:nvSpPr>
        <p:spPr>
          <a:xfrm xmlns:a="http://schemas.openxmlformats.org/drawingml/2006/main">
            <a:off x="8267700" y="3267075"/>
            <a:ext cx="3238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850" b="1" i="0">
                <a:solidFill>
                  <a:srgbClr val="102A43"/>
                </a:solidFill>
                <a:latin typeface="Arial"/>
                <a:ea typeface="Arial"/>
                <a:cs typeface="Arial"/>
              </a:defRPr>
            </a:defPPr>
          </a:lstStyle>
          <a:p xmlns:a="http://schemas.openxmlformats.org/drawingml/2006/main">
            <a:pPr algn="l">
              <a:defRPr sz="2850" b="1" i="0">
                <a:solidFill>
                  <a:srgbClr val="102A43"/>
                </a:solidFill>
                <a:latin typeface="Arial"/>
                <a:ea typeface="Arial"/>
                <a:cs typeface="Arial"/>
              </a:defRPr>
            </a:pPr>
            <a:r>
              <a:rPr sz="2850" b="1" i="0">
                <a:solidFill>
                  <a:srgbClr val="102A43"/>
                </a:solidFill>
                <a:latin typeface="Arial"/>
                <a:ea typeface="Arial"/>
                <a:cs typeface="Arial"/>
              </a:rPr>
              <a:t>₹1.10B</a:t>
            </a:r>
          </a:p>
        </p:txBody>
      </p:sp>
      <p:sp>
        <p:nvSpPr>
          <p:cNvPr id="23" name="">
            <a:extLst xmlns:a="http://schemas.openxmlformats.org/drawingml/2006/main">
              <a:ext uri="{FF2B5EF4-FFF2-40B4-BE49-F238E27FC236}">
                <a16:creationId xmlns:a16="http://schemas.microsoft.com/office/drawing/2014/main" id="{56315FDF-995F-4487-9747-FA1130B8C40C}"/>
              </a:ext>
            </a:extLst>
          </p:cNvPr>
          <p:cNvSpPr>
            <a:spLocks xmlns:a="http://schemas.openxmlformats.org/drawingml/2006/main" noGrp="1"/>
          </p:cNvSpPr>
          <p:nvPr/>
        </p:nvSpPr>
        <p:spPr>
          <a:xfrm xmlns:a="http://schemas.openxmlformats.org/drawingml/2006/main">
            <a:off x="8267700" y="37719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350" b="0" i="0">
                <a:solidFill>
                  <a:srgbClr val="183B56"/>
                </a:solidFill>
                <a:latin typeface="Arial"/>
                <a:ea typeface="Arial"/>
                <a:cs typeface="Arial"/>
              </a:defRPr>
            </a:defPPr>
          </a:lstStyle>
          <a:p xmlns:a="http://schemas.openxmlformats.org/drawingml/2006/main">
            <a:pPr algn="l">
              <a:defRPr sz="1350" b="0" i="0">
                <a:solidFill>
                  <a:srgbClr val="183B56"/>
                </a:solidFill>
                <a:latin typeface="Arial"/>
                <a:ea typeface="Arial"/>
                <a:cs typeface="Arial"/>
              </a:defRPr>
            </a:pPr>
            <a:r>
              <a:rPr sz="1350" b="0" i="0">
                <a:solidFill>
                  <a:srgbClr val="183B56"/>
                </a:solidFill>
                <a:latin typeface="Arial"/>
                <a:ea typeface="Arial"/>
                <a:cs typeface="Arial"/>
              </a:rPr>
              <a:t>total recorded treatment cost</a:t>
            </a:r>
          </a:p>
        </p:txBody>
      </p:sp>
      <p:sp>
        <p:nvSpPr>
          <p:cNvPr id="24" name="">
            <a:extLst xmlns:a="http://schemas.openxmlformats.org/drawingml/2006/main">
              <a:ext uri="{FF2B5EF4-FFF2-40B4-BE49-F238E27FC236}">
                <a16:creationId xmlns:a16="http://schemas.microsoft.com/office/drawing/2014/main" id="{94482088-2209-4BB7-8CE1-677A9079688E}"/>
              </a:ext>
            </a:extLst>
          </p:cNvPr>
          <p:cNvSpPr>
            <a:spLocks xmlns:a="http://schemas.openxmlformats.org/drawingml/2006/main" noGrp="1"/>
          </p:cNvSpPr>
          <p:nvPr/>
        </p:nvSpPr>
        <p:spPr>
          <a:xfrm xmlns:a="http://schemas.openxmlformats.org/drawingml/2006/main">
            <a:off x="8267700" y="4410075"/>
            <a:ext cx="3238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850" b="1" i="0">
                <a:solidFill>
                  <a:srgbClr val="102A43"/>
                </a:solidFill>
                <a:latin typeface="Arial"/>
                <a:ea typeface="Arial"/>
                <a:cs typeface="Arial"/>
              </a:defRPr>
            </a:defPPr>
          </a:lstStyle>
          <a:p xmlns:a="http://schemas.openxmlformats.org/drawingml/2006/main">
            <a:pPr algn="l">
              <a:defRPr sz="2850" b="1" i="0">
                <a:solidFill>
                  <a:srgbClr val="102A43"/>
                </a:solidFill>
                <a:latin typeface="Arial"/>
                <a:ea typeface="Arial"/>
                <a:cs typeface="Arial"/>
              </a:defRPr>
            </a:pPr>
            <a:r>
              <a:rPr sz="2850" b="1" i="0">
                <a:solidFill>
                  <a:srgbClr val="102A43"/>
                </a:solidFill>
                <a:latin typeface="Arial"/>
                <a:ea typeface="Arial"/>
                <a:cs typeface="Arial"/>
              </a:rPr>
              <a:t>3.96 / 5</a:t>
            </a:r>
          </a:p>
        </p:txBody>
      </p:sp>
      <p:sp>
        <p:nvSpPr>
          <p:cNvPr id="25" name="">
            <a:extLst xmlns:a="http://schemas.openxmlformats.org/drawingml/2006/main">
              <a:ext uri="{FF2B5EF4-FFF2-40B4-BE49-F238E27FC236}">
                <a16:creationId xmlns:a16="http://schemas.microsoft.com/office/drawing/2014/main" id="{82000F21-70EF-412E-9612-9D4392C452AF}"/>
              </a:ext>
            </a:extLst>
          </p:cNvPr>
          <p:cNvSpPr>
            <a:spLocks xmlns:a="http://schemas.openxmlformats.org/drawingml/2006/main" noGrp="1"/>
          </p:cNvSpPr>
          <p:nvPr/>
        </p:nvSpPr>
        <p:spPr>
          <a:xfrm xmlns:a="http://schemas.openxmlformats.org/drawingml/2006/main">
            <a:off x="8267700" y="49149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350" b="0" i="0">
                <a:solidFill>
                  <a:srgbClr val="183B56"/>
                </a:solidFill>
                <a:latin typeface="Arial"/>
                <a:ea typeface="Arial"/>
                <a:cs typeface="Arial"/>
              </a:defRPr>
            </a:defPPr>
          </a:lstStyle>
          <a:p xmlns:a="http://schemas.openxmlformats.org/drawingml/2006/main">
            <a:pPr algn="l">
              <a:defRPr sz="1350" b="0" i="0">
                <a:solidFill>
                  <a:srgbClr val="183B56"/>
                </a:solidFill>
                <a:latin typeface="Arial"/>
                <a:ea typeface="Arial"/>
                <a:cs typeface="Arial"/>
              </a:defRPr>
            </a:pPr>
            <a:r>
              <a:rPr sz="1350" b="0" i="0">
                <a:solidFill>
                  <a:srgbClr val="183B56"/>
                </a:solidFill>
                <a:latin typeface="Arial"/>
                <a:ea typeface="Arial"/>
                <a:cs typeface="Arial"/>
              </a:rPr>
              <a:t>average patient rating</a:t>
            </a:r>
          </a:p>
        </p:txBody>
      </p:sp>
      <p:sp>
        <p:nvSpPr>
          <p:cNvPr id="26" name="">
            <a:extLst xmlns:a="http://schemas.openxmlformats.org/drawingml/2006/main">
              <a:ext uri="{FF2B5EF4-FFF2-40B4-BE49-F238E27FC236}">
                <a16:creationId xmlns:a16="http://schemas.microsoft.com/office/drawing/2014/main" id="{4C4FB43D-B533-48B7-B2E8-2EC90C0E0510}"/>
              </a:ext>
            </a:extLst>
          </p:cNvPr>
          <p:cNvSpPr>
            <a:spLocks xmlns:a="http://schemas.openxmlformats.org/drawingml/2006/main" noGrp="1"/>
          </p:cNvSpPr>
          <p:nvPr/>
        </p:nvSpPr>
        <p:spPr>
          <a:xfrm xmlns:a="http://schemas.openxmlformats.org/drawingml/2006/main">
            <a:off x="685800" y="5438775"/>
            <a:ext cx="108204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E565B5F-BD97-4155-A357-F7D65884C63F}"/>
              </a:ext>
            </a:extLst>
          </p:cNvPr>
          <p:cNvSpPr>
            <a:spLocks xmlns:a="http://schemas.openxmlformats.org/drawingml/2006/main" noGrp="1"/>
          </p:cNvSpPr>
          <p:nvPr/>
        </p:nvSpPr>
        <p:spPr>
          <a:xfrm xmlns:a="http://schemas.openxmlformats.org/drawingml/2006/main">
            <a:off x="685800" y="56007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125" b="1" i="0">
                <a:solidFill>
                  <a:srgbClr val="087E8B"/>
                </a:solidFill>
                <a:latin typeface="Arial"/>
                <a:ea typeface="Arial"/>
                <a:cs typeface="Arial"/>
              </a:defRPr>
            </a:defPPr>
          </a:lstStyle>
          <a:p xmlns:a="http://schemas.openxmlformats.org/drawingml/2006/main">
            <a:pPr algn="l">
              <a:defRPr sz="1125" b="1" i="0">
                <a:solidFill>
                  <a:srgbClr val="087E8B"/>
                </a:solidFill>
                <a:latin typeface="Arial"/>
                <a:ea typeface="Arial"/>
                <a:cs typeface="Arial"/>
              </a:defRPr>
            </a:pPr>
            <a:r>
              <a:rPr sz="1125" b="1" i="0">
                <a:solidFill>
                  <a:srgbClr val="087E8B"/>
                </a:solidFill>
                <a:latin typeface="Arial"/>
                <a:ea typeface="Arial"/>
                <a:cs typeface="Arial"/>
              </a:rPr>
              <a:t>Counting caveat</a:t>
            </a:r>
          </a:p>
        </p:txBody>
      </p:sp>
      <p:sp>
        <p:nvSpPr>
          <p:cNvPr id="28" name="">
            <a:extLst xmlns:a="http://schemas.openxmlformats.org/drawingml/2006/main">
              <a:ext uri="{FF2B5EF4-FFF2-40B4-BE49-F238E27FC236}">
                <a16:creationId xmlns:a16="http://schemas.microsoft.com/office/drawing/2014/main" id="{EBB1A70F-1189-428D-A4F9-024108DDCE14}"/>
              </a:ext>
            </a:extLst>
          </p:cNvPr>
          <p:cNvSpPr>
            <a:spLocks xmlns:a="http://schemas.openxmlformats.org/drawingml/2006/main" noGrp="1"/>
          </p:cNvSpPr>
          <p:nvPr/>
        </p:nvSpPr>
        <p:spPr>
          <a:xfrm xmlns:a="http://schemas.openxmlformats.org/drawingml/2006/main">
            <a:off x="2381250" y="5524500"/>
            <a:ext cx="904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00" b="1" i="0">
                <a:solidFill>
                  <a:srgbClr val="102A43"/>
                </a:solidFill>
                <a:latin typeface="Arial"/>
                <a:ea typeface="Arial"/>
                <a:cs typeface="Arial"/>
              </a:defRPr>
            </a:defPPr>
          </a:lstStyle>
          <a:p xmlns:a="http://schemas.openxmlformats.org/drawingml/2006/main">
            <a:pPr algn="l">
              <a:defRPr sz="1500" b="1" i="0">
                <a:solidFill>
                  <a:srgbClr val="102A43"/>
                </a:solidFill>
                <a:latin typeface="Arial"/>
                <a:ea typeface="Arial"/>
                <a:cs typeface="Arial"/>
              </a:defRPr>
            </a:pPr>
            <a:r>
              <a:rPr sz="1500" b="1" i="0">
                <a:solidFill>
                  <a:srgbClr val="102A43"/>
                </a:solidFill>
                <a:latin typeface="Arial"/>
                <a:ea typeface="Arial"/>
                <a:cs typeface="Arial"/>
              </a:rPr>
              <a:t>Records are not confirmed unique visits; repeated IDs lack an encounter key.</a:t>
            </a:r>
          </a:p>
        </p:txBody>
      </p:sp>
    </p:spTree>
    <p:extLst>
      <p:ext uri="{BB962C8B-B14F-4D97-AF65-F5344CB8AC3E}">
        <p14:creationId xmlns:p14="http://schemas.microsoft.com/office/powerpoint/2010/main" val="1868731801"/>
      </p:ext>
    </p:extLst>
  </p:cSld>
</p:sld>
</file>

<file path=ppt/slides/slide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9C03F95-F64D-49BF-92D2-D841159F0388}"/>
              </a:ext>
            </a:extLst>
          </p:cNvPr>
          <p:cNvSpPr>
            <a:spLocks xmlns:a="http://schemas.openxmlformats.org/drawingml/2006/main" noGrp="1"/>
          </p:cNvSpPr>
          <p:nvPr/>
        </p:nvSpPr>
        <p:spPr>
          <a:xfrm xmlns:a="http://schemas.openxmlformats.org/drawingml/2006/main">
            <a:off x="609600" y="3619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925" b="1" i="0">
                <a:solidFill>
                  <a:srgbClr val="102A43"/>
                </a:solidFill>
                <a:latin typeface="Arial"/>
                <a:ea typeface="Arial"/>
                <a:cs typeface="Arial"/>
              </a:defRPr>
            </a:defPPr>
          </a:lstStyle>
          <a:p xmlns:a="http://schemas.openxmlformats.org/drawingml/2006/main">
            <a:pPr algn="l">
              <a:defRPr sz="2925" b="1" i="0">
                <a:solidFill>
                  <a:srgbClr val="102A43"/>
                </a:solidFill>
                <a:latin typeface="Arial"/>
                <a:ea typeface="Arial"/>
                <a:cs typeface="Arial"/>
              </a:defRPr>
            </a:pPr>
            <a:r>
              <a:rPr sz="2925" b="1" i="0">
                <a:solidFill>
                  <a:srgbClr val="102A43"/>
                </a:solidFill>
                <a:latin typeface="Arial"/>
                <a:ea typeface="Arial"/>
                <a:cs typeface="Arial"/>
              </a:rPr>
              <a:t>Data cleaning &amp; quality checks</a:t>
            </a:r>
          </a:p>
        </p:txBody>
      </p:sp>
      <p:sp>
        <p:nvSpPr>
          <p:cNvPr id="2" name="">
            <a:extLst xmlns:a="http://schemas.openxmlformats.org/drawingml/2006/main">
              <a:ext uri="{FF2B5EF4-FFF2-40B4-BE49-F238E27FC236}">
                <a16:creationId xmlns:a16="http://schemas.microsoft.com/office/drawing/2014/main" id="{37B494A8-C793-47A6-BA30-AB711516281D}"/>
              </a:ext>
            </a:extLst>
          </p:cNvPr>
          <p:cNvSpPr>
            <a:spLocks xmlns:a="http://schemas.openxmlformats.org/drawingml/2006/main" noGrp="1"/>
          </p:cNvSpPr>
          <p:nvPr/>
        </p:nvSpPr>
        <p:spPr>
          <a:xfrm xmlns:a="http://schemas.openxmlformats.org/drawingml/2006/main">
            <a:off x="628650" y="895350"/>
            <a:ext cx="10934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627D98"/>
                </a:solidFill>
                <a:latin typeface="Arial"/>
                <a:ea typeface="Arial"/>
                <a:cs typeface="Arial"/>
              </a:defRPr>
            </a:defPPr>
          </a:lstStyle>
          <a:p xmlns:a="http://schemas.openxmlformats.org/drawingml/2006/main">
            <a:pPr algn="l">
              <a:defRPr sz="1275" b="0" i="0">
                <a:solidFill>
                  <a:srgbClr val="627D98"/>
                </a:solidFill>
                <a:latin typeface="Arial"/>
                <a:ea typeface="Arial"/>
                <a:cs typeface="Arial"/>
              </a:defRPr>
            </a:pPr>
            <a:r>
              <a:rPr sz="1275" b="0" i="0">
                <a:solidFill>
                  <a:srgbClr val="627D98"/>
                </a:solidFill>
                <a:latin typeface="Arial"/>
                <a:ea typeface="Arial"/>
                <a:cs typeface="Arial"/>
              </a:rPr>
              <a:t>Raw extract: 40,600 rows  →  cleaned extract: 40,596 rows</a:t>
            </a:r>
          </a:p>
        </p:txBody>
      </p:sp>
      <p:sp>
        <p:nvSpPr>
          <p:cNvPr id="3" name="">
            <a:extLst xmlns:a="http://schemas.openxmlformats.org/drawingml/2006/main">
              <a:ext uri="{FF2B5EF4-FFF2-40B4-BE49-F238E27FC236}">
                <a16:creationId xmlns:a16="http://schemas.microsoft.com/office/drawing/2014/main" id="{248CCE88-F64B-4CD4-A4DC-D00BEF379402}"/>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0410BC2-9928-4BDA-B32C-61A5BD7C146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46A143E-3A6F-40E7-AF3B-F7A949F0F769}"/>
              </a:ext>
            </a:extLst>
          </p:cNvPr>
          <p:cNvSpPr>
            <a:spLocks xmlns:a="http://schemas.openxmlformats.org/drawingml/2006/main" noGrp="1"/>
          </p:cNvSpPr>
          <p:nvPr/>
        </p:nvSpPr>
        <p:spPr>
          <a:xfrm xmlns:a="http://schemas.openxmlformats.org/drawingml/2006/main">
            <a:off x="609600" y="649605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900" b="1" i="0">
                <a:solidFill>
                  <a:srgbClr val="627D98"/>
                </a:solidFill>
                <a:latin typeface="Arial"/>
                <a:ea typeface="Arial"/>
                <a:cs typeface="Arial"/>
              </a:defRPr>
            </a:defPPr>
          </a:lstStyle>
          <a:p xmlns:a="http://schemas.openxmlformats.org/drawingml/2006/main">
            <a:pPr algn="l">
              <a:defRPr sz="900" b="1" i="0">
                <a:solidFill>
                  <a:srgbClr val="627D98"/>
                </a:solidFill>
                <a:latin typeface="Arial"/>
                <a:ea typeface="Arial"/>
                <a:cs typeface="Arial"/>
              </a:defRPr>
            </a:pPr>
            <a:r>
              <a:rPr sz="900" b="1" i="0">
                <a:solidFill>
                  <a:srgbClr val="627D98"/>
                </a:solidFill>
                <a:latin typeface="Arial"/>
                <a:ea typeface="Arial"/>
                <a:cs typeface="Arial"/>
              </a:rPr>
              <a:t>HOSPITAL PATIENT ANALYTICS  /  JUNE 2026</a:t>
            </a:r>
          </a:p>
        </p:txBody>
      </p:sp>
      <p:sp>
        <p:nvSpPr>
          <p:cNvPr id="6" name="">
            <a:extLst xmlns:a="http://schemas.openxmlformats.org/drawingml/2006/main">
              <a:ext uri="{FF2B5EF4-FFF2-40B4-BE49-F238E27FC236}">
                <a16:creationId xmlns:a16="http://schemas.microsoft.com/office/drawing/2014/main" id="{DC82D339-3CD2-4076-B6D2-FFB601D8C614}"/>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r">
              <a:defRPr sz="1050" b="1" i="0">
                <a:solidFill>
                  <a:srgbClr val="627D98"/>
                </a:solidFill>
                <a:latin typeface="Arial"/>
                <a:ea typeface="Arial"/>
                <a:cs typeface="Arial"/>
              </a:defRPr>
            </a:defPPr>
          </a:lstStyle>
          <a:p xmlns:a="http://schemas.openxmlformats.org/drawingml/2006/main">
            <a:pPr algn="r">
              <a:defRPr sz="1050" b="1" i="0">
                <a:solidFill>
                  <a:srgbClr val="627D98"/>
                </a:solidFill>
                <a:latin typeface="Arial"/>
                <a:ea typeface="Arial"/>
                <a:cs typeface="Arial"/>
              </a:defRPr>
            </a:pPr>
            <a:r>
              <a:rPr sz="1050" b="1" i="0">
                <a:solidFill>
                  <a:srgbClr val="627D98"/>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F0758B30-F15F-4028-8594-6C03012EF84D}"/>
              </a:ext>
            </a:extLst>
          </p:cNvPr>
          <p:cNvSpPr>
            <a:spLocks xmlns:a="http://schemas.openxmlformats.org/drawingml/2006/main" noGrp="1"/>
          </p:cNvSpPr>
          <p:nvPr/>
        </p:nvSpPr>
        <p:spPr>
          <a:xfrm xmlns:a="http://schemas.openxmlformats.org/drawingml/2006/main">
            <a:off x="685800" y="15811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125" b="1" i="0">
                <a:solidFill>
                  <a:srgbClr val="087E8B"/>
                </a:solidFill>
                <a:latin typeface="Arial"/>
                <a:ea typeface="Arial"/>
                <a:cs typeface="Arial"/>
              </a:defRPr>
            </a:defPPr>
          </a:lstStyle>
          <a:p xmlns:a="http://schemas.openxmlformats.org/drawingml/2006/main">
            <a:pPr algn="l">
              <a:defRPr sz="1125" b="1" i="0">
                <a:solidFill>
                  <a:srgbClr val="087E8B"/>
                </a:solidFill>
                <a:latin typeface="Arial"/>
                <a:ea typeface="Arial"/>
                <a:cs typeface="Arial"/>
              </a:defRPr>
            </a:pPr>
            <a:r>
              <a:rPr sz="1125" b="1" i="0">
                <a:solidFill>
                  <a:srgbClr val="087E8B"/>
                </a:solidFill>
                <a:latin typeface="Arial"/>
                <a:ea typeface="Arial"/>
                <a:cs typeface="Arial"/>
              </a:rPr>
              <a:t>PROFILE</a:t>
            </a:r>
          </a:p>
        </p:txBody>
      </p:sp>
      <p:sp>
        <p:nvSpPr>
          <p:cNvPr id="8" name="">
            <a:extLst xmlns:a="http://schemas.openxmlformats.org/drawingml/2006/main">
              <a:ext uri="{FF2B5EF4-FFF2-40B4-BE49-F238E27FC236}">
                <a16:creationId xmlns:a16="http://schemas.microsoft.com/office/drawing/2014/main" id="{7A9EC8FE-4718-49C1-BBA6-7FC86B264658}"/>
              </a:ext>
            </a:extLst>
          </p:cNvPr>
          <p:cNvSpPr>
            <a:spLocks xmlns:a="http://schemas.openxmlformats.org/drawingml/2006/main" noGrp="1"/>
          </p:cNvSpPr>
          <p:nvPr/>
        </p:nvSpPr>
        <p:spPr>
          <a:xfrm xmlns:a="http://schemas.openxmlformats.org/drawingml/2006/main">
            <a:off x="685800" y="1914525"/>
            <a:ext cx="314325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F02C478-3FC8-4794-BEAC-DCD121F328E7}"/>
              </a:ext>
            </a:extLst>
          </p:cNvPr>
          <p:cNvSpPr>
            <a:spLocks xmlns:a="http://schemas.openxmlformats.org/drawingml/2006/main" noGrp="1"/>
          </p:cNvSpPr>
          <p:nvPr/>
        </p:nvSpPr>
        <p:spPr>
          <a:xfrm xmlns:a="http://schemas.openxmlformats.org/drawingml/2006/main">
            <a:off x="4476750" y="15811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125" b="1" i="0">
                <a:solidFill>
                  <a:srgbClr val="087E8B"/>
                </a:solidFill>
                <a:latin typeface="Arial"/>
                <a:ea typeface="Arial"/>
                <a:cs typeface="Arial"/>
              </a:defRPr>
            </a:defPPr>
          </a:lstStyle>
          <a:p xmlns:a="http://schemas.openxmlformats.org/drawingml/2006/main">
            <a:pPr algn="l">
              <a:defRPr sz="1125" b="1" i="0">
                <a:solidFill>
                  <a:srgbClr val="087E8B"/>
                </a:solidFill>
                <a:latin typeface="Arial"/>
                <a:ea typeface="Arial"/>
                <a:cs typeface="Arial"/>
              </a:defRPr>
            </a:pPr>
            <a:r>
              <a:rPr sz="1125" b="1" i="0">
                <a:solidFill>
                  <a:srgbClr val="087E8B"/>
                </a:solidFill>
                <a:latin typeface="Arial"/>
                <a:ea typeface="Arial"/>
                <a:cs typeface="Arial"/>
              </a:rPr>
              <a:t>TRANSFORM</a:t>
            </a:r>
          </a:p>
        </p:txBody>
      </p:sp>
      <p:sp>
        <p:nvSpPr>
          <p:cNvPr id="10" name="">
            <a:extLst xmlns:a="http://schemas.openxmlformats.org/drawingml/2006/main">
              <a:ext uri="{FF2B5EF4-FFF2-40B4-BE49-F238E27FC236}">
                <a16:creationId xmlns:a16="http://schemas.microsoft.com/office/drawing/2014/main" id="{598EF6BA-B448-46D3-9584-F696219960DA}"/>
              </a:ext>
            </a:extLst>
          </p:cNvPr>
          <p:cNvSpPr>
            <a:spLocks xmlns:a="http://schemas.openxmlformats.org/drawingml/2006/main" noGrp="1"/>
          </p:cNvSpPr>
          <p:nvPr/>
        </p:nvSpPr>
        <p:spPr>
          <a:xfrm xmlns:a="http://schemas.openxmlformats.org/drawingml/2006/main">
            <a:off x="4476750" y="1914525"/>
            <a:ext cx="314325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FFAC312-6C59-4589-8A2D-7938121925CB}"/>
              </a:ext>
            </a:extLst>
          </p:cNvPr>
          <p:cNvSpPr>
            <a:spLocks xmlns:a="http://schemas.openxmlformats.org/drawingml/2006/main" noGrp="1"/>
          </p:cNvSpPr>
          <p:nvPr/>
        </p:nvSpPr>
        <p:spPr>
          <a:xfrm xmlns:a="http://schemas.openxmlformats.org/drawingml/2006/main">
            <a:off x="8267700" y="15811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125" b="1" i="0">
                <a:solidFill>
                  <a:srgbClr val="087E8B"/>
                </a:solidFill>
                <a:latin typeface="Arial"/>
                <a:ea typeface="Arial"/>
                <a:cs typeface="Arial"/>
              </a:defRPr>
            </a:defPPr>
          </a:lstStyle>
          <a:p xmlns:a="http://schemas.openxmlformats.org/drawingml/2006/main">
            <a:pPr algn="l">
              <a:defRPr sz="1125" b="1" i="0">
                <a:solidFill>
                  <a:srgbClr val="087E8B"/>
                </a:solidFill>
                <a:latin typeface="Arial"/>
                <a:ea typeface="Arial"/>
                <a:cs typeface="Arial"/>
              </a:defRPr>
            </a:pPr>
            <a:r>
              <a:rPr sz="1125" b="1" i="0">
                <a:solidFill>
                  <a:srgbClr val="087E8B"/>
                </a:solidFill>
                <a:latin typeface="Arial"/>
                <a:ea typeface="Arial"/>
                <a:cs typeface="Arial"/>
              </a:rPr>
              <a:t>VALIDATE</a:t>
            </a:r>
          </a:p>
        </p:txBody>
      </p:sp>
      <p:sp>
        <p:nvSpPr>
          <p:cNvPr id="12" name="">
            <a:extLst xmlns:a="http://schemas.openxmlformats.org/drawingml/2006/main">
              <a:ext uri="{FF2B5EF4-FFF2-40B4-BE49-F238E27FC236}">
                <a16:creationId xmlns:a16="http://schemas.microsoft.com/office/drawing/2014/main" id="{C18C79C1-D4B0-4BF5-A3C1-BE2AEB3DE38F}"/>
              </a:ext>
            </a:extLst>
          </p:cNvPr>
          <p:cNvSpPr>
            <a:spLocks xmlns:a="http://schemas.openxmlformats.org/drawingml/2006/main" noGrp="1"/>
          </p:cNvSpPr>
          <p:nvPr/>
        </p:nvSpPr>
        <p:spPr>
          <a:xfrm xmlns:a="http://schemas.openxmlformats.org/drawingml/2006/main">
            <a:off x="8267700" y="1914525"/>
            <a:ext cx="314325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1DB8A6A-126D-41E8-87F8-70F440458FBF}"/>
              </a:ext>
            </a:extLst>
          </p:cNvPr>
          <p:cNvSpPr>
            <a:spLocks xmlns:a="http://schemas.openxmlformats.org/drawingml/2006/main" noGrp="1"/>
          </p:cNvSpPr>
          <p:nvPr/>
        </p:nvSpPr>
        <p:spPr>
          <a:xfrm xmlns:a="http://schemas.openxmlformats.org/drawingml/2006/main">
            <a:off x="685800" y="2143125"/>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3150" b="1" i="0">
                <a:solidFill>
                  <a:srgbClr val="102A43"/>
                </a:solidFill>
                <a:latin typeface="Arial"/>
                <a:ea typeface="Arial"/>
                <a:cs typeface="Arial"/>
              </a:defRPr>
            </a:defPPr>
          </a:lstStyle>
          <a:p xmlns:a="http://schemas.openxmlformats.org/drawingml/2006/main">
            <a:pPr algn="l">
              <a:defRPr sz="3150" b="1" i="0">
                <a:solidFill>
                  <a:srgbClr val="102A43"/>
                </a:solidFill>
                <a:latin typeface="Arial"/>
                <a:ea typeface="Arial"/>
                <a:cs typeface="Arial"/>
              </a:defRPr>
            </a:pPr>
            <a:r>
              <a:rPr sz="3150" b="1" i="0">
                <a:solidFill>
                  <a:srgbClr val="102A43"/>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DB3A0FD8-41AC-4BA1-A9A9-9D3F5E0E8914}"/>
              </a:ext>
            </a:extLst>
          </p:cNvPr>
          <p:cNvSpPr>
            <a:spLocks xmlns:a="http://schemas.openxmlformats.org/drawingml/2006/main" noGrp="1"/>
          </p:cNvSpPr>
          <p:nvPr/>
        </p:nvSpPr>
        <p:spPr>
          <a:xfrm xmlns:a="http://schemas.openxmlformats.org/drawingml/2006/main">
            <a:off x="685800" y="26860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00" b="0" i="0">
                <a:solidFill>
                  <a:srgbClr val="183B56"/>
                </a:solidFill>
                <a:latin typeface="Arial"/>
                <a:ea typeface="Arial"/>
                <a:cs typeface="Arial"/>
              </a:defRPr>
            </a:defPPr>
          </a:lstStyle>
          <a:p xmlns:a="http://schemas.openxmlformats.org/drawingml/2006/main">
            <a:pPr algn="l">
              <a:defRPr sz="1500" b="0" i="0">
                <a:solidFill>
                  <a:srgbClr val="183B56"/>
                </a:solidFill>
                <a:latin typeface="Arial"/>
                <a:ea typeface="Arial"/>
                <a:cs typeface="Arial"/>
              </a:defRPr>
            </a:pPr>
            <a:r>
              <a:rPr sz="1500" b="0" i="0">
                <a:solidFill>
                  <a:srgbClr val="183B56"/>
                </a:solidFill>
                <a:latin typeface="Arial"/>
                <a:ea typeface="Arial"/>
                <a:cs typeface="Arial"/>
              </a:rPr>
              <a:t>exact duplicates removed</a:t>
            </a:r>
          </a:p>
        </p:txBody>
      </p:sp>
      <p:sp>
        <p:nvSpPr>
          <p:cNvPr id="15" name="">
            <a:extLst xmlns:a="http://schemas.openxmlformats.org/drawingml/2006/main">
              <a:ext uri="{FF2B5EF4-FFF2-40B4-BE49-F238E27FC236}">
                <a16:creationId xmlns:a16="http://schemas.microsoft.com/office/drawing/2014/main" id="{81D24294-136A-48C6-A560-1A16B3B1B4B1}"/>
              </a:ext>
            </a:extLst>
          </p:cNvPr>
          <p:cNvSpPr>
            <a:spLocks xmlns:a="http://schemas.openxmlformats.org/drawingml/2006/main" noGrp="1"/>
          </p:cNvSpPr>
          <p:nvPr/>
        </p:nvSpPr>
        <p:spPr>
          <a:xfrm xmlns:a="http://schemas.openxmlformats.org/drawingml/2006/main">
            <a:off x="685800" y="3381375"/>
            <a:ext cx="3143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a:solidFill>
                  <a:srgbClr val="183B56"/>
                </a:solidFill>
                <a:latin typeface="Arial"/>
                <a:ea typeface="Arial"/>
                <a:cs typeface="Arial"/>
              </a:defRPr>
            </a:defPPr>
          </a:lstStyle>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85 ages outside 0–120</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No raw missing values</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21 fields; 40,600 source rows</a:t>
            </a:r>
          </a:p>
        </p:txBody>
      </p:sp>
      <p:sp>
        <p:nvSpPr>
          <p:cNvPr id="16" name="">
            <a:extLst xmlns:a="http://schemas.openxmlformats.org/drawingml/2006/main">
              <a:ext uri="{FF2B5EF4-FFF2-40B4-BE49-F238E27FC236}">
                <a16:creationId xmlns:a16="http://schemas.microsoft.com/office/drawing/2014/main" id="{8F063FCD-FBF4-4E4E-8788-5713B7A4B8BD}"/>
              </a:ext>
            </a:extLst>
          </p:cNvPr>
          <p:cNvSpPr>
            <a:spLocks xmlns:a="http://schemas.openxmlformats.org/drawingml/2006/main" noGrp="1"/>
          </p:cNvSpPr>
          <p:nvPr/>
        </p:nvSpPr>
        <p:spPr>
          <a:xfrm xmlns:a="http://schemas.openxmlformats.org/drawingml/2006/main">
            <a:off x="4476750" y="2143125"/>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3150" b="1" i="0">
                <a:solidFill>
                  <a:srgbClr val="D9822B"/>
                </a:solidFill>
                <a:latin typeface="Arial"/>
                <a:ea typeface="Arial"/>
                <a:cs typeface="Arial"/>
              </a:defRPr>
            </a:defPPr>
          </a:lstStyle>
          <a:p xmlns:a="http://schemas.openxmlformats.org/drawingml/2006/main">
            <a:pPr algn="l">
              <a:defRPr sz="3150" b="1" i="0">
                <a:solidFill>
                  <a:srgbClr val="D9822B"/>
                </a:solidFill>
                <a:latin typeface="Arial"/>
                <a:ea typeface="Arial"/>
                <a:cs typeface="Arial"/>
              </a:defRPr>
            </a:pPr>
            <a:r>
              <a:rPr sz="3150" b="1" i="0">
                <a:solidFill>
                  <a:srgbClr val="D9822B"/>
                </a:solidFill>
                <a:latin typeface="Arial"/>
                <a:ea typeface="Arial"/>
                <a:cs typeface="Arial"/>
              </a:rPr>
              <a:t>85</a:t>
            </a:r>
          </a:p>
        </p:txBody>
      </p:sp>
      <p:sp>
        <p:nvSpPr>
          <p:cNvPr id="17" name="">
            <a:extLst xmlns:a="http://schemas.openxmlformats.org/drawingml/2006/main">
              <a:ext uri="{FF2B5EF4-FFF2-40B4-BE49-F238E27FC236}">
                <a16:creationId xmlns:a16="http://schemas.microsoft.com/office/drawing/2014/main" id="{477E745C-DE3A-49F1-BD2A-238C9DE00A42}"/>
              </a:ext>
            </a:extLst>
          </p:cNvPr>
          <p:cNvSpPr>
            <a:spLocks xmlns:a="http://schemas.openxmlformats.org/drawingml/2006/main" noGrp="1"/>
          </p:cNvSpPr>
          <p:nvPr/>
        </p:nvSpPr>
        <p:spPr>
          <a:xfrm xmlns:a="http://schemas.openxmlformats.org/drawingml/2006/main">
            <a:off x="4476750" y="26860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00" b="0" i="0">
                <a:solidFill>
                  <a:srgbClr val="183B56"/>
                </a:solidFill>
                <a:latin typeface="Arial"/>
                <a:ea typeface="Arial"/>
                <a:cs typeface="Arial"/>
              </a:defRPr>
            </a:defPPr>
          </a:lstStyle>
          <a:p xmlns:a="http://schemas.openxmlformats.org/drawingml/2006/main">
            <a:pPr algn="l">
              <a:defRPr sz="1500" b="0" i="0">
                <a:solidFill>
                  <a:srgbClr val="183B56"/>
                </a:solidFill>
                <a:latin typeface="Arial"/>
                <a:ea typeface="Arial"/>
                <a:cs typeface="Arial"/>
              </a:defRPr>
            </a:pPr>
            <a:r>
              <a:rPr sz="1500" b="0" i="0">
                <a:solidFill>
                  <a:srgbClr val="183B56"/>
                </a:solidFill>
                <a:latin typeface="Arial"/>
                <a:ea typeface="Arial"/>
                <a:cs typeface="Arial"/>
              </a:rPr>
              <a:t>invalid ages imputed; mean 43</a:t>
            </a:r>
          </a:p>
        </p:txBody>
      </p:sp>
      <p:sp>
        <p:nvSpPr>
          <p:cNvPr id="18" name="">
            <a:extLst xmlns:a="http://schemas.openxmlformats.org/drawingml/2006/main">
              <a:ext uri="{FF2B5EF4-FFF2-40B4-BE49-F238E27FC236}">
                <a16:creationId xmlns:a16="http://schemas.microsoft.com/office/drawing/2014/main" id="{1887D730-CB7B-4575-92AC-2C4020F2535C}"/>
              </a:ext>
            </a:extLst>
          </p:cNvPr>
          <p:cNvSpPr>
            <a:spLocks xmlns:a="http://schemas.openxmlformats.org/drawingml/2006/main" noGrp="1"/>
          </p:cNvSpPr>
          <p:nvPr/>
        </p:nvSpPr>
        <p:spPr>
          <a:xfrm xmlns:a="http://schemas.openxmlformats.org/drawingml/2006/main">
            <a:off x="4476750" y="3381375"/>
            <a:ext cx="328612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a:solidFill>
                  <a:srgbClr val="183B56"/>
                </a:solidFill>
                <a:latin typeface="Arial"/>
                <a:ea typeface="Arial"/>
                <a:cs typeface="Arial"/>
              </a:defRPr>
            </a:defPPr>
          </a:lstStyle>
          <a:p xmlns:a="http://schemas.openxmlformats.org/drawingml/2006/main">
            <a:pPr marL="215900" indent="-114300">
              <a:spcAft>
                <a:spcPts val="900"/>
              </a:spcAft>
              <a:buChar char="•"/>
              <a:defRPr sz="1500">
                <a:solidFill>
                  <a:srgbClr val="183B56"/>
                </a:solidFill>
                <a:latin typeface="Arial"/>
                <a:ea typeface="Arial"/>
                <a:cs typeface="Arial"/>
              </a:defRPr>
            </a:pPr>
            <a:r>
              <a:rPr sz="1500">
                <a:solidFill>
                  <a:srgbClr val="183B56"/>
                </a:solidFill>
                <a:latin typeface="Arial"/>
                <a:ea typeface="Arial"/>
                <a:cs typeface="Arial"/>
              </a:rPr>
              <a:t>Parsed dates and numeric fields</a:t>
            </a:r>
          </a:p>
          <a:p xmlns:a="http://schemas.openxmlformats.org/drawingml/2006/main">
            <a:pPr marL="215900" indent="-114300">
              <a:spcAft>
                <a:spcPts val="900"/>
              </a:spcAft>
              <a:buChar char="•"/>
              <a:defRPr sz="1500">
                <a:solidFill>
                  <a:srgbClr val="183B56"/>
                </a:solidFill>
                <a:latin typeface="Arial"/>
                <a:ea typeface="Arial"/>
                <a:cs typeface="Arial"/>
              </a:defRPr>
            </a:pPr>
            <a:r>
              <a:rPr sz="1500">
                <a:solidFill>
                  <a:srgbClr val="183B56"/>
                </a:solidFill>
                <a:latin typeface="Arial"/>
                <a:ea typeface="Arial"/>
                <a:cs typeface="Arial"/>
              </a:rPr>
              <a:t>Normalized text; kept other values</a:t>
            </a:r>
          </a:p>
        </p:txBody>
      </p:sp>
      <p:sp>
        <p:nvSpPr>
          <p:cNvPr id="19" name="">
            <a:extLst xmlns:a="http://schemas.openxmlformats.org/drawingml/2006/main">
              <a:ext uri="{FF2B5EF4-FFF2-40B4-BE49-F238E27FC236}">
                <a16:creationId xmlns:a16="http://schemas.microsoft.com/office/drawing/2014/main" id="{BBA0BEBE-2538-4DDC-9B99-D69F12226341}"/>
              </a:ext>
            </a:extLst>
          </p:cNvPr>
          <p:cNvSpPr>
            <a:spLocks xmlns:a="http://schemas.openxmlformats.org/drawingml/2006/main" noGrp="1"/>
          </p:cNvSpPr>
          <p:nvPr/>
        </p:nvSpPr>
        <p:spPr>
          <a:xfrm xmlns:a="http://schemas.openxmlformats.org/drawingml/2006/main">
            <a:off x="8267700" y="2143125"/>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3150" b="1" i="0">
                <a:solidFill>
                  <a:srgbClr val="087E8B"/>
                </a:solidFill>
                <a:latin typeface="Arial"/>
                <a:ea typeface="Arial"/>
                <a:cs typeface="Arial"/>
              </a:defRPr>
            </a:defPPr>
          </a:lstStyle>
          <a:p xmlns:a="http://schemas.openxmlformats.org/drawingml/2006/main">
            <a:pPr algn="l">
              <a:defRPr sz="3150" b="1" i="0">
                <a:solidFill>
                  <a:srgbClr val="087E8B"/>
                </a:solidFill>
                <a:latin typeface="Arial"/>
                <a:ea typeface="Arial"/>
                <a:cs typeface="Arial"/>
              </a:defRPr>
            </a:pPr>
            <a:r>
              <a:rPr sz="3150" b="1" i="0">
                <a:solidFill>
                  <a:srgbClr val="087E8B"/>
                </a:solidFill>
                <a:latin typeface="Arial"/>
                <a:ea typeface="Arial"/>
                <a:cs typeface="Arial"/>
              </a:rPr>
              <a:t>0</a:t>
            </a:r>
          </a:p>
        </p:txBody>
      </p:sp>
      <p:sp>
        <p:nvSpPr>
          <p:cNvPr id="20" name="">
            <a:extLst xmlns:a="http://schemas.openxmlformats.org/drawingml/2006/main">
              <a:ext uri="{FF2B5EF4-FFF2-40B4-BE49-F238E27FC236}">
                <a16:creationId xmlns:a16="http://schemas.microsoft.com/office/drawing/2014/main" id="{7CB2C6E3-7935-4BA9-B14C-E988452BEC68}"/>
              </a:ext>
            </a:extLst>
          </p:cNvPr>
          <p:cNvSpPr>
            <a:spLocks xmlns:a="http://schemas.openxmlformats.org/drawingml/2006/main" noGrp="1"/>
          </p:cNvSpPr>
          <p:nvPr/>
        </p:nvSpPr>
        <p:spPr>
          <a:xfrm xmlns:a="http://schemas.openxmlformats.org/drawingml/2006/main">
            <a:off x="8267700" y="2686050"/>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00" b="0" i="0">
                <a:solidFill>
                  <a:srgbClr val="183B56"/>
                </a:solidFill>
                <a:latin typeface="Arial"/>
                <a:ea typeface="Arial"/>
                <a:cs typeface="Arial"/>
              </a:defRPr>
            </a:defPPr>
          </a:lstStyle>
          <a:p xmlns:a="http://schemas.openxmlformats.org/drawingml/2006/main">
            <a:pPr algn="l">
              <a:defRPr sz="1500" b="0" i="0">
                <a:solidFill>
                  <a:srgbClr val="183B56"/>
                </a:solidFill>
                <a:latin typeface="Arial"/>
                <a:ea typeface="Arial"/>
                <a:cs typeface="Arial"/>
              </a:defRPr>
            </a:pPr>
            <a:r>
              <a:rPr sz="1500" b="0" i="0">
                <a:solidFill>
                  <a:srgbClr val="183B56"/>
                </a:solidFill>
                <a:latin typeface="Arial"/>
                <a:ea typeface="Arial"/>
                <a:cs typeface="Arial"/>
              </a:rPr>
              <a:t>missing values remain</a:t>
            </a:r>
          </a:p>
        </p:txBody>
      </p:sp>
      <p:sp>
        <p:nvSpPr>
          <p:cNvPr id="21" name="">
            <a:extLst xmlns:a="http://schemas.openxmlformats.org/drawingml/2006/main">
              <a:ext uri="{FF2B5EF4-FFF2-40B4-BE49-F238E27FC236}">
                <a16:creationId xmlns:a16="http://schemas.microsoft.com/office/drawing/2014/main" id="{3AB79A4B-30CA-4B53-A2BC-56E0CA6A4A7D}"/>
              </a:ext>
            </a:extLst>
          </p:cNvPr>
          <p:cNvSpPr>
            <a:spLocks xmlns:a="http://schemas.openxmlformats.org/drawingml/2006/main" noGrp="1"/>
          </p:cNvSpPr>
          <p:nvPr/>
        </p:nvSpPr>
        <p:spPr>
          <a:xfrm xmlns:a="http://schemas.openxmlformats.org/drawingml/2006/main">
            <a:off x="8267700" y="3381375"/>
            <a:ext cx="3286125"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a:solidFill>
                  <a:srgbClr val="183B56"/>
                </a:solidFill>
                <a:latin typeface="Arial"/>
                <a:ea typeface="Arial"/>
                <a:cs typeface="Arial"/>
              </a:defRPr>
            </a:defPPr>
          </a:lstStyle>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Date order checks passed</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OPD/IPD timing checks passed</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40,596 output rows retained</a:t>
            </a:r>
          </a:p>
        </p:txBody>
      </p:sp>
      <p:sp>
        <p:nvSpPr>
          <p:cNvPr id="22" name="">
            <a:extLst xmlns:a="http://schemas.openxmlformats.org/drawingml/2006/main">
              <a:ext uri="{FF2B5EF4-FFF2-40B4-BE49-F238E27FC236}">
                <a16:creationId xmlns:a16="http://schemas.microsoft.com/office/drawing/2014/main" id="{4C5DFF6D-E995-42FC-A9C6-69558730DD10}"/>
              </a:ext>
            </a:extLst>
          </p:cNvPr>
          <p:cNvSpPr>
            <a:spLocks xmlns:a="http://schemas.openxmlformats.org/drawingml/2006/main" noGrp="1"/>
          </p:cNvSpPr>
          <p:nvPr/>
        </p:nvSpPr>
        <p:spPr>
          <a:xfrm xmlns:a="http://schemas.openxmlformats.org/drawingml/2006/main">
            <a:off x="685800" y="454342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125" b="1" i="0">
                <a:solidFill>
                  <a:srgbClr val="087E8B"/>
                </a:solidFill>
                <a:latin typeface="Arial"/>
                <a:ea typeface="Arial"/>
                <a:cs typeface="Arial"/>
              </a:defRPr>
            </a:defPPr>
          </a:lstStyle>
          <a:p xmlns:a="http://schemas.openxmlformats.org/drawingml/2006/main">
            <a:pPr algn="l">
              <a:defRPr sz="1125" b="1" i="0">
                <a:solidFill>
                  <a:srgbClr val="087E8B"/>
                </a:solidFill>
                <a:latin typeface="Arial"/>
                <a:ea typeface="Arial"/>
                <a:cs typeface="Arial"/>
              </a:defRPr>
            </a:pPr>
            <a:r>
              <a:rPr sz="1125" b="1" i="0">
                <a:solidFill>
                  <a:srgbClr val="087E8B"/>
                </a:solidFill>
                <a:latin typeface="Arial"/>
                <a:ea typeface="Arial"/>
                <a:cs typeface="Arial"/>
              </a:rPr>
              <a:t>WHY MEAN</a:t>
            </a:r>
          </a:p>
        </p:txBody>
      </p:sp>
      <p:sp>
        <p:nvSpPr>
          <p:cNvPr id="23" name="">
            <a:extLst xmlns:a="http://schemas.openxmlformats.org/drawingml/2006/main">
              <a:ext uri="{FF2B5EF4-FFF2-40B4-BE49-F238E27FC236}">
                <a16:creationId xmlns:a16="http://schemas.microsoft.com/office/drawing/2014/main" id="{84D7473B-0F81-493D-8FE5-BD4476929B5A}"/>
              </a:ext>
            </a:extLst>
          </p:cNvPr>
          <p:cNvSpPr>
            <a:spLocks xmlns:a="http://schemas.openxmlformats.org/drawingml/2006/main" noGrp="1"/>
          </p:cNvSpPr>
          <p:nvPr/>
        </p:nvSpPr>
        <p:spPr>
          <a:xfrm xmlns:a="http://schemas.openxmlformats.org/drawingml/2006/main">
            <a:off x="2381250" y="4457700"/>
            <a:ext cx="904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350" b="0" i="0">
                <a:solidFill>
                  <a:srgbClr val="183B56"/>
                </a:solidFill>
                <a:latin typeface="Arial"/>
                <a:ea typeface="Arial"/>
                <a:cs typeface="Arial"/>
              </a:defRPr>
            </a:defPPr>
          </a:lstStyle>
          <a:p xmlns:a="http://schemas.openxmlformats.org/drawingml/2006/main">
            <a:pPr algn="l">
              <a:defRPr sz="1350" b="0" i="0">
                <a:solidFill>
                  <a:srgbClr val="183B56"/>
                </a:solidFill>
                <a:latin typeface="Arial"/>
                <a:ea typeface="Arial"/>
                <a:cs typeface="Arial"/>
              </a:defRPr>
            </a:pPr>
            <a:r>
              <a:rPr sz="1350" b="0" i="0">
                <a:solidFill>
                  <a:srgbClr val="183B56"/>
                </a:solidFill>
                <a:latin typeface="Arial"/>
                <a:ea typeface="Arial"/>
                <a:cs typeface="Arial"/>
              </a:rPr>
              <a:t>Near-symmetric ages (skew −0.107; mean 43.33; median 44) suited mean imputation. Median suits skewed numeric data; mode fills categorical gaps.</a:t>
            </a:r>
          </a:p>
        </p:txBody>
      </p:sp>
      <p:sp>
        <p:nvSpPr>
          <p:cNvPr id="24" name="">
            <a:extLst xmlns:a="http://schemas.openxmlformats.org/drawingml/2006/main">
              <a:ext uri="{FF2B5EF4-FFF2-40B4-BE49-F238E27FC236}">
                <a16:creationId xmlns:a16="http://schemas.microsoft.com/office/drawing/2014/main" id="{3A2D5B26-6A46-4AD9-98CF-0D34FB0D3096}"/>
              </a:ext>
            </a:extLst>
          </p:cNvPr>
          <p:cNvSpPr>
            <a:spLocks xmlns:a="http://schemas.openxmlformats.org/drawingml/2006/main" noGrp="1"/>
          </p:cNvSpPr>
          <p:nvPr/>
        </p:nvSpPr>
        <p:spPr>
          <a:xfrm xmlns:a="http://schemas.openxmlformats.org/drawingml/2006/main">
            <a:off x="685800" y="5095875"/>
            <a:ext cx="108204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447C1FB-8A40-4A7E-AD2F-F4DB2623DE05}"/>
              </a:ext>
            </a:extLst>
          </p:cNvPr>
          <p:cNvSpPr>
            <a:spLocks xmlns:a="http://schemas.openxmlformats.org/drawingml/2006/main" noGrp="1"/>
          </p:cNvSpPr>
          <p:nvPr/>
        </p:nvSpPr>
        <p:spPr>
          <a:xfrm xmlns:a="http://schemas.openxmlformats.org/drawingml/2006/main">
            <a:off x="685800" y="52863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125" b="1" i="0">
                <a:solidFill>
                  <a:srgbClr val="087E8B"/>
                </a:solidFill>
                <a:latin typeface="Arial"/>
                <a:ea typeface="Arial"/>
                <a:cs typeface="Arial"/>
              </a:defRPr>
            </a:defPPr>
          </a:lstStyle>
          <a:p xmlns:a="http://schemas.openxmlformats.org/drawingml/2006/main">
            <a:pPr algn="l">
              <a:defRPr sz="1125" b="1" i="0">
                <a:solidFill>
                  <a:srgbClr val="087E8B"/>
                </a:solidFill>
                <a:latin typeface="Arial"/>
                <a:ea typeface="Arial"/>
                <a:cs typeface="Arial"/>
              </a:defRPr>
            </a:pPr>
            <a:r>
              <a:rPr sz="1125" b="1" i="0">
                <a:solidFill>
                  <a:srgbClr val="087E8B"/>
                </a:solidFill>
                <a:latin typeface="Arial"/>
                <a:ea typeface="Arial"/>
                <a:cs typeface="Arial"/>
              </a:rPr>
              <a:t>Data limitation</a:t>
            </a:r>
          </a:p>
        </p:txBody>
      </p:sp>
      <p:sp>
        <p:nvSpPr>
          <p:cNvPr id="26" name="">
            <a:extLst xmlns:a="http://schemas.openxmlformats.org/drawingml/2006/main">
              <a:ext uri="{FF2B5EF4-FFF2-40B4-BE49-F238E27FC236}">
                <a16:creationId xmlns:a16="http://schemas.microsoft.com/office/drawing/2014/main" id="{9A15246A-D0C7-4859-9B84-5EA8FD606025}"/>
              </a:ext>
            </a:extLst>
          </p:cNvPr>
          <p:cNvSpPr>
            <a:spLocks xmlns:a="http://schemas.openxmlformats.org/drawingml/2006/main" noGrp="1"/>
          </p:cNvSpPr>
          <p:nvPr/>
        </p:nvSpPr>
        <p:spPr>
          <a:xfrm xmlns:a="http://schemas.openxmlformats.org/drawingml/2006/main">
            <a:off x="2381250" y="5210175"/>
            <a:ext cx="904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425" b="1" i="0">
                <a:solidFill>
                  <a:srgbClr val="102A43"/>
                </a:solidFill>
                <a:latin typeface="Arial"/>
                <a:ea typeface="Arial"/>
                <a:cs typeface="Arial"/>
              </a:defRPr>
            </a:defPPr>
          </a:lstStyle>
          <a:p xmlns:a="http://schemas.openxmlformats.org/drawingml/2006/main">
            <a:pPr algn="l">
              <a:defRPr sz="1425" b="1" i="0">
                <a:solidFill>
                  <a:srgbClr val="102A43"/>
                </a:solidFill>
                <a:latin typeface="Arial"/>
                <a:ea typeface="Arial"/>
                <a:cs typeface="Arial"/>
              </a:defRPr>
            </a:pPr>
            <a:r>
              <a:rPr sz="1425" b="1" i="0">
                <a:solidFill>
                  <a:srgbClr val="102A43"/>
                </a:solidFill>
                <a:latin typeface="Arial"/>
                <a:ea typeface="Arial"/>
                <a:cs typeface="Arial"/>
              </a:rPr>
              <a:t>1,192 rows share patient IDs; repeated IDs may be separate encounters.</a:t>
            </a:r>
          </a:p>
        </p:txBody>
      </p:sp>
    </p:spTree>
    <p:extLst>
      <p:ext uri="{BB962C8B-B14F-4D97-AF65-F5344CB8AC3E}">
        <p14:creationId xmlns:p14="http://schemas.microsoft.com/office/powerpoint/2010/main" val="473474440"/>
      </p:ext>
    </p:extLst>
  </p:cSld>
</p:sld>
</file>

<file path=ppt/slides/slide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9ADC526-D56B-4C5E-BA79-7256703873E8}"/>
              </a:ext>
            </a:extLst>
          </p:cNvPr>
          <p:cNvSpPr>
            <a:spLocks xmlns:a="http://schemas.openxmlformats.org/drawingml/2006/main" noGrp="1"/>
          </p:cNvSpPr>
          <p:nvPr/>
        </p:nvSpPr>
        <p:spPr>
          <a:xfrm xmlns:a="http://schemas.openxmlformats.org/drawingml/2006/main">
            <a:off x="609600" y="3619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925" b="1" i="0">
                <a:solidFill>
                  <a:srgbClr val="102A43"/>
                </a:solidFill>
                <a:latin typeface="Arial"/>
                <a:ea typeface="Arial"/>
                <a:cs typeface="Arial"/>
              </a:defRPr>
            </a:defPPr>
          </a:lstStyle>
          <a:p xmlns:a="http://schemas.openxmlformats.org/drawingml/2006/main">
            <a:pPr algn="l">
              <a:defRPr sz="2925" b="1" i="0">
                <a:solidFill>
                  <a:srgbClr val="102A43"/>
                </a:solidFill>
                <a:latin typeface="Arial"/>
                <a:ea typeface="Arial"/>
                <a:cs typeface="Arial"/>
              </a:defRPr>
            </a:pPr>
            <a:r>
              <a:rPr sz="2925" b="1" i="0">
                <a:solidFill>
                  <a:srgbClr val="102A43"/>
                </a:solidFill>
                <a:latin typeface="Arial"/>
                <a:ea typeface="Arial"/>
                <a:cs typeface="Arial"/>
              </a:rPr>
              <a:t>Additional preprocessing &amp; validation</a:t>
            </a:r>
          </a:p>
        </p:txBody>
      </p:sp>
      <p:sp>
        <p:nvSpPr>
          <p:cNvPr id="2" name="">
            <a:extLst xmlns:a="http://schemas.openxmlformats.org/drawingml/2006/main">
              <a:ext uri="{FF2B5EF4-FFF2-40B4-BE49-F238E27FC236}">
                <a16:creationId xmlns:a16="http://schemas.microsoft.com/office/drawing/2014/main" id="{961ECE51-2800-4DD8-8DE5-A85761E6FB8B}"/>
              </a:ext>
            </a:extLst>
          </p:cNvPr>
          <p:cNvSpPr>
            <a:spLocks xmlns:a="http://schemas.openxmlformats.org/drawingml/2006/main" noGrp="1"/>
          </p:cNvSpPr>
          <p:nvPr/>
        </p:nvSpPr>
        <p:spPr>
          <a:xfrm xmlns:a="http://schemas.openxmlformats.org/drawingml/2006/main">
            <a:off x="628650" y="895350"/>
            <a:ext cx="10934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627D98"/>
                </a:solidFill>
                <a:latin typeface="Arial"/>
                <a:ea typeface="Arial"/>
                <a:cs typeface="Arial"/>
              </a:defRPr>
            </a:defPPr>
          </a:lstStyle>
          <a:p xmlns:a="http://schemas.openxmlformats.org/drawingml/2006/main">
            <a:pPr algn="l">
              <a:defRPr sz="1275" b="0" i="0">
                <a:solidFill>
                  <a:srgbClr val="627D98"/>
                </a:solidFill>
                <a:latin typeface="Arial"/>
                <a:ea typeface="Arial"/>
                <a:cs typeface="Arial"/>
              </a:defRPr>
            </a:pPr>
            <a:r>
              <a:rPr sz="1275" b="0" i="0">
                <a:solidFill>
                  <a:srgbClr val="627D98"/>
                </a:solidFill>
                <a:latin typeface="Arial"/>
                <a:ea typeface="Arial"/>
                <a:cs typeface="Arial"/>
              </a:rPr>
              <a:t>Operations performed, including checks that required no correction</a:t>
            </a:r>
          </a:p>
        </p:txBody>
      </p:sp>
      <p:sp>
        <p:nvSpPr>
          <p:cNvPr id="3" name="">
            <a:extLst xmlns:a="http://schemas.openxmlformats.org/drawingml/2006/main">
              <a:ext uri="{FF2B5EF4-FFF2-40B4-BE49-F238E27FC236}">
                <a16:creationId xmlns:a16="http://schemas.microsoft.com/office/drawing/2014/main" id="{0B358C6F-2ED4-4418-B666-45845E086F0E}"/>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6189EEF-6745-4E3F-8A23-2E16CCD777A4}"/>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0BBFC83-AF00-416A-8852-ABA6B28C1107}"/>
              </a:ext>
            </a:extLst>
          </p:cNvPr>
          <p:cNvSpPr>
            <a:spLocks xmlns:a="http://schemas.openxmlformats.org/drawingml/2006/main" noGrp="1"/>
          </p:cNvSpPr>
          <p:nvPr/>
        </p:nvSpPr>
        <p:spPr>
          <a:xfrm xmlns:a="http://schemas.openxmlformats.org/drawingml/2006/main">
            <a:off x="609600" y="649605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900" b="1" i="0">
                <a:solidFill>
                  <a:srgbClr val="627D98"/>
                </a:solidFill>
                <a:latin typeface="Arial"/>
                <a:ea typeface="Arial"/>
                <a:cs typeface="Arial"/>
              </a:defRPr>
            </a:defPPr>
          </a:lstStyle>
          <a:p xmlns:a="http://schemas.openxmlformats.org/drawingml/2006/main">
            <a:pPr algn="l">
              <a:defRPr sz="900" b="1" i="0">
                <a:solidFill>
                  <a:srgbClr val="627D98"/>
                </a:solidFill>
                <a:latin typeface="Arial"/>
                <a:ea typeface="Arial"/>
                <a:cs typeface="Arial"/>
              </a:defRPr>
            </a:pPr>
            <a:r>
              <a:rPr sz="900" b="1" i="0">
                <a:solidFill>
                  <a:srgbClr val="627D98"/>
                </a:solidFill>
                <a:latin typeface="Arial"/>
                <a:ea typeface="Arial"/>
                <a:cs typeface="Arial"/>
              </a:rPr>
              <a:t>HOSPITAL PATIENT ANALYTICS  /  JUNE 2026</a:t>
            </a:r>
          </a:p>
        </p:txBody>
      </p:sp>
      <p:sp>
        <p:nvSpPr>
          <p:cNvPr id="6" name="">
            <a:extLst xmlns:a="http://schemas.openxmlformats.org/drawingml/2006/main">
              <a:ext uri="{FF2B5EF4-FFF2-40B4-BE49-F238E27FC236}">
                <a16:creationId xmlns:a16="http://schemas.microsoft.com/office/drawing/2014/main" id="{12CE5372-114A-4F7D-80B5-333FBFE0987E}"/>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r">
              <a:defRPr sz="1050" b="1" i="0">
                <a:solidFill>
                  <a:srgbClr val="627D98"/>
                </a:solidFill>
                <a:latin typeface="Arial"/>
                <a:ea typeface="Arial"/>
                <a:cs typeface="Arial"/>
              </a:defRPr>
            </a:defPPr>
          </a:lstStyle>
          <a:p xmlns:a="http://schemas.openxmlformats.org/drawingml/2006/main">
            <a:pPr algn="r">
              <a:defRPr sz="1050" b="1" i="0">
                <a:solidFill>
                  <a:srgbClr val="627D98"/>
                </a:solidFill>
                <a:latin typeface="Arial"/>
                <a:ea typeface="Arial"/>
                <a:cs typeface="Arial"/>
              </a:defRPr>
            </a:pPr>
            <a:r>
              <a:rPr sz="1050" b="1" i="0">
                <a:solidFill>
                  <a:srgbClr val="627D98"/>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617F4E01-5F48-4601-9649-2EB6DA46E66F}"/>
              </a:ext>
            </a:extLst>
          </p:cNvPr>
          <p:cNvSpPr>
            <a:spLocks xmlns:a="http://schemas.openxmlformats.org/drawingml/2006/main" noGrp="1"/>
          </p:cNvSpPr>
          <p:nvPr/>
        </p:nvSpPr>
        <p:spPr>
          <a:xfrm xmlns:a="http://schemas.openxmlformats.org/drawingml/2006/main">
            <a:off x="685800" y="160020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125" b="1" i="0">
                <a:solidFill>
                  <a:srgbClr val="087E8B"/>
                </a:solidFill>
                <a:latin typeface="Arial"/>
                <a:ea typeface="Arial"/>
                <a:cs typeface="Arial"/>
              </a:defRPr>
            </a:defPPr>
          </a:lstStyle>
          <a:p xmlns:a="http://schemas.openxmlformats.org/drawingml/2006/main">
            <a:pPr algn="l">
              <a:defRPr sz="1125" b="1" i="0">
                <a:solidFill>
                  <a:srgbClr val="087E8B"/>
                </a:solidFill>
                <a:latin typeface="Arial"/>
                <a:ea typeface="Arial"/>
                <a:cs typeface="Arial"/>
              </a:defRPr>
            </a:pPr>
            <a:r>
              <a:rPr sz="1125" b="1" i="0">
                <a:solidFill>
                  <a:srgbClr val="087E8B"/>
                </a:solidFill>
                <a:latin typeface="Arial"/>
                <a:ea typeface="Arial"/>
                <a:cs typeface="Arial"/>
              </a:rPr>
              <a:t>NORMALIZE &amp; TYPE</a:t>
            </a:r>
          </a:p>
        </p:txBody>
      </p:sp>
      <p:sp>
        <p:nvSpPr>
          <p:cNvPr id="8" name="">
            <a:extLst xmlns:a="http://schemas.openxmlformats.org/drawingml/2006/main">
              <a:ext uri="{FF2B5EF4-FFF2-40B4-BE49-F238E27FC236}">
                <a16:creationId xmlns:a16="http://schemas.microsoft.com/office/drawing/2014/main" id="{86C29FDD-B36A-4135-B79A-62C5A72C72C1}"/>
              </a:ext>
            </a:extLst>
          </p:cNvPr>
          <p:cNvSpPr>
            <a:spLocks xmlns:a="http://schemas.openxmlformats.org/drawingml/2006/main" noGrp="1"/>
          </p:cNvSpPr>
          <p:nvPr/>
        </p:nvSpPr>
        <p:spPr>
          <a:xfrm xmlns:a="http://schemas.openxmlformats.org/drawingml/2006/main">
            <a:off x="685800" y="1924050"/>
            <a:ext cx="314325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1895FCA-3807-449E-86FA-57A96DA8C03F}"/>
              </a:ext>
            </a:extLst>
          </p:cNvPr>
          <p:cNvSpPr>
            <a:spLocks xmlns:a="http://schemas.openxmlformats.org/drawingml/2006/main" noGrp="1"/>
          </p:cNvSpPr>
          <p:nvPr/>
        </p:nvSpPr>
        <p:spPr>
          <a:xfrm xmlns:a="http://schemas.openxmlformats.org/drawingml/2006/main">
            <a:off x="685800" y="204787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00" b="1" i="0">
                <a:solidFill>
                  <a:srgbClr val="102A43"/>
                </a:solidFill>
                <a:latin typeface="Arial"/>
                <a:ea typeface="Arial"/>
                <a:cs typeface="Arial"/>
              </a:defRPr>
            </a:defPPr>
          </a:lstStyle>
          <a:p xmlns:a="http://schemas.openxmlformats.org/drawingml/2006/main">
            <a:pPr algn="l">
              <a:defRPr sz="1500" b="1" i="0">
                <a:solidFill>
                  <a:srgbClr val="102A43"/>
                </a:solidFill>
                <a:latin typeface="Arial"/>
                <a:ea typeface="Arial"/>
                <a:cs typeface="Arial"/>
              </a:defRPr>
            </a:pPr>
            <a:r>
              <a:rPr sz="1500" b="1" i="0">
                <a:solidFill>
                  <a:srgbClr val="102A43"/>
                </a:solidFill>
                <a:latin typeface="Arial"/>
                <a:ea typeface="Arial"/>
                <a:cs typeface="Arial"/>
              </a:rPr>
              <a:t>Text, numeric fields, dates</a:t>
            </a:r>
          </a:p>
        </p:txBody>
      </p:sp>
      <p:sp>
        <p:nvSpPr>
          <p:cNvPr id="10" name="">
            <a:extLst xmlns:a="http://schemas.openxmlformats.org/drawingml/2006/main">
              <a:ext uri="{FF2B5EF4-FFF2-40B4-BE49-F238E27FC236}">
                <a16:creationId xmlns:a16="http://schemas.microsoft.com/office/drawing/2014/main" id="{B157CD7A-821D-44C7-8A54-3860B9B4424E}"/>
              </a:ext>
            </a:extLst>
          </p:cNvPr>
          <p:cNvSpPr>
            <a:spLocks xmlns:a="http://schemas.openxmlformats.org/drawingml/2006/main" noGrp="1"/>
          </p:cNvSpPr>
          <p:nvPr/>
        </p:nvSpPr>
        <p:spPr>
          <a:xfrm xmlns:a="http://schemas.openxmlformats.org/drawingml/2006/main">
            <a:off x="4476750" y="160020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125" b="1" i="0">
                <a:solidFill>
                  <a:srgbClr val="087E8B"/>
                </a:solidFill>
                <a:latin typeface="Arial"/>
                <a:ea typeface="Arial"/>
                <a:cs typeface="Arial"/>
              </a:defRPr>
            </a:defPPr>
          </a:lstStyle>
          <a:p xmlns:a="http://schemas.openxmlformats.org/drawingml/2006/main">
            <a:pPr algn="l">
              <a:defRPr sz="1125" b="1" i="0">
                <a:solidFill>
                  <a:srgbClr val="087E8B"/>
                </a:solidFill>
                <a:latin typeface="Arial"/>
                <a:ea typeface="Arial"/>
                <a:cs typeface="Arial"/>
              </a:defRPr>
            </a:pPr>
            <a:r>
              <a:rPr sz="1125" b="1" i="0">
                <a:solidFill>
                  <a:srgbClr val="087E8B"/>
                </a:solidFill>
                <a:latin typeface="Arial"/>
                <a:ea typeface="Arial"/>
                <a:cs typeface="Arial"/>
              </a:rPr>
              <a:t>RANGE CHECKS</a:t>
            </a:r>
          </a:p>
        </p:txBody>
      </p:sp>
      <p:sp>
        <p:nvSpPr>
          <p:cNvPr id="11" name="">
            <a:extLst xmlns:a="http://schemas.openxmlformats.org/drawingml/2006/main">
              <a:ext uri="{FF2B5EF4-FFF2-40B4-BE49-F238E27FC236}">
                <a16:creationId xmlns:a16="http://schemas.microsoft.com/office/drawing/2014/main" id="{562C9AE6-3B20-4474-9B62-6711035C5C51}"/>
              </a:ext>
            </a:extLst>
          </p:cNvPr>
          <p:cNvSpPr>
            <a:spLocks xmlns:a="http://schemas.openxmlformats.org/drawingml/2006/main" noGrp="1"/>
          </p:cNvSpPr>
          <p:nvPr/>
        </p:nvSpPr>
        <p:spPr>
          <a:xfrm xmlns:a="http://schemas.openxmlformats.org/drawingml/2006/main">
            <a:off x="4476750" y="1924050"/>
            <a:ext cx="314325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C1446AF-C31F-44A9-BDED-A75A2FFE6460}"/>
              </a:ext>
            </a:extLst>
          </p:cNvPr>
          <p:cNvSpPr>
            <a:spLocks xmlns:a="http://schemas.openxmlformats.org/drawingml/2006/main" noGrp="1"/>
          </p:cNvSpPr>
          <p:nvPr/>
        </p:nvSpPr>
        <p:spPr>
          <a:xfrm xmlns:a="http://schemas.openxmlformats.org/drawingml/2006/main">
            <a:off x="4476750" y="204787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00" b="1" i="0">
                <a:solidFill>
                  <a:srgbClr val="102A43"/>
                </a:solidFill>
                <a:latin typeface="Arial"/>
                <a:ea typeface="Arial"/>
                <a:cs typeface="Arial"/>
              </a:defRPr>
            </a:defPPr>
          </a:lstStyle>
          <a:p xmlns:a="http://schemas.openxmlformats.org/drawingml/2006/main">
            <a:pPr algn="l">
              <a:defRPr sz="1500" b="1" i="0">
                <a:solidFill>
                  <a:srgbClr val="102A43"/>
                </a:solidFill>
                <a:latin typeface="Arial"/>
                <a:ea typeface="Arial"/>
                <a:cs typeface="Arial"/>
              </a:defRPr>
            </a:pPr>
            <a:r>
              <a:rPr sz="1500" b="1" i="0">
                <a:solidFill>
                  <a:srgbClr val="102A43"/>
                </a:solidFill>
                <a:latin typeface="Arial"/>
                <a:ea typeface="Arial"/>
                <a:cs typeface="Arial"/>
              </a:rPr>
              <a:t>Completed on cleaned records</a:t>
            </a:r>
          </a:p>
        </p:txBody>
      </p:sp>
      <p:sp>
        <p:nvSpPr>
          <p:cNvPr id="13" name="">
            <a:extLst xmlns:a="http://schemas.openxmlformats.org/drawingml/2006/main">
              <a:ext uri="{FF2B5EF4-FFF2-40B4-BE49-F238E27FC236}">
                <a16:creationId xmlns:a16="http://schemas.microsoft.com/office/drawing/2014/main" id="{B6787B72-C803-473B-87F7-9A78F94556C0}"/>
              </a:ext>
            </a:extLst>
          </p:cNvPr>
          <p:cNvSpPr>
            <a:spLocks xmlns:a="http://schemas.openxmlformats.org/drawingml/2006/main" noGrp="1"/>
          </p:cNvSpPr>
          <p:nvPr/>
        </p:nvSpPr>
        <p:spPr>
          <a:xfrm xmlns:a="http://schemas.openxmlformats.org/drawingml/2006/main">
            <a:off x="8267700" y="160020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125" b="1" i="0">
                <a:solidFill>
                  <a:srgbClr val="087E8B"/>
                </a:solidFill>
                <a:latin typeface="Arial"/>
                <a:ea typeface="Arial"/>
                <a:cs typeface="Arial"/>
              </a:defRPr>
            </a:defPPr>
          </a:lstStyle>
          <a:p xmlns:a="http://schemas.openxmlformats.org/drawingml/2006/main">
            <a:pPr algn="l">
              <a:defRPr sz="1125" b="1" i="0">
                <a:solidFill>
                  <a:srgbClr val="087E8B"/>
                </a:solidFill>
                <a:latin typeface="Arial"/>
                <a:ea typeface="Arial"/>
                <a:cs typeface="Arial"/>
              </a:defRPr>
            </a:pPr>
            <a:r>
              <a:rPr sz="1125" b="1" i="0">
                <a:solidFill>
                  <a:srgbClr val="087E8B"/>
                </a:solidFill>
                <a:latin typeface="Arial"/>
                <a:ea typeface="Arial"/>
                <a:cs typeface="Arial"/>
              </a:rPr>
              <a:t>RELATIONSHIPS &amp; PRESERVATION</a:t>
            </a:r>
          </a:p>
        </p:txBody>
      </p:sp>
      <p:sp>
        <p:nvSpPr>
          <p:cNvPr id="14" name="">
            <a:extLst xmlns:a="http://schemas.openxmlformats.org/drawingml/2006/main">
              <a:ext uri="{FF2B5EF4-FFF2-40B4-BE49-F238E27FC236}">
                <a16:creationId xmlns:a16="http://schemas.microsoft.com/office/drawing/2014/main" id="{F5683104-CC7E-4D61-A316-0E996EF31FBC}"/>
              </a:ext>
            </a:extLst>
          </p:cNvPr>
          <p:cNvSpPr>
            <a:spLocks xmlns:a="http://schemas.openxmlformats.org/drawingml/2006/main" noGrp="1"/>
          </p:cNvSpPr>
          <p:nvPr/>
        </p:nvSpPr>
        <p:spPr>
          <a:xfrm xmlns:a="http://schemas.openxmlformats.org/drawingml/2006/main">
            <a:off x="8267700" y="1924050"/>
            <a:ext cx="314325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2F504DF-7379-4F61-8D7A-05C8BB8CE1E2}"/>
              </a:ext>
            </a:extLst>
          </p:cNvPr>
          <p:cNvSpPr>
            <a:spLocks xmlns:a="http://schemas.openxmlformats.org/drawingml/2006/main" noGrp="1"/>
          </p:cNvSpPr>
          <p:nvPr/>
        </p:nvSpPr>
        <p:spPr>
          <a:xfrm xmlns:a="http://schemas.openxmlformats.org/drawingml/2006/main">
            <a:off x="8267700" y="204787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00" b="1" i="0">
                <a:solidFill>
                  <a:srgbClr val="102A43"/>
                </a:solidFill>
                <a:latin typeface="Arial"/>
                <a:ea typeface="Arial"/>
                <a:cs typeface="Arial"/>
              </a:defRPr>
            </a:defPPr>
          </a:lstStyle>
          <a:p xmlns:a="http://schemas.openxmlformats.org/drawingml/2006/main">
            <a:pPr algn="l">
              <a:defRPr sz="1500" b="1" i="0">
                <a:solidFill>
                  <a:srgbClr val="102A43"/>
                </a:solidFill>
                <a:latin typeface="Arial"/>
                <a:ea typeface="Arial"/>
                <a:cs typeface="Arial"/>
              </a:defRPr>
            </a:pPr>
            <a:r>
              <a:rPr sz="1500" b="1" i="0">
                <a:solidFill>
                  <a:srgbClr val="102A43"/>
                </a:solidFill>
                <a:latin typeface="Arial"/>
                <a:ea typeface="Arial"/>
                <a:cs typeface="Arial"/>
              </a:rPr>
              <a:t>Keep source meaning intact</a:t>
            </a:r>
          </a:p>
        </p:txBody>
      </p:sp>
      <p:sp>
        <p:nvSpPr>
          <p:cNvPr id="16" name="">
            <a:extLst xmlns:a="http://schemas.openxmlformats.org/drawingml/2006/main">
              <a:ext uri="{FF2B5EF4-FFF2-40B4-BE49-F238E27FC236}">
                <a16:creationId xmlns:a16="http://schemas.microsoft.com/office/drawing/2014/main" id="{0684FFAF-4FD6-4004-8C1A-BE3FFEB1F83A}"/>
              </a:ext>
            </a:extLst>
          </p:cNvPr>
          <p:cNvSpPr>
            <a:spLocks xmlns:a="http://schemas.openxmlformats.org/drawingml/2006/main" noGrp="1"/>
          </p:cNvSpPr>
          <p:nvPr/>
        </p:nvSpPr>
        <p:spPr>
          <a:xfrm xmlns:a="http://schemas.openxmlformats.org/drawingml/2006/main">
            <a:off x="685800" y="2590800"/>
            <a:ext cx="3238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a:solidFill>
                  <a:srgbClr val="183B56"/>
                </a:solidFill>
                <a:latin typeface="Arial"/>
                <a:ea typeface="Arial"/>
                <a:cs typeface="Arial"/>
              </a:defRPr>
            </a:defPPr>
          </a:lstStyle>
          <a:p xmlns:a="http://schemas.openxmlformats.org/drawingml/2006/main">
            <a:pPr marL="215900" indent="-114300">
              <a:spcAft>
                <a:spcPts val="900"/>
              </a:spcAft>
              <a:buChar char="•"/>
              <a:defRPr sz="1500">
                <a:solidFill>
                  <a:srgbClr val="183B56"/>
                </a:solidFill>
                <a:latin typeface="Arial"/>
                <a:ea typeface="Arial"/>
                <a:cs typeface="Arial"/>
              </a:defRPr>
            </a:pPr>
            <a:r>
              <a:rPr sz="1500">
                <a:solidFill>
                  <a:srgbClr val="183B56"/>
                </a:solidFill>
                <a:latin typeface="Arial"/>
                <a:ea typeface="Arial"/>
                <a:cs typeface="Arial"/>
              </a:rPr>
              <a:t>Trimmed text and normalized blanks; 0 values changed.</a:t>
            </a:r>
          </a:p>
          <a:p xmlns:a="http://schemas.openxmlformats.org/drawingml/2006/main">
            <a:pPr marL="215900" indent="-114300">
              <a:spcAft>
                <a:spcPts val="900"/>
              </a:spcAft>
              <a:buChar char="•"/>
              <a:defRPr sz="1500">
                <a:solidFill>
                  <a:srgbClr val="183B56"/>
                </a:solidFill>
                <a:latin typeface="Arial"/>
                <a:ea typeface="Arial"/>
                <a:cs typeface="Arial"/>
              </a:defRPr>
            </a:pPr>
            <a:r>
              <a:rPr sz="1500">
                <a:solidFill>
                  <a:srgbClr val="183B56"/>
                </a:solidFill>
                <a:latin typeface="Arial"/>
                <a:ea typeface="Arial"/>
                <a:cs typeface="Arial"/>
              </a:rPr>
              <a:t>Converted five numeric fields; parsed both date fields.</a:t>
            </a:r>
          </a:p>
          <a:p xmlns:a="http://schemas.openxmlformats.org/drawingml/2006/main">
            <a:pPr marL="215900" indent="-114300">
              <a:spcAft>
                <a:spcPts val="900"/>
              </a:spcAft>
              <a:buChar char="•"/>
              <a:defRPr sz="1500">
                <a:solidFill>
                  <a:srgbClr val="183B56"/>
                </a:solidFill>
                <a:latin typeface="Arial"/>
                <a:ea typeface="Arial"/>
                <a:cs typeface="Arial"/>
              </a:defRPr>
            </a:pPr>
            <a:r>
              <a:rPr sz="1500">
                <a:solidFill>
                  <a:srgbClr val="183B56"/>
                </a:solidFill>
                <a:latin typeface="Arial"/>
                <a:ea typeface="Arial"/>
                <a:cs typeface="Arial"/>
              </a:rPr>
              <a:t>Exported dates in ISO format.</a:t>
            </a:r>
          </a:p>
          <a:p xmlns:a="http://schemas.openxmlformats.org/drawingml/2006/main">
            <a:pPr marL="215900" indent="-114300">
              <a:spcAft>
                <a:spcPts val="900"/>
              </a:spcAft>
              <a:buChar char="•"/>
              <a:defRPr sz="1500">
                <a:solidFill>
                  <a:srgbClr val="183B56"/>
                </a:solidFill>
                <a:latin typeface="Arial"/>
                <a:ea typeface="Arial"/>
                <a:cs typeface="Arial"/>
              </a:defRPr>
            </a:pPr>
            <a:r>
              <a:rPr sz="1500">
                <a:solidFill>
                  <a:srgbClr val="183B56"/>
                </a:solidFill>
                <a:latin typeface="Arial"/>
                <a:ea typeface="Arial"/>
                <a:cs typeface="Arial"/>
              </a:rPr>
              <a:t>No categorical gaps; mode imputation unnecessary.</a:t>
            </a:r>
          </a:p>
        </p:txBody>
      </p:sp>
      <p:sp>
        <p:nvSpPr>
          <p:cNvPr id="17" name="">
            <a:extLst xmlns:a="http://schemas.openxmlformats.org/drawingml/2006/main">
              <a:ext uri="{FF2B5EF4-FFF2-40B4-BE49-F238E27FC236}">
                <a16:creationId xmlns:a16="http://schemas.microsoft.com/office/drawing/2014/main" id="{66276895-FC03-467A-85D0-DB50D8572300}"/>
              </a:ext>
            </a:extLst>
          </p:cNvPr>
          <p:cNvSpPr>
            <a:spLocks xmlns:a="http://schemas.openxmlformats.org/drawingml/2006/main" noGrp="1"/>
          </p:cNvSpPr>
          <p:nvPr/>
        </p:nvSpPr>
        <p:spPr>
          <a:xfrm xmlns:a="http://schemas.openxmlformats.org/drawingml/2006/main">
            <a:off x="4476750" y="2590800"/>
            <a:ext cx="3238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a:solidFill>
                  <a:srgbClr val="183B56"/>
                </a:solidFill>
                <a:latin typeface="Arial"/>
                <a:ea typeface="Arial"/>
                <a:cs typeface="Arial"/>
              </a:defRPr>
            </a:defPPr>
          </a:lstStyle>
          <a:p xmlns:a="http://schemas.openxmlformats.org/drawingml/2006/main">
            <a:pPr marL="215900" indent="-114300">
              <a:spcAft>
                <a:spcPts val="900"/>
              </a:spcAft>
              <a:buChar char="•"/>
              <a:defRPr sz="1500">
                <a:solidFill>
                  <a:srgbClr val="183B56"/>
                </a:solidFill>
                <a:latin typeface="Arial"/>
                <a:ea typeface="Arial"/>
                <a:cs typeface="Arial"/>
              </a:defRPr>
            </a:pPr>
            <a:r>
              <a:rPr sz="1500">
                <a:solidFill>
                  <a:srgbClr val="183B56"/>
                </a:solidFill>
                <a:latin typeface="Arial"/>
                <a:ea typeface="Arial"/>
                <a:cs typeface="Arial"/>
              </a:rPr>
              <a:t>Checked positive costs and ratings within 1–5.</a:t>
            </a:r>
          </a:p>
          <a:p xmlns:a="http://schemas.openxmlformats.org/drawingml/2006/main">
            <a:pPr marL="215900" indent="-114300">
              <a:spcAft>
                <a:spcPts val="900"/>
              </a:spcAft>
              <a:buChar char="•"/>
              <a:defRPr sz="1500">
                <a:solidFill>
                  <a:srgbClr val="183B56"/>
                </a:solidFill>
                <a:latin typeface="Arial"/>
                <a:ea typeface="Arial"/>
                <a:cs typeface="Arial"/>
              </a:defRPr>
            </a:pPr>
            <a:r>
              <a:rPr sz="1500">
                <a:solidFill>
                  <a:srgbClr val="183B56"/>
                </a:solidFill>
                <a:latin typeface="Arial"/>
                <a:ea typeface="Arial"/>
                <a:cs typeface="Arial"/>
              </a:rPr>
              <a:t>Checked nonnegative service times and valid date order.</a:t>
            </a:r>
          </a:p>
          <a:p xmlns:a="http://schemas.openxmlformats.org/drawingml/2006/main">
            <a:pPr marL="215900" indent="-114300">
              <a:spcAft>
                <a:spcPts val="900"/>
              </a:spcAft>
              <a:buChar char="•"/>
              <a:defRPr sz="1500">
                <a:solidFill>
                  <a:srgbClr val="183B56"/>
                </a:solidFill>
                <a:latin typeface="Arial"/>
                <a:ea typeface="Arial"/>
                <a:cs typeface="Arial"/>
              </a:defRPr>
            </a:pPr>
            <a:r>
              <a:rPr sz="1500">
                <a:solidFill>
                  <a:srgbClr val="183B56"/>
                </a:solidFill>
                <a:latin typeface="Arial"/>
                <a:ea typeface="Arial"/>
                <a:cs typeface="Arial"/>
              </a:rPr>
              <a:t>No post-cleaning range or date violations remained.</a:t>
            </a:r>
          </a:p>
        </p:txBody>
      </p:sp>
      <p:sp>
        <p:nvSpPr>
          <p:cNvPr id="18" name="">
            <a:extLst xmlns:a="http://schemas.openxmlformats.org/drawingml/2006/main">
              <a:ext uri="{FF2B5EF4-FFF2-40B4-BE49-F238E27FC236}">
                <a16:creationId xmlns:a16="http://schemas.microsoft.com/office/drawing/2014/main" id="{96589D8F-AC1C-4D9D-A0F9-3E5E24835D77}"/>
              </a:ext>
            </a:extLst>
          </p:cNvPr>
          <p:cNvSpPr>
            <a:spLocks xmlns:a="http://schemas.openxmlformats.org/drawingml/2006/main" noGrp="1"/>
          </p:cNvSpPr>
          <p:nvPr/>
        </p:nvSpPr>
        <p:spPr>
          <a:xfrm xmlns:a="http://schemas.openxmlformats.org/drawingml/2006/main">
            <a:off x="8267700" y="2590800"/>
            <a:ext cx="3238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a:solidFill>
                  <a:srgbClr val="183B56"/>
                </a:solidFill>
                <a:latin typeface="Arial"/>
                <a:ea typeface="Arial"/>
                <a:cs typeface="Arial"/>
              </a:defRPr>
            </a:defPPr>
          </a:lstStyle>
          <a:p xmlns:a="http://schemas.openxmlformats.org/drawingml/2006/main">
            <a:pPr marL="215900" indent="-114300">
              <a:spcAft>
                <a:spcPts val="900"/>
              </a:spcAft>
              <a:buChar char="•"/>
              <a:defRPr sz="1500">
                <a:solidFill>
                  <a:srgbClr val="183B56"/>
                </a:solidFill>
                <a:latin typeface="Arial"/>
                <a:ea typeface="Arial"/>
                <a:cs typeface="Arial"/>
              </a:defRPr>
            </a:pPr>
            <a:r>
              <a:rPr sz="1500">
                <a:solidFill>
                  <a:srgbClr val="183B56"/>
                </a:solidFill>
                <a:latin typeface="Arial"/>
                <a:ea typeface="Arial"/>
                <a:cs typeface="Arial"/>
              </a:rPr>
              <a:t>OPD/IPD timing rules: 0 mismatches.</a:t>
            </a:r>
          </a:p>
          <a:p xmlns:a="http://schemas.openxmlformats.org/drawingml/2006/main">
            <a:pPr marL="215900" indent="-114300">
              <a:spcAft>
                <a:spcPts val="900"/>
              </a:spcAft>
              <a:buChar char="•"/>
              <a:defRPr sz="1500">
                <a:solidFill>
                  <a:srgbClr val="183B56"/>
                </a:solidFill>
                <a:latin typeface="Arial"/>
                <a:ea typeface="Arial"/>
                <a:cs typeface="Arial"/>
              </a:defRPr>
            </a:pPr>
            <a:r>
              <a:rPr sz="1500">
                <a:solidFill>
                  <a:srgbClr val="183B56"/>
                </a:solidFill>
                <a:latin typeface="Arial"/>
                <a:ea typeface="Arial"/>
                <a:cs typeface="Arial"/>
              </a:rPr>
              <a:t>Emergency category and referral checks: 0 mismatches.</a:t>
            </a:r>
          </a:p>
          <a:p xmlns:a="http://schemas.openxmlformats.org/drawingml/2006/main">
            <a:pPr marL="215900" indent="-114300">
              <a:spcAft>
                <a:spcPts val="900"/>
              </a:spcAft>
              <a:buChar char="•"/>
              <a:defRPr sz="1500">
                <a:solidFill>
                  <a:srgbClr val="183B56"/>
                </a:solidFill>
                <a:latin typeface="Arial"/>
                <a:ea typeface="Arial"/>
                <a:cs typeface="Arial"/>
              </a:defRPr>
            </a:pPr>
            <a:r>
              <a:rPr sz="1500">
                <a:solidFill>
                  <a:srgbClr val="183B56"/>
                </a:solidFill>
                <a:latin typeface="Arial"/>
                <a:ea typeface="Arial"/>
                <a:cs typeface="Arial"/>
              </a:rPr>
              <a:t>Retained repeated IDs with differing records, age zero, and high costs.</a:t>
            </a:r>
          </a:p>
        </p:txBody>
      </p:sp>
      <p:sp>
        <p:nvSpPr>
          <p:cNvPr id="19" name="">
            <a:extLst xmlns:a="http://schemas.openxmlformats.org/drawingml/2006/main">
              <a:ext uri="{FF2B5EF4-FFF2-40B4-BE49-F238E27FC236}">
                <a16:creationId xmlns:a16="http://schemas.microsoft.com/office/drawing/2014/main" id="{254E51AE-01D5-43E8-AC2B-8DADA6E1C1B2}"/>
              </a:ext>
            </a:extLst>
          </p:cNvPr>
          <p:cNvSpPr>
            <a:spLocks xmlns:a="http://schemas.openxmlformats.org/drawingml/2006/main" noGrp="1"/>
          </p:cNvSpPr>
          <p:nvPr/>
        </p:nvSpPr>
        <p:spPr>
          <a:xfrm xmlns:a="http://schemas.openxmlformats.org/drawingml/2006/main">
            <a:off x="685800" y="5286375"/>
            <a:ext cx="10820400" cy="19050"/>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3277872-E4AA-4833-9CC5-B2C8581AB492}"/>
              </a:ext>
            </a:extLst>
          </p:cNvPr>
          <p:cNvSpPr>
            <a:spLocks xmlns:a="http://schemas.openxmlformats.org/drawingml/2006/main" noGrp="1"/>
          </p:cNvSpPr>
          <p:nvPr/>
        </p:nvSpPr>
        <p:spPr>
          <a:xfrm xmlns:a="http://schemas.openxmlformats.org/drawingml/2006/main">
            <a:off x="685800" y="5476875"/>
            <a:ext cx="2428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087E8B"/>
                </a:solidFill>
                <a:latin typeface="Arial"/>
                <a:ea typeface="Arial"/>
                <a:cs typeface="Arial"/>
              </a:defRPr>
            </a:defPPr>
          </a:lstStyle>
          <a:p xmlns:a="http://schemas.openxmlformats.org/drawingml/2006/main">
            <a:pPr algn="l">
              <a:defRPr sz="1050" b="1" i="0">
                <a:solidFill>
                  <a:srgbClr val="087E8B"/>
                </a:solidFill>
                <a:latin typeface="Arial"/>
                <a:ea typeface="Arial"/>
                <a:cs typeface="Arial"/>
              </a:defRPr>
            </a:pPr>
            <a:r>
              <a:rPr sz="1050" b="1" i="0">
                <a:solidFill>
                  <a:srgbClr val="087E8B"/>
                </a:solidFill>
                <a:latin typeface="Arial"/>
                <a:ea typeface="Arial"/>
                <a:cs typeface="Arial"/>
              </a:rPr>
              <a:t>WHY KEEP THESE CHECKS?</a:t>
            </a:r>
          </a:p>
        </p:txBody>
      </p:sp>
      <p:sp>
        <p:nvSpPr>
          <p:cNvPr id="21" name="">
            <a:extLst xmlns:a="http://schemas.openxmlformats.org/drawingml/2006/main">
              <a:ext uri="{FF2B5EF4-FFF2-40B4-BE49-F238E27FC236}">
                <a16:creationId xmlns:a16="http://schemas.microsoft.com/office/drawing/2014/main" id="{F897F426-F7BF-4079-B84C-3DADD2CAEBD9}"/>
              </a:ext>
            </a:extLst>
          </p:cNvPr>
          <p:cNvSpPr>
            <a:spLocks xmlns:a="http://schemas.openxmlformats.org/drawingml/2006/main" noGrp="1"/>
          </p:cNvSpPr>
          <p:nvPr/>
        </p:nvSpPr>
        <p:spPr>
          <a:xfrm xmlns:a="http://schemas.openxmlformats.org/drawingml/2006/main">
            <a:off x="3143250" y="5410200"/>
            <a:ext cx="828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00" b="1" i="0">
                <a:solidFill>
                  <a:srgbClr val="102A43"/>
                </a:solidFill>
                <a:latin typeface="Arial"/>
                <a:ea typeface="Arial"/>
                <a:cs typeface="Arial"/>
              </a:defRPr>
            </a:defPPr>
          </a:lstStyle>
          <a:p xmlns:a="http://schemas.openxmlformats.org/drawingml/2006/main">
            <a:pPr algn="l">
              <a:defRPr sz="1500" b="1" i="0">
                <a:solidFill>
                  <a:srgbClr val="102A43"/>
                </a:solidFill>
                <a:latin typeface="Arial"/>
                <a:ea typeface="Arial"/>
                <a:cs typeface="Arial"/>
              </a:defRPr>
            </a:pPr>
            <a:r>
              <a:rPr sz="1500" b="1" i="0">
                <a:solidFill>
                  <a:srgbClr val="102A43"/>
                </a:solidFill>
                <a:latin typeface="Arial"/>
                <a:ea typeface="Arial"/>
                <a:cs typeface="Arial"/>
              </a:rPr>
              <a:t>Validation documents what was tested; passed checks required no edits.</a:t>
            </a:r>
          </a:p>
        </p:txBody>
      </p:sp>
    </p:spTree>
    <p:extLst>
      <p:ext uri="{BB962C8B-B14F-4D97-AF65-F5344CB8AC3E}">
        <p14:creationId xmlns:p14="http://schemas.microsoft.com/office/powerpoint/2010/main" val="1976037900"/>
      </p:ext>
    </p:extLst>
  </p:cSld>
</p:sld>
</file>

<file path=ppt/slides/slide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363D0AD-3DB0-43AF-AA92-A3A25E7616AA}"/>
              </a:ext>
            </a:extLst>
          </p:cNvPr>
          <p:cNvSpPr>
            <a:spLocks xmlns:a="http://schemas.openxmlformats.org/drawingml/2006/main" noGrp="1"/>
          </p:cNvSpPr>
          <p:nvPr/>
        </p:nvSpPr>
        <p:spPr>
          <a:xfrm xmlns:a="http://schemas.openxmlformats.org/drawingml/2006/main">
            <a:off x="609600" y="3619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925" b="1" i="0">
                <a:solidFill>
                  <a:srgbClr val="102A43"/>
                </a:solidFill>
                <a:latin typeface="Arial"/>
                <a:ea typeface="Arial"/>
                <a:cs typeface="Arial"/>
              </a:defRPr>
            </a:defPPr>
          </a:lstStyle>
          <a:p xmlns:a="http://schemas.openxmlformats.org/drawingml/2006/main">
            <a:pPr algn="l">
              <a:defRPr sz="2925" b="1" i="0">
                <a:solidFill>
                  <a:srgbClr val="102A43"/>
                </a:solidFill>
                <a:latin typeface="Arial"/>
                <a:ea typeface="Arial"/>
                <a:cs typeface="Arial"/>
              </a:defRPr>
            </a:pPr>
            <a:r>
              <a:rPr sz="2925" b="1" i="0">
                <a:solidFill>
                  <a:srgbClr val="102A43"/>
                </a:solidFill>
                <a:latin typeface="Arial"/>
                <a:ea typeface="Arial"/>
                <a:cs typeface="Arial"/>
              </a:rPr>
              <a:t>Age outliers in the uncleaned dataset</a:t>
            </a:r>
          </a:p>
        </p:txBody>
      </p:sp>
      <p:sp>
        <p:nvSpPr>
          <p:cNvPr id="2" name="">
            <a:extLst xmlns:a="http://schemas.openxmlformats.org/drawingml/2006/main">
              <a:ext uri="{FF2B5EF4-FFF2-40B4-BE49-F238E27FC236}">
                <a16:creationId xmlns:a16="http://schemas.microsoft.com/office/drawing/2014/main" id="{18360135-6C90-4FD1-8133-CEB49C905FD4}"/>
              </a:ext>
            </a:extLst>
          </p:cNvPr>
          <p:cNvSpPr>
            <a:spLocks xmlns:a="http://schemas.openxmlformats.org/drawingml/2006/main" noGrp="1"/>
          </p:cNvSpPr>
          <p:nvPr/>
        </p:nvSpPr>
        <p:spPr>
          <a:xfrm xmlns:a="http://schemas.openxmlformats.org/drawingml/2006/main">
            <a:off x="628650" y="895350"/>
            <a:ext cx="10934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627D98"/>
                </a:solidFill>
                <a:latin typeface="Arial"/>
                <a:ea typeface="Arial"/>
                <a:cs typeface="Arial"/>
              </a:defRPr>
            </a:defPPr>
          </a:lstStyle>
          <a:p xmlns:a="http://schemas.openxmlformats.org/drawingml/2006/main">
            <a:pPr algn="l">
              <a:defRPr sz="1275" b="0" i="0">
                <a:solidFill>
                  <a:srgbClr val="627D98"/>
                </a:solidFill>
                <a:latin typeface="Arial"/>
                <a:ea typeface="Arial"/>
                <a:cs typeface="Arial"/>
              </a:defRPr>
            </a:pPr>
            <a:r>
              <a:rPr sz="1275" b="0" i="0">
                <a:solidFill>
                  <a:srgbClr val="627D98"/>
                </a:solidFill>
                <a:latin typeface="Arial"/>
                <a:ea typeface="Arial"/>
                <a:cs typeface="Arial"/>
              </a:rPr>
              <a:t>Box plot only  |  clean_patients.csv  |  40,600 age values</a:t>
            </a:r>
          </a:p>
        </p:txBody>
      </p:sp>
      <p:sp>
        <p:nvSpPr>
          <p:cNvPr id="3" name="">
            <a:extLst xmlns:a="http://schemas.openxmlformats.org/drawingml/2006/main">
              <a:ext uri="{FF2B5EF4-FFF2-40B4-BE49-F238E27FC236}">
                <a16:creationId xmlns:a16="http://schemas.microsoft.com/office/drawing/2014/main" id="{2925DB12-AE11-4574-AC5F-F841DF7DF03A}"/>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59FED92-C6F8-4B49-84FB-065C705F4A6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9B559CA-2B65-45D3-8F62-A6561F7A7ACB}"/>
              </a:ext>
            </a:extLst>
          </p:cNvPr>
          <p:cNvSpPr>
            <a:spLocks xmlns:a="http://schemas.openxmlformats.org/drawingml/2006/main" noGrp="1"/>
          </p:cNvSpPr>
          <p:nvPr/>
        </p:nvSpPr>
        <p:spPr>
          <a:xfrm xmlns:a="http://schemas.openxmlformats.org/drawingml/2006/main">
            <a:off x="609600" y="649605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900" b="1" i="0">
                <a:solidFill>
                  <a:srgbClr val="627D98"/>
                </a:solidFill>
                <a:latin typeface="Arial"/>
                <a:ea typeface="Arial"/>
                <a:cs typeface="Arial"/>
              </a:defRPr>
            </a:defPPr>
          </a:lstStyle>
          <a:p xmlns:a="http://schemas.openxmlformats.org/drawingml/2006/main">
            <a:pPr algn="l">
              <a:defRPr sz="900" b="1" i="0">
                <a:solidFill>
                  <a:srgbClr val="627D98"/>
                </a:solidFill>
                <a:latin typeface="Arial"/>
                <a:ea typeface="Arial"/>
                <a:cs typeface="Arial"/>
              </a:defRPr>
            </a:pPr>
            <a:r>
              <a:rPr sz="900" b="1" i="0">
                <a:solidFill>
                  <a:srgbClr val="627D98"/>
                </a:solidFill>
                <a:latin typeface="Arial"/>
                <a:ea typeface="Arial"/>
                <a:cs typeface="Arial"/>
              </a:rPr>
              <a:t>HOSPITAL PATIENT ANALYTICS  /  JUNE 2026</a:t>
            </a:r>
          </a:p>
        </p:txBody>
      </p:sp>
      <p:sp>
        <p:nvSpPr>
          <p:cNvPr id="6" name="">
            <a:extLst xmlns:a="http://schemas.openxmlformats.org/drawingml/2006/main">
              <a:ext uri="{FF2B5EF4-FFF2-40B4-BE49-F238E27FC236}">
                <a16:creationId xmlns:a16="http://schemas.microsoft.com/office/drawing/2014/main" id="{D25F0611-FCDA-4EF7-B56D-8680ECEB0471}"/>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r">
              <a:defRPr sz="1050" b="1" i="0">
                <a:solidFill>
                  <a:srgbClr val="627D98"/>
                </a:solidFill>
                <a:latin typeface="Arial"/>
                <a:ea typeface="Arial"/>
                <a:cs typeface="Arial"/>
              </a:defRPr>
            </a:defPPr>
          </a:lstStyle>
          <a:p xmlns:a="http://schemas.openxmlformats.org/drawingml/2006/main">
            <a:pPr algn="r">
              <a:defRPr sz="1050" b="1" i="0">
                <a:solidFill>
                  <a:srgbClr val="627D98"/>
                </a:solidFill>
                <a:latin typeface="Arial"/>
                <a:ea typeface="Arial"/>
                <a:cs typeface="Arial"/>
              </a:defRPr>
            </a:pPr>
            <a:r>
              <a:rPr sz="1050" b="1" i="0">
                <a:solidFill>
                  <a:srgbClr val="627D98"/>
                </a:solidFill>
                <a:latin typeface="Arial"/>
                <a:ea typeface="Arial"/>
                <a:cs typeface="Arial"/>
              </a:rPr>
              <a:t>05</a:t>
            </a:r>
          </a:p>
        </p:txBody>
      </p:sp>
      <p:pic>
        <p:nvPicPr>
          <p:cNvPr id="7" name="">
            <a:extLst xmlns:a="http://schemas.openxmlformats.org/drawingml/2006/main">
              <a:ext uri="{FF2B5EF4-FFF2-40B4-BE49-F238E27FC236}">
                <a16:creationId xmlns:a16="http://schemas.microsoft.com/office/drawing/2014/main" id="{B5AF3B66-E384-4DCD-B3B8-17FABAD89098}"/>
              </a:ext>
            </a:extLst>
          </p:cNvPr>
          <p:cNvPicPr>
            <a:picLocks xmlns:a="http://schemas.openxmlformats.org/drawingml/2006/main" noChangeAspect="1"/>
          </p:cNvPicPr>
          <p:nvPr/>
        </p:nvPicPr>
        <p:blipFill>
          <a:blip xmlns:r="http://schemas.openxmlformats.org/officeDocument/2006/relationships" xmlns:a="http://schemas.openxmlformats.org/drawingml/2006/main" r:embed="R9d1f8d5f11e2444e"/>
          <a:stretch xmlns:a="http://schemas.openxmlformats.org/drawingml/2006/main"/>
        </p:blipFill>
        <p:spPr>
          <a:xfrm xmlns:a="http://schemas.openxmlformats.org/drawingml/2006/main">
            <a:off x="609600" y="1543645"/>
            <a:ext cx="5810250" cy="2541984"/>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9E0507C-F4E3-417B-8932-382198DAED9A}"/>
              </a:ext>
            </a:extLst>
          </p:cNvPr>
          <p:cNvSpPr>
            <a:spLocks xmlns:a="http://schemas.openxmlformats.org/drawingml/2006/main" noGrp="1"/>
          </p:cNvSpPr>
          <p:nvPr/>
        </p:nvSpPr>
        <p:spPr>
          <a:xfrm xmlns:a="http://schemas.openxmlformats.org/drawingml/2006/main">
            <a:off x="609600" y="4191000"/>
            <a:ext cx="581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627D98"/>
                </a:solidFill>
                <a:latin typeface="Arial"/>
                <a:ea typeface="Arial"/>
                <a:cs typeface="Arial"/>
              </a:defRPr>
            </a:defPPr>
          </a:lstStyle>
          <a:p xmlns:a="http://schemas.openxmlformats.org/drawingml/2006/main">
            <a:pPr algn="l">
              <a:defRPr sz="1275" b="0" i="0">
                <a:solidFill>
                  <a:srgbClr val="627D98"/>
                </a:solidFill>
                <a:latin typeface="Arial"/>
                <a:ea typeface="Arial"/>
                <a:cs typeface="Arial"/>
              </a:defRPr>
            </a:pPr>
            <a:r>
              <a:rPr sz="1275" b="0" i="0">
                <a:solidFill>
                  <a:srgbClr val="627D98"/>
                </a:solidFill>
                <a:latin typeface="Arial"/>
                <a:ea typeface="Arial"/>
                <a:cs typeface="Arial"/>
              </a:rPr>
              <a:t>Box spans the middle 50%; whiskers stop at in-fence values. The age axis is compressed above typical values.</a:t>
            </a:r>
          </a:p>
        </p:txBody>
      </p:sp>
      <p:sp>
        <p:nvSpPr>
          <p:cNvPr id="9" name="">
            <a:extLst xmlns:a="http://schemas.openxmlformats.org/drawingml/2006/main">
              <a:ext uri="{FF2B5EF4-FFF2-40B4-BE49-F238E27FC236}">
                <a16:creationId xmlns:a16="http://schemas.microsoft.com/office/drawing/2014/main" id="{71D0C9A8-B130-4E6C-8990-4CD2BD7D2F2B}"/>
              </a:ext>
            </a:extLst>
          </p:cNvPr>
          <p:cNvSpPr>
            <a:spLocks xmlns:a="http://schemas.openxmlformats.org/drawingml/2006/main" noGrp="1"/>
          </p:cNvSpPr>
          <p:nvPr/>
        </p:nvSpPr>
        <p:spPr>
          <a:xfrm xmlns:a="http://schemas.openxmlformats.org/drawingml/2006/main">
            <a:off x="6762750" y="14668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087E8B"/>
                </a:solidFill>
                <a:latin typeface="Arial"/>
                <a:ea typeface="Arial"/>
                <a:cs typeface="Arial"/>
              </a:defRPr>
            </a:defPPr>
          </a:lstStyle>
          <a:p xmlns:a="http://schemas.openxmlformats.org/drawingml/2006/main">
            <a:pPr algn="l">
              <a:defRPr sz="1050" b="1" i="0">
                <a:solidFill>
                  <a:srgbClr val="087E8B"/>
                </a:solidFill>
                <a:latin typeface="Arial"/>
                <a:ea typeface="Arial"/>
                <a:cs typeface="Arial"/>
              </a:defRPr>
            </a:pPr>
            <a:r>
              <a:rPr sz="1050" b="1" i="0">
                <a:solidFill>
                  <a:srgbClr val="087E8B"/>
                </a:solidFill>
                <a:latin typeface="Arial"/>
                <a:ea typeface="Arial"/>
                <a:cs typeface="Arial"/>
              </a:rPr>
              <a:t>IQR CALCULATION</a:t>
            </a:r>
          </a:p>
        </p:txBody>
      </p:sp>
      <p:sp>
        <p:nvSpPr>
          <p:cNvPr id="10" name="">
            <a:extLst xmlns:a="http://schemas.openxmlformats.org/drawingml/2006/main">
              <a:ext uri="{FF2B5EF4-FFF2-40B4-BE49-F238E27FC236}">
                <a16:creationId xmlns:a16="http://schemas.microsoft.com/office/drawing/2014/main" id="{B8FEA5CE-FF34-46C7-900C-F6D8ECBF5E54}"/>
              </a:ext>
            </a:extLst>
          </p:cNvPr>
          <p:cNvSpPr>
            <a:spLocks xmlns:a="http://schemas.openxmlformats.org/drawingml/2006/main" noGrp="1"/>
          </p:cNvSpPr>
          <p:nvPr/>
        </p:nvSpPr>
        <p:spPr>
          <a:xfrm xmlns:a="http://schemas.openxmlformats.org/drawingml/2006/main">
            <a:off x="6762750" y="17335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425" b="1" i="0">
                <a:solidFill>
                  <a:srgbClr val="102A43"/>
                </a:solidFill>
                <a:latin typeface="Arial"/>
                <a:ea typeface="Arial"/>
                <a:cs typeface="Arial"/>
              </a:defRPr>
            </a:defPPr>
          </a:lstStyle>
          <a:p xmlns:a="http://schemas.openxmlformats.org/drawingml/2006/main">
            <a:pPr algn="l">
              <a:defRPr sz="1425" b="1" i="0">
                <a:solidFill>
                  <a:srgbClr val="102A43"/>
                </a:solidFill>
                <a:latin typeface="Arial"/>
                <a:ea typeface="Arial"/>
                <a:cs typeface="Arial"/>
              </a:defRPr>
            </a:pPr>
            <a:r>
              <a:rPr sz="1425" b="1" i="0">
                <a:solidFill>
                  <a:srgbClr val="102A43"/>
                </a:solidFill>
                <a:latin typeface="Arial"/>
                <a:ea typeface="Arial"/>
                <a:cs typeface="Arial"/>
              </a:rPr>
              <a:t>Q1 = 28  •  Median = 44  •  Q3 = 60</a:t>
            </a:r>
          </a:p>
        </p:txBody>
      </p:sp>
      <p:sp>
        <p:nvSpPr>
          <p:cNvPr id="11" name="">
            <a:extLst xmlns:a="http://schemas.openxmlformats.org/drawingml/2006/main">
              <a:ext uri="{FF2B5EF4-FFF2-40B4-BE49-F238E27FC236}">
                <a16:creationId xmlns:a16="http://schemas.microsoft.com/office/drawing/2014/main" id="{6B1B0C6C-D774-4BDD-A32F-0BCF206C7FD1}"/>
              </a:ext>
            </a:extLst>
          </p:cNvPr>
          <p:cNvSpPr>
            <a:spLocks xmlns:a="http://schemas.openxmlformats.org/drawingml/2006/main" noGrp="1"/>
          </p:cNvSpPr>
          <p:nvPr/>
        </p:nvSpPr>
        <p:spPr>
          <a:xfrm xmlns:a="http://schemas.openxmlformats.org/drawingml/2006/main">
            <a:off x="6762750" y="20574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350" b="0" i="0">
                <a:solidFill>
                  <a:srgbClr val="183B56"/>
                </a:solidFill>
                <a:latin typeface="Arial"/>
                <a:ea typeface="Arial"/>
                <a:cs typeface="Arial"/>
              </a:defRPr>
            </a:defPPr>
          </a:lstStyle>
          <a:p xmlns:a="http://schemas.openxmlformats.org/drawingml/2006/main">
            <a:pPr algn="l">
              <a:defRPr sz="1350" b="0" i="0">
                <a:solidFill>
                  <a:srgbClr val="183B56"/>
                </a:solidFill>
                <a:latin typeface="Arial"/>
                <a:ea typeface="Arial"/>
                <a:cs typeface="Arial"/>
              </a:defRPr>
            </a:pPr>
            <a:r>
              <a:rPr sz="1350" b="0" i="0">
                <a:solidFill>
                  <a:srgbClr val="183B56"/>
                </a:solidFill>
                <a:latin typeface="Arial"/>
                <a:ea typeface="Arial"/>
                <a:cs typeface="Arial"/>
              </a:rPr>
              <a:t>IQR = Q3 − Q1 = 60 − 28 = 32 years</a:t>
            </a:r>
          </a:p>
        </p:txBody>
      </p:sp>
      <p:sp>
        <p:nvSpPr>
          <p:cNvPr id="12" name="">
            <a:extLst xmlns:a="http://schemas.openxmlformats.org/drawingml/2006/main">
              <a:ext uri="{FF2B5EF4-FFF2-40B4-BE49-F238E27FC236}">
                <a16:creationId xmlns:a16="http://schemas.microsoft.com/office/drawing/2014/main" id="{B4E5BFCF-0052-4B58-B03B-E8CA644F7B38}"/>
              </a:ext>
            </a:extLst>
          </p:cNvPr>
          <p:cNvSpPr>
            <a:spLocks xmlns:a="http://schemas.openxmlformats.org/drawingml/2006/main" noGrp="1"/>
          </p:cNvSpPr>
          <p:nvPr/>
        </p:nvSpPr>
        <p:spPr>
          <a:xfrm xmlns:a="http://schemas.openxmlformats.org/drawingml/2006/main">
            <a:off x="6762750" y="23431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183B56"/>
                </a:solidFill>
                <a:latin typeface="Arial"/>
                <a:ea typeface="Arial"/>
                <a:cs typeface="Arial"/>
              </a:defRPr>
            </a:defPPr>
          </a:lstStyle>
          <a:p xmlns:a="http://schemas.openxmlformats.org/drawingml/2006/main">
            <a:pPr algn="l">
              <a:defRPr sz="1275" b="0" i="0">
                <a:solidFill>
                  <a:srgbClr val="183B56"/>
                </a:solidFill>
                <a:latin typeface="Arial"/>
                <a:ea typeface="Arial"/>
                <a:cs typeface="Arial"/>
              </a:defRPr>
            </a:pPr>
            <a:r>
              <a:rPr sz="1275" b="0" i="0">
                <a:solidFill>
                  <a:srgbClr val="183B56"/>
                </a:solidFill>
                <a:latin typeface="Arial"/>
                <a:ea typeface="Arial"/>
                <a:cs typeface="Arial"/>
              </a:rPr>
              <a:t>Fences: 28 − 1.5×32 = −20  |  60 + 1.5×32 = 108</a:t>
            </a:r>
          </a:p>
        </p:txBody>
      </p:sp>
      <p:sp>
        <p:nvSpPr>
          <p:cNvPr id="13" name="">
            <a:extLst xmlns:a="http://schemas.openxmlformats.org/drawingml/2006/main">
              <a:ext uri="{FF2B5EF4-FFF2-40B4-BE49-F238E27FC236}">
                <a16:creationId xmlns:a16="http://schemas.microsoft.com/office/drawing/2014/main" id="{1D808FDE-130B-4D4D-803D-C4ECE306C73F}"/>
              </a:ext>
            </a:extLst>
          </p:cNvPr>
          <p:cNvSpPr>
            <a:spLocks xmlns:a="http://schemas.openxmlformats.org/drawingml/2006/main" noGrp="1"/>
          </p:cNvSpPr>
          <p:nvPr/>
        </p:nvSpPr>
        <p:spPr>
          <a:xfrm xmlns:a="http://schemas.openxmlformats.org/drawingml/2006/main">
            <a:off x="6762750" y="2752725"/>
            <a:ext cx="47625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13D6A35-52F6-4C9A-8F3D-F8B778716CCE}"/>
              </a:ext>
            </a:extLst>
          </p:cNvPr>
          <p:cNvSpPr>
            <a:spLocks xmlns:a="http://schemas.openxmlformats.org/drawingml/2006/main" noGrp="1"/>
          </p:cNvSpPr>
          <p:nvPr/>
        </p:nvSpPr>
        <p:spPr>
          <a:xfrm xmlns:a="http://schemas.openxmlformats.org/drawingml/2006/main">
            <a:off x="6762750" y="28575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087E8B"/>
                </a:solidFill>
                <a:latin typeface="Arial"/>
                <a:ea typeface="Arial"/>
                <a:cs typeface="Arial"/>
              </a:defRPr>
            </a:defPPr>
          </a:lstStyle>
          <a:p xmlns:a="http://schemas.openxmlformats.org/drawingml/2006/main">
            <a:pPr algn="l">
              <a:defRPr sz="1050" b="1" i="0">
                <a:solidFill>
                  <a:srgbClr val="087E8B"/>
                </a:solidFill>
                <a:latin typeface="Arial"/>
                <a:ea typeface="Arial"/>
                <a:cs typeface="Arial"/>
              </a:defRPr>
            </a:pPr>
            <a:r>
              <a:rPr sz="1050" b="1" i="0">
                <a:solidFill>
                  <a:srgbClr val="087E8B"/>
                </a:solidFill>
                <a:latin typeface="Arial"/>
                <a:ea typeface="Arial"/>
                <a:cs typeface="Arial"/>
              </a:rPr>
              <a:t>SIX BOXPLOT ELEMENTS</a:t>
            </a:r>
          </a:p>
        </p:txBody>
      </p:sp>
      <p:sp>
        <p:nvSpPr>
          <p:cNvPr id="15" name="">
            <a:extLst xmlns:a="http://schemas.openxmlformats.org/drawingml/2006/main">
              <a:ext uri="{FF2B5EF4-FFF2-40B4-BE49-F238E27FC236}">
                <a16:creationId xmlns:a16="http://schemas.microsoft.com/office/drawing/2014/main" id="{96B27CFA-171A-4E70-9D79-8D2111E5D95C}"/>
              </a:ext>
            </a:extLst>
          </p:cNvPr>
          <p:cNvSpPr>
            <a:spLocks xmlns:a="http://schemas.openxmlformats.org/drawingml/2006/main" noGrp="1"/>
          </p:cNvSpPr>
          <p:nvPr/>
        </p:nvSpPr>
        <p:spPr>
          <a:xfrm xmlns:a="http://schemas.openxmlformats.org/drawingml/2006/main">
            <a:off x="6762750" y="3124200"/>
            <a:ext cx="2047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183B56"/>
                </a:solidFill>
                <a:latin typeface="Arial"/>
                <a:ea typeface="Arial"/>
                <a:cs typeface="Arial"/>
              </a:defRPr>
            </a:defPPr>
          </a:lstStyle>
          <a:p xmlns:a="http://schemas.openxmlformats.org/drawingml/2006/main">
            <a:pPr algn="l">
              <a:defRPr sz="1275" b="0" i="0">
                <a:solidFill>
                  <a:srgbClr val="183B56"/>
                </a:solidFill>
                <a:latin typeface="Arial"/>
                <a:ea typeface="Arial"/>
                <a:cs typeface="Arial"/>
              </a:defRPr>
            </a:pPr>
            <a:r>
              <a:rPr sz="1275" b="0" i="0">
                <a:solidFill>
                  <a:srgbClr val="183B56"/>
                </a:solidFill>
                <a:latin typeface="Arial"/>
                <a:ea typeface="Arial"/>
                <a:cs typeface="Arial"/>
              </a:rPr>
              <a:t>Lower whisker</a:t>
            </a:r>
          </a:p>
        </p:txBody>
      </p:sp>
      <p:sp>
        <p:nvSpPr>
          <p:cNvPr id="16" name="">
            <a:extLst xmlns:a="http://schemas.openxmlformats.org/drawingml/2006/main">
              <a:ext uri="{FF2B5EF4-FFF2-40B4-BE49-F238E27FC236}">
                <a16:creationId xmlns:a16="http://schemas.microsoft.com/office/drawing/2014/main" id="{96ED1DC9-DC0E-4079-822B-94759014070E}"/>
              </a:ext>
            </a:extLst>
          </p:cNvPr>
          <p:cNvSpPr>
            <a:spLocks xmlns:a="http://schemas.openxmlformats.org/drawingml/2006/main" noGrp="1"/>
          </p:cNvSpPr>
          <p:nvPr/>
        </p:nvSpPr>
        <p:spPr>
          <a:xfrm xmlns:a="http://schemas.openxmlformats.org/drawingml/2006/main">
            <a:off x="8858250" y="312420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r">
              <a:defRPr sz="1275" b="1" i="0">
                <a:solidFill>
                  <a:srgbClr val="102A43"/>
                </a:solidFill>
                <a:latin typeface="Arial"/>
                <a:ea typeface="Arial"/>
                <a:cs typeface="Arial"/>
              </a:defRPr>
            </a:defPPr>
          </a:lstStyle>
          <a:p xmlns:a="http://schemas.openxmlformats.org/drawingml/2006/main">
            <a:pPr algn="r">
              <a:defRPr sz="1275" b="1" i="0">
                <a:solidFill>
                  <a:srgbClr val="102A43"/>
                </a:solidFill>
                <a:latin typeface="Arial"/>
                <a:ea typeface="Arial"/>
                <a:cs typeface="Arial"/>
              </a:defRPr>
            </a:pPr>
            <a:r>
              <a:rPr sz="1275" b="1" i="0">
                <a:solidFill>
                  <a:srgbClr val="102A43"/>
                </a:solidFill>
                <a:latin typeface="Arial"/>
                <a:ea typeface="Arial"/>
                <a:cs typeface="Arial"/>
              </a:rPr>
              <a:t>0 years</a:t>
            </a:r>
          </a:p>
        </p:txBody>
      </p:sp>
      <p:sp>
        <p:nvSpPr>
          <p:cNvPr id="17" name="">
            <a:extLst xmlns:a="http://schemas.openxmlformats.org/drawingml/2006/main">
              <a:ext uri="{FF2B5EF4-FFF2-40B4-BE49-F238E27FC236}">
                <a16:creationId xmlns:a16="http://schemas.microsoft.com/office/drawing/2014/main" id="{A3EBC463-1B8D-4994-811F-EE3B1D6622C4}"/>
              </a:ext>
            </a:extLst>
          </p:cNvPr>
          <p:cNvSpPr>
            <a:spLocks xmlns:a="http://schemas.openxmlformats.org/drawingml/2006/main" noGrp="1"/>
          </p:cNvSpPr>
          <p:nvPr/>
        </p:nvSpPr>
        <p:spPr>
          <a:xfrm xmlns:a="http://schemas.openxmlformats.org/drawingml/2006/main">
            <a:off x="6762750" y="3400425"/>
            <a:ext cx="47625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11B560F-40CE-4E3A-AC28-AF42DF479B20}"/>
              </a:ext>
            </a:extLst>
          </p:cNvPr>
          <p:cNvSpPr>
            <a:spLocks xmlns:a="http://schemas.openxmlformats.org/drawingml/2006/main" noGrp="1"/>
          </p:cNvSpPr>
          <p:nvPr/>
        </p:nvSpPr>
        <p:spPr>
          <a:xfrm xmlns:a="http://schemas.openxmlformats.org/drawingml/2006/main">
            <a:off x="6762750" y="3448050"/>
            <a:ext cx="2047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183B56"/>
                </a:solidFill>
                <a:latin typeface="Arial"/>
                <a:ea typeface="Arial"/>
                <a:cs typeface="Arial"/>
              </a:defRPr>
            </a:defPPr>
          </a:lstStyle>
          <a:p xmlns:a="http://schemas.openxmlformats.org/drawingml/2006/main">
            <a:pPr algn="l">
              <a:defRPr sz="1275" b="0" i="0">
                <a:solidFill>
                  <a:srgbClr val="183B56"/>
                </a:solidFill>
                <a:latin typeface="Arial"/>
                <a:ea typeface="Arial"/>
                <a:cs typeface="Arial"/>
              </a:defRPr>
            </a:pPr>
            <a:r>
              <a:rPr sz="1275" b="0" i="0">
                <a:solidFill>
                  <a:srgbClr val="183B56"/>
                </a:solidFill>
                <a:latin typeface="Arial"/>
                <a:ea typeface="Arial"/>
                <a:cs typeface="Arial"/>
              </a:rPr>
              <a:t>Q1</a:t>
            </a:r>
          </a:p>
        </p:txBody>
      </p:sp>
      <p:sp>
        <p:nvSpPr>
          <p:cNvPr id="19" name="">
            <a:extLst xmlns:a="http://schemas.openxmlformats.org/drawingml/2006/main">
              <a:ext uri="{FF2B5EF4-FFF2-40B4-BE49-F238E27FC236}">
                <a16:creationId xmlns:a16="http://schemas.microsoft.com/office/drawing/2014/main" id="{466A7562-DA9D-4932-A4C8-EB9DE4A967A1}"/>
              </a:ext>
            </a:extLst>
          </p:cNvPr>
          <p:cNvSpPr>
            <a:spLocks xmlns:a="http://schemas.openxmlformats.org/drawingml/2006/main" noGrp="1"/>
          </p:cNvSpPr>
          <p:nvPr/>
        </p:nvSpPr>
        <p:spPr>
          <a:xfrm xmlns:a="http://schemas.openxmlformats.org/drawingml/2006/main">
            <a:off x="8858250" y="34480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r">
              <a:defRPr sz="1275" b="1" i="0">
                <a:solidFill>
                  <a:srgbClr val="102A43"/>
                </a:solidFill>
                <a:latin typeface="Arial"/>
                <a:ea typeface="Arial"/>
                <a:cs typeface="Arial"/>
              </a:defRPr>
            </a:defPPr>
          </a:lstStyle>
          <a:p xmlns:a="http://schemas.openxmlformats.org/drawingml/2006/main">
            <a:pPr algn="r">
              <a:defRPr sz="1275" b="1" i="0">
                <a:solidFill>
                  <a:srgbClr val="102A43"/>
                </a:solidFill>
                <a:latin typeface="Arial"/>
                <a:ea typeface="Arial"/>
                <a:cs typeface="Arial"/>
              </a:defRPr>
            </a:pPr>
            <a:r>
              <a:rPr sz="1275" b="1" i="0">
                <a:solidFill>
                  <a:srgbClr val="102A43"/>
                </a:solidFill>
                <a:latin typeface="Arial"/>
                <a:ea typeface="Arial"/>
                <a:cs typeface="Arial"/>
              </a:rPr>
              <a:t>28 years</a:t>
            </a:r>
          </a:p>
        </p:txBody>
      </p:sp>
      <p:sp>
        <p:nvSpPr>
          <p:cNvPr id="20" name="">
            <a:extLst xmlns:a="http://schemas.openxmlformats.org/drawingml/2006/main">
              <a:ext uri="{FF2B5EF4-FFF2-40B4-BE49-F238E27FC236}">
                <a16:creationId xmlns:a16="http://schemas.microsoft.com/office/drawing/2014/main" id="{63BD271E-2A42-43E6-9FBD-770833E4DBE2}"/>
              </a:ext>
            </a:extLst>
          </p:cNvPr>
          <p:cNvSpPr>
            <a:spLocks xmlns:a="http://schemas.openxmlformats.org/drawingml/2006/main" noGrp="1"/>
          </p:cNvSpPr>
          <p:nvPr/>
        </p:nvSpPr>
        <p:spPr>
          <a:xfrm xmlns:a="http://schemas.openxmlformats.org/drawingml/2006/main">
            <a:off x="6762750" y="3724275"/>
            <a:ext cx="47625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29F6D8F-FE8D-4330-94E0-9DDFF3F0EA9A}"/>
              </a:ext>
            </a:extLst>
          </p:cNvPr>
          <p:cNvSpPr>
            <a:spLocks xmlns:a="http://schemas.openxmlformats.org/drawingml/2006/main" noGrp="1"/>
          </p:cNvSpPr>
          <p:nvPr/>
        </p:nvSpPr>
        <p:spPr>
          <a:xfrm xmlns:a="http://schemas.openxmlformats.org/drawingml/2006/main">
            <a:off x="6762750" y="3771900"/>
            <a:ext cx="2047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183B56"/>
                </a:solidFill>
                <a:latin typeface="Arial"/>
                <a:ea typeface="Arial"/>
                <a:cs typeface="Arial"/>
              </a:defRPr>
            </a:defPPr>
          </a:lstStyle>
          <a:p xmlns:a="http://schemas.openxmlformats.org/drawingml/2006/main">
            <a:pPr algn="l">
              <a:defRPr sz="1275" b="0" i="0">
                <a:solidFill>
                  <a:srgbClr val="183B56"/>
                </a:solidFill>
                <a:latin typeface="Arial"/>
                <a:ea typeface="Arial"/>
                <a:cs typeface="Arial"/>
              </a:defRPr>
            </a:pPr>
            <a:r>
              <a:rPr sz="1275" b="0" i="0">
                <a:solidFill>
                  <a:srgbClr val="183B56"/>
                </a:solidFill>
                <a:latin typeface="Arial"/>
                <a:ea typeface="Arial"/>
                <a:cs typeface="Arial"/>
              </a:rPr>
              <a:t>Median</a:t>
            </a:r>
          </a:p>
        </p:txBody>
      </p:sp>
      <p:sp>
        <p:nvSpPr>
          <p:cNvPr id="22" name="">
            <a:extLst xmlns:a="http://schemas.openxmlformats.org/drawingml/2006/main">
              <a:ext uri="{FF2B5EF4-FFF2-40B4-BE49-F238E27FC236}">
                <a16:creationId xmlns:a16="http://schemas.microsoft.com/office/drawing/2014/main" id="{CF869A1F-A6DD-45B5-A86F-3B68AD6BA236}"/>
              </a:ext>
            </a:extLst>
          </p:cNvPr>
          <p:cNvSpPr>
            <a:spLocks xmlns:a="http://schemas.openxmlformats.org/drawingml/2006/main" noGrp="1"/>
          </p:cNvSpPr>
          <p:nvPr/>
        </p:nvSpPr>
        <p:spPr>
          <a:xfrm xmlns:a="http://schemas.openxmlformats.org/drawingml/2006/main">
            <a:off x="8858250" y="377190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r">
              <a:defRPr sz="1275" b="1" i="0">
                <a:solidFill>
                  <a:srgbClr val="102A43"/>
                </a:solidFill>
                <a:latin typeface="Arial"/>
                <a:ea typeface="Arial"/>
                <a:cs typeface="Arial"/>
              </a:defRPr>
            </a:defPPr>
          </a:lstStyle>
          <a:p xmlns:a="http://schemas.openxmlformats.org/drawingml/2006/main">
            <a:pPr algn="r">
              <a:defRPr sz="1275" b="1" i="0">
                <a:solidFill>
                  <a:srgbClr val="102A43"/>
                </a:solidFill>
                <a:latin typeface="Arial"/>
                <a:ea typeface="Arial"/>
                <a:cs typeface="Arial"/>
              </a:defRPr>
            </a:pPr>
            <a:r>
              <a:rPr sz="1275" b="1" i="0">
                <a:solidFill>
                  <a:srgbClr val="102A43"/>
                </a:solidFill>
                <a:latin typeface="Arial"/>
                <a:ea typeface="Arial"/>
                <a:cs typeface="Arial"/>
              </a:rPr>
              <a:t>44 years</a:t>
            </a:r>
          </a:p>
        </p:txBody>
      </p:sp>
      <p:sp>
        <p:nvSpPr>
          <p:cNvPr id="23" name="">
            <a:extLst xmlns:a="http://schemas.openxmlformats.org/drawingml/2006/main">
              <a:ext uri="{FF2B5EF4-FFF2-40B4-BE49-F238E27FC236}">
                <a16:creationId xmlns:a16="http://schemas.microsoft.com/office/drawing/2014/main" id="{905F8A53-530F-4BA2-A26D-C7510695E02F}"/>
              </a:ext>
            </a:extLst>
          </p:cNvPr>
          <p:cNvSpPr>
            <a:spLocks xmlns:a="http://schemas.openxmlformats.org/drawingml/2006/main" noGrp="1"/>
          </p:cNvSpPr>
          <p:nvPr/>
        </p:nvSpPr>
        <p:spPr>
          <a:xfrm xmlns:a="http://schemas.openxmlformats.org/drawingml/2006/main">
            <a:off x="6762750" y="4048125"/>
            <a:ext cx="47625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38D82D0-019D-4F68-A8C6-EBD46BD60CF5}"/>
              </a:ext>
            </a:extLst>
          </p:cNvPr>
          <p:cNvSpPr>
            <a:spLocks xmlns:a="http://schemas.openxmlformats.org/drawingml/2006/main" noGrp="1"/>
          </p:cNvSpPr>
          <p:nvPr/>
        </p:nvSpPr>
        <p:spPr>
          <a:xfrm xmlns:a="http://schemas.openxmlformats.org/drawingml/2006/main">
            <a:off x="6762750" y="4095750"/>
            <a:ext cx="2047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183B56"/>
                </a:solidFill>
                <a:latin typeface="Arial"/>
                <a:ea typeface="Arial"/>
                <a:cs typeface="Arial"/>
              </a:defRPr>
            </a:defPPr>
          </a:lstStyle>
          <a:p xmlns:a="http://schemas.openxmlformats.org/drawingml/2006/main">
            <a:pPr algn="l">
              <a:defRPr sz="1275" b="0" i="0">
                <a:solidFill>
                  <a:srgbClr val="183B56"/>
                </a:solidFill>
                <a:latin typeface="Arial"/>
                <a:ea typeface="Arial"/>
                <a:cs typeface="Arial"/>
              </a:defRPr>
            </a:pPr>
            <a:r>
              <a:rPr sz="1275" b="0" i="0">
                <a:solidFill>
                  <a:srgbClr val="183B56"/>
                </a:solidFill>
                <a:latin typeface="Arial"/>
                <a:ea typeface="Arial"/>
                <a:cs typeface="Arial"/>
              </a:rPr>
              <a:t>Q3</a:t>
            </a:r>
          </a:p>
        </p:txBody>
      </p:sp>
      <p:sp>
        <p:nvSpPr>
          <p:cNvPr id="25" name="">
            <a:extLst xmlns:a="http://schemas.openxmlformats.org/drawingml/2006/main">
              <a:ext uri="{FF2B5EF4-FFF2-40B4-BE49-F238E27FC236}">
                <a16:creationId xmlns:a16="http://schemas.microsoft.com/office/drawing/2014/main" id="{065854A2-3844-490C-92B3-34260E3A3010}"/>
              </a:ext>
            </a:extLst>
          </p:cNvPr>
          <p:cNvSpPr>
            <a:spLocks xmlns:a="http://schemas.openxmlformats.org/drawingml/2006/main" noGrp="1"/>
          </p:cNvSpPr>
          <p:nvPr/>
        </p:nvSpPr>
        <p:spPr>
          <a:xfrm xmlns:a="http://schemas.openxmlformats.org/drawingml/2006/main">
            <a:off x="885825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r">
              <a:defRPr sz="1275" b="1" i="0">
                <a:solidFill>
                  <a:srgbClr val="102A43"/>
                </a:solidFill>
                <a:latin typeface="Arial"/>
                <a:ea typeface="Arial"/>
                <a:cs typeface="Arial"/>
              </a:defRPr>
            </a:defPPr>
          </a:lstStyle>
          <a:p xmlns:a="http://schemas.openxmlformats.org/drawingml/2006/main">
            <a:pPr algn="r">
              <a:defRPr sz="1275" b="1" i="0">
                <a:solidFill>
                  <a:srgbClr val="102A43"/>
                </a:solidFill>
                <a:latin typeface="Arial"/>
                <a:ea typeface="Arial"/>
                <a:cs typeface="Arial"/>
              </a:defRPr>
            </a:pPr>
            <a:r>
              <a:rPr sz="1275" b="1" i="0">
                <a:solidFill>
                  <a:srgbClr val="102A43"/>
                </a:solidFill>
                <a:latin typeface="Arial"/>
                <a:ea typeface="Arial"/>
                <a:cs typeface="Arial"/>
              </a:rPr>
              <a:t>60 years</a:t>
            </a:r>
          </a:p>
        </p:txBody>
      </p:sp>
      <p:sp>
        <p:nvSpPr>
          <p:cNvPr id="26" name="">
            <a:extLst xmlns:a="http://schemas.openxmlformats.org/drawingml/2006/main">
              <a:ext uri="{FF2B5EF4-FFF2-40B4-BE49-F238E27FC236}">
                <a16:creationId xmlns:a16="http://schemas.microsoft.com/office/drawing/2014/main" id="{A31ED334-A3FC-43BE-B372-6E8C4228DFF8}"/>
              </a:ext>
            </a:extLst>
          </p:cNvPr>
          <p:cNvSpPr>
            <a:spLocks xmlns:a="http://schemas.openxmlformats.org/drawingml/2006/main" noGrp="1"/>
          </p:cNvSpPr>
          <p:nvPr/>
        </p:nvSpPr>
        <p:spPr>
          <a:xfrm xmlns:a="http://schemas.openxmlformats.org/drawingml/2006/main">
            <a:off x="6762750" y="4371975"/>
            <a:ext cx="47625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5A25A3B-3628-46B7-82A9-8B845D1949E2}"/>
              </a:ext>
            </a:extLst>
          </p:cNvPr>
          <p:cNvSpPr>
            <a:spLocks xmlns:a="http://schemas.openxmlformats.org/drawingml/2006/main" noGrp="1"/>
          </p:cNvSpPr>
          <p:nvPr/>
        </p:nvSpPr>
        <p:spPr>
          <a:xfrm xmlns:a="http://schemas.openxmlformats.org/drawingml/2006/main">
            <a:off x="6762750" y="4419600"/>
            <a:ext cx="2047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183B56"/>
                </a:solidFill>
                <a:latin typeface="Arial"/>
                <a:ea typeface="Arial"/>
                <a:cs typeface="Arial"/>
              </a:defRPr>
            </a:defPPr>
          </a:lstStyle>
          <a:p xmlns:a="http://schemas.openxmlformats.org/drawingml/2006/main">
            <a:pPr algn="l">
              <a:defRPr sz="1275" b="0" i="0">
                <a:solidFill>
                  <a:srgbClr val="183B56"/>
                </a:solidFill>
                <a:latin typeface="Arial"/>
                <a:ea typeface="Arial"/>
                <a:cs typeface="Arial"/>
              </a:defRPr>
            </a:pPr>
            <a:r>
              <a:rPr sz="1275" b="0" i="0">
                <a:solidFill>
                  <a:srgbClr val="183B56"/>
                </a:solidFill>
                <a:latin typeface="Arial"/>
                <a:ea typeface="Arial"/>
                <a:cs typeface="Arial"/>
              </a:rPr>
              <a:t>Upper whisker</a:t>
            </a:r>
          </a:p>
        </p:txBody>
      </p:sp>
      <p:sp>
        <p:nvSpPr>
          <p:cNvPr id="28" name="">
            <a:extLst xmlns:a="http://schemas.openxmlformats.org/drawingml/2006/main">
              <a:ext uri="{FF2B5EF4-FFF2-40B4-BE49-F238E27FC236}">
                <a16:creationId xmlns:a16="http://schemas.microsoft.com/office/drawing/2014/main" id="{B2ABD6EE-832F-4E96-9ECF-72C419A84181}"/>
              </a:ext>
            </a:extLst>
          </p:cNvPr>
          <p:cNvSpPr>
            <a:spLocks xmlns:a="http://schemas.openxmlformats.org/drawingml/2006/main" noGrp="1"/>
          </p:cNvSpPr>
          <p:nvPr/>
        </p:nvSpPr>
        <p:spPr>
          <a:xfrm xmlns:a="http://schemas.openxmlformats.org/drawingml/2006/main">
            <a:off x="8858250" y="441960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r">
              <a:defRPr sz="1275" b="1" i="0">
                <a:solidFill>
                  <a:srgbClr val="102A43"/>
                </a:solidFill>
                <a:latin typeface="Arial"/>
                <a:ea typeface="Arial"/>
                <a:cs typeface="Arial"/>
              </a:defRPr>
            </a:defPPr>
          </a:lstStyle>
          <a:p xmlns:a="http://schemas.openxmlformats.org/drawingml/2006/main">
            <a:pPr algn="r">
              <a:defRPr sz="1275" b="1" i="0">
                <a:solidFill>
                  <a:srgbClr val="102A43"/>
                </a:solidFill>
                <a:latin typeface="Arial"/>
                <a:ea typeface="Arial"/>
                <a:cs typeface="Arial"/>
              </a:defRPr>
            </a:pPr>
            <a:r>
              <a:rPr sz="1275" b="1" i="0">
                <a:solidFill>
                  <a:srgbClr val="102A43"/>
                </a:solidFill>
                <a:latin typeface="Arial"/>
                <a:ea typeface="Arial"/>
                <a:cs typeface="Arial"/>
              </a:rPr>
              <a:t>85 years</a:t>
            </a:r>
          </a:p>
        </p:txBody>
      </p:sp>
      <p:sp>
        <p:nvSpPr>
          <p:cNvPr id="29" name="">
            <a:extLst xmlns:a="http://schemas.openxmlformats.org/drawingml/2006/main">
              <a:ext uri="{FF2B5EF4-FFF2-40B4-BE49-F238E27FC236}">
                <a16:creationId xmlns:a16="http://schemas.microsoft.com/office/drawing/2014/main" id="{47A23CEE-BA42-484C-AABA-C5D50EDD251F}"/>
              </a:ext>
            </a:extLst>
          </p:cNvPr>
          <p:cNvSpPr>
            <a:spLocks xmlns:a="http://schemas.openxmlformats.org/drawingml/2006/main" noGrp="1"/>
          </p:cNvSpPr>
          <p:nvPr/>
        </p:nvSpPr>
        <p:spPr>
          <a:xfrm xmlns:a="http://schemas.openxmlformats.org/drawingml/2006/main">
            <a:off x="6762750" y="4695825"/>
            <a:ext cx="47625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0EAE977-907B-4372-BAA8-BAE3A3824C1A}"/>
              </a:ext>
            </a:extLst>
          </p:cNvPr>
          <p:cNvSpPr>
            <a:spLocks xmlns:a="http://schemas.openxmlformats.org/drawingml/2006/main" noGrp="1"/>
          </p:cNvSpPr>
          <p:nvPr/>
        </p:nvSpPr>
        <p:spPr>
          <a:xfrm xmlns:a="http://schemas.openxmlformats.org/drawingml/2006/main">
            <a:off x="6762750" y="4743450"/>
            <a:ext cx="2047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183B56"/>
                </a:solidFill>
                <a:latin typeface="Arial"/>
                <a:ea typeface="Arial"/>
                <a:cs typeface="Arial"/>
              </a:defRPr>
            </a:defPPr>
          </a:lstStyle>
          <a:p xmlns:a="http://schemas.openxmlformats.org/drawingml/2006/main">
            <a:pPr algn="l">
              <a:defRPr sz="1275" b="0" i="0">
                <a:solidFill>
                  <a:srgbClr val="183B56"/>
                </a:solidFill>
                <a:latin typeface="Arial"/>
                <a:ea typeface="Arial"/>
                <a:cs typeface="Arial"/>
              </a:defRPr>
            </a:pPr>
            <a:r>
              <a:rPr sz="1275" b="0" i="0">
                <a:solidFill>
                  <a:srgbClr val="183B56"/>
                </a:solidFill>
                <a:latin typeface="Arial"/>
                <a:ea typeface="Arial"/>
                <a:cs typeface="Arial"/>
              </a:rPr>
              <a:t>Outliers</a:t>
            </a:r>
          </a:p>
        </p:txBody>
      </p:sp>
      <p:sp>
        <p:nvSpPr>
          <p:cNvPr id="31" name="">
            <a:extLst xmlns:a="http://schemas.openxmlformats.org/drawingml/2006/main">
              <a:ext uri="{FF2B5EF4-FFF2-40B4-BE49-F238E27FC236}">
                <a16:creationId xmlns:a16="http://schemas.microsoft.com/office/drawing/2014/main" id="{D09B2326-328C-44F2-A7D3-CAB70DF4C355}"/>
              </a:ext>
            </a:extLst>
          </p:cNvPr>
          <p:cNvSpPr>
            <a:spLocks xmlns:a="http://schemas.openxmlformats.org/drawingml/2006/main" noGrp="1"/>
          </p:cNvSpPr>
          <p:nvPr/>
        </p:nvSpPr>
        <p:spPr>
          <a:xfrm xmlns:a="http://schemas.openxmlformats.org/drawingml/2006/main">
            <a:off x="8858250" y="47434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r">
              <a:defRPr sz="1275" b="1" i="0">
                <a:solidFill>
                  <a:srgbClr val="D9822B"/>
                </a:solidFill>
                <a:latin typeface="Arial"/>
                <a:ea typeface="Arial"/>
                <a:cs typeface="Arial"/>
              </a:defRPr>
            </a:defPPr>
          </a:lstStyle>
          <a:p xmlns:a="http://schemas.openxmlformats.org/drawingml/2006/main">
            <a:pPr algn="r">
              <a:defRPr sz="1275" b="1" i="0">
                <a:solidFill>
                  <a:srgbClr val="D9822B"/>
                </a:solidFill>
                <a:latin typeface="Arial"/>
                <a:ea typeface="Arial"/>
                <a:cs typeface="Arial"/>
              </a:defRPr>
            </a:pPr>
            <a:r>
              <a:rPr sz="1275" b="1" i="0">
                <a:solidFill>
                  <a:srgbClr val="D9822B"/>
                </a:solidFill>
                <a:latin typeface="Arial"/>
                <a:ea typeface="Arial"/>
                <a:cs typeface="Arial"/>
              </a:rPr>
              <a:t>85 rows: 150×46; 999×39</a:t>
            </a:r>
          </a:p>
        </p:txBody>
      </p:sp>
      <p:sp>
        <p:nvSpPr>
          <p:cNvPr id="32" name="">
            <a:extLst xmlns:a="http://schemas.openxmlformats.org/drawingml/2006/main">
              <a:ext uri="{FF2B5EF4-FFF2-40B4-BE49-F238E27FC236}">
                <a16:creationId xmlns:a16="http://schemas.microsoft.com/office/drawing/2014/main" id="{6B3FDD12-117A-465A-AE1F-F6CD8D7B9CCF}"/>
              </a:ext>
            </a:extLst>
          </p:cNvPr>
          <p:cNvSpPr>
            <a:spLocks xmlns:a="http://schemas.openxmlformats.org/drawingml/2006/main" noGrp="1"/>
          </p:cNvSpPr>
          <p:nvPr/>
        </p:nvSpPr>
        <p:spPr>
          <a:xfrm xmlns:a="http://schemas.openxmlformats.org/drawingml/2006/main">
            <a:off x="609600" y="5276850"/>
            <a:ext cx="10972800" cy="19050"/>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AEF7C99-AD44-4A06-92C5-34DC9D8B41DC}"/>
              </a:ext>
            </a:extLst>
          </p:cNvPr>
          <p:cNvSpPr>
            <a:spLocks xmlns:a="http://schemas.openxmlformats.org/drawingml/2006/main" noGrp="1"/>
          </p:cNvSpPr>
          <p:nvPr/>
        </p:nvSpPr>
        <p:spPr>
          <a:xfrm xmlns:a="http://schemas.openxmlformats.org/drawingml/2006/main">
            <a:off x="609600" y="54673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087E8B"/>
                </a:solidFill>
                <a:latin typeface="Arial"/>
                <a:ea typeface="Arial"/>
                <a:cs typeface="Arial"/>
              </a:defRPr>
            </a:defPPr>
          </a:lstStyle>
          <a:p xmlns:a="http://schemas.openxmlformats.org/drawingml/2006/main">
            <a:pPr algn="l">
              <a:defRPr sz="1050" b="1" i="0">
                <a:solidFill>
                  <a:srgbClr val="087E8B"/>
                </a:solidFill>
                <a:latin typeface="Arial"/>
                <a:ea typeface="Arial"/>
                <a:cs typeface="Arial"/>
              </a:defRPr>
            </a:pPr>
            <a:r>
              <a:rPr sz="1050" b="1" i="0">
                <a:solidFill>
                  <a:srgbClr val="087E8B"/>
                </a:solidFill>
                <a:latin typeface="Arial"/>
                <a:ea typeface="Arial"/>
                <a:cs typeface="Arial"/>
              </a:rPr>
              <a:t>INTERPRETATION</a:t>
            </a:r>
          </a:p>
        </p:txBody>
      </p:sp>
      <p:sp>
        <p:nvSpPr>
          <p:cNvPr id="34" name="">
            <a:extLst xmlns:a="http://schemas.openxmlformats.org/drawingml/2006/main">
              <a:ext uri="{FF2B5EF4-FFF2-40B4-BE49-F238E27FC236}">
                <a16:creationId xmlns:a16="http://schemas.microsoft.com/office/drawing/2014/main" id="{4656D87F-978D-4B0E-83E5-B8DFA852CBE9}"/>
              </a:ext>
            </a:extLst>
          </p:cNvPr>
          <p:cNvSpPr>
            <a:spLocks xmlns:a="http://schemas.openxmlformats.org/drawingml/2006/main" noGrp="1"/>
          </p:cNvSpPr>
          <p:nvPr/>
        </p:nvSpPr>
        <p:spPr>
          <a:xfrm xmlns:a="http://schemas.openxmlformats.org/drawingml/2006/main">
            <a:off x="2381250" y="5381625"/>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425" b="1" i="0">
                <a:solidFill>
                  <a:srgbClr val="102A43"/>
                </a:solidFill>
                <a:latin typeface="Arial"/>
                <a:ea typeface="Arial"/>
                <a:cs typeface="Arial"/>
              </a:defRPr>
            </a:defPPr>
          </a:lstStyle>
          <a:p xmlns:a="http://schemas.openxmlformats.org/drawingml/2006/main">
            <a:pPr algn="l">
              <a:defRPr sz="1425" b="1" i="0">
                <a:solidFill>
                  <a:srgbClr val="102A43"/>
                </a:solidFill>
                <a:latin typeface="Arial"/>
                <a:ea typeface="Arial"/>
                <a:cs typeface="Arial"/>
              </a:defRPr>
            </a:pPr>
            <a:r>
              <a:rPr sz="1425" b="1" i="0">
                <a:solidFill>
                  <a:srgbClr val="102A43"/>
                </a:solidFill>
                <a:latin typeface="Arial"/>
                <a:ea typeface="Arial"/>
                <a:cs typeface="Arial"/>
              </a:rPr>
              <a:t>85/40,600 = 0.21%; all 85 exceed 108, none fall below −20. Review before correction.</a:t>
            </a:r>
          </a:p>
        </p:txBody>
      </p:sp>
    </p:spTree>
    <p:extLst>
      <p:ext uri="{BB962C8B-B14F-4D97-AF65-F5344CB8AC3E}">
        <p14:creationId xmlns:p14="http://schemas.microsoft.com/office/powerpoint/2010/main" val="573173399"/>
      </p:ext>
    </p:extLst>
  </p:cSld>
</p:sld>
</file>

<file path=ppt/slides/slide6.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FBEFEED-D707-4CE7-9C87-296105B1DC76}"/>
              </a:ext>
            </a:extLst>
          </p:cNvPr>
          <p:cNvSpPr>
            <a:spLocks xmlns:a="http://schemas.openxmlformats.org/drawingml/2006/main" noGrp="1"/>
          </p:cNvSpPr>
          <p:nvPr/>
        </p:nvSpPr>
        <p:spPr>
          <a:xfrm xmlns:a="http://schemas.openxmlformats.org/drawingml/2006/main">
            <a:off x="609600" y="3619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925" b="1" i="0">
                <a:solidFill>
                  <a:srgbClr val="102A43"/>
                </a:solidFill>
                <a:latin typeface="Arial"/>
                <a:ea typeface="Arial"/>
                <a:cs typeface="Arial"/>
              </a:defRPr>
            </a:defPPr>
          </a:lstStyle>
          <a:p xmlns:a="http://schemas.openxmlformats.org/drawingml/2006/main">
            <a:pPr algn="l">
              <a:defRPr sz="2925" b="1" i="0">
                <a:solidFill>
                  <a:srgbClr val="102A43"/>
                </a:solidFill>
                <a:latin typeface="Arial"/>
                <a:ea typeface="Arial"/>
                <a:cs typeface="Arial"/>
              </a:defRPr>
            </a:pPr>
            <a:r>
              <a:rPr sz="2925" b="1" i="0">
                <a:solidFill>
                  <a:srgbClr val="102A43"/>
                </a:solidFill>
                <a:latin typeface="Arial"/>
                <a:ea typeface="Arial"/>
                <a:cs typeface="Arial"/>
              </a:rPr>
              <a:t>Daily patient records</a:t>
            </a:r>
          </a:p>
        </p:txBody>
      </p:sp>
      <p:sp>
        <p:nvSpPr>
          <p:cNvPr id="2" name="">
            <a:extLst xmlns:a="http://schemas.openxmlformats.org/drawingml/2006/main">
              <a:ext uri="{FF2B5EF4-FFF2-40B4-BE49-F238E27FC236}">
                <a16:creationId xmlns:a16="http://schemas.microsoft.com/office/drawing/2014/main" id="{CECB6B74-3601-4B64-8E32-DC55856A5316}"/>
              </a:ext>
            </a:extLst>
          </p:cNvPr>
          <p:cNvSpPr>
            <a:spLocks xmlns:a="http://schemas.openxmlformats.org/drawingml/2006/main" noGrp="1"/>
          </p:cNvSpPr>
          <p:nvPr/>
        </p:nvSpPr>
        <p:spPr>
          <a:xfrm xmlns:a="http://schemas.openxmlformats.org/drawingml/2006/main">
            <a:off x="628650" y="895350"/>
            <a:ext cx="10934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627D98"/>
                </a:solidFill>
                <a:latin typeface="Arial"/>
                <a:ea typeface="Arial"/>
                <a:cs typeface="Arial"/>
              </a:defRPr>
            </a:defPPr>
          </a:lstStyle>
          <a:p xmlns:a="http://schemas.openxmlformats.org/drawingml/2006/main">
            <a:pPr algn="l">
              <a:defRPr sz="1275" b="0" i="0">
                <a:solidFill>
                  <a:srgbClr val="627D98"/>
                </a:solidFill>
                <a:latin typeface="Arial"/>
                <a:ea typeface="Arial"/>
                <a:cs typeface="Arial"/>
              </a:defRPr>
            </a:pPr>
            <a:r>
              <a:rPr sz="1275" b="0" i="0">
                <a:solidFill>
                  <a:srgbClr val="627D98"/>
                </a:solidFill>
                <a:latin typeface="Arial"/>
                <a:ea typeface="Arial"/>
                <a:cs typeface="Arial"/>
              </a:rPr>
              <a:t>Line chart  |  Admissions by date, June 2026</a:t>
            </a:r>
          </a:p>
        </p:txBody>
      </p:sp>
      <p:sp>
        <p:nvSpPr>
          <p:cNvPr id="3" name="">
            <a:extLst xmlns:a="http://schemas.openxmlformats.org/drawingml/2006/main">
              <a:ext uri="{FF2B5EF4-FFF2-40B4-BE49-F238E27FC236}">
                <a16:creationId xmlns:a16="http://schemas.microsoft.com/office/drawing/2014/main" id="{007CCCFD-4CF6-43B5-8EED-50DF177DE42B}"/>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4CB157F-DC1F-4B20-A14B-076F2E14A24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548E5B4-FACB-42FC-B14E-3235184DBE56}"/>
              </a:ext>
            </a:extLst>
          </p:cNvPr>
          <p:cNvSpPr>
            <a:spLocks xmlns:a="http://schemas.openxmlformats.org/drawingml/2006/main" noGrp="1"/>
          </p:cNvSpPr>
          <p:nvPr/>
        </p:nvSpPr>
        <p:spPr>
          <a:xfrm xmlns:a="http://schemas.openxmlformats.org/drawingml/2006/main">
            <a:off x="609600" y="649605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900" b="1" i="0">
                <a:solidFill>
                  <a:srgbClr val="627D98"/>
                </a:solidFill>
                <a:latin typeface="Arial"/>
                <a:ea typeface="Arial"/>
                <a:cs typeface="Arial"/>
              </a:defRPr>
            </a:defPPr>
          </a:lstStyle>
          <a:p xmlns:a="http://schemas.openxmlformats.org/drawingml/2006/main">
            <a:pPr algn="l">
              <a:defRPr sz="900" b="1" i="0">
                <a:solidFill>
                  <a:srgbClr val="627D98"/>
                </a:solidFill>
                <a:latin typeface="Arial"/>
                <a:ea typeface="Arial"/>
                <a:cs typeface="Arial"/>
              </a:defRPr>
            </a:pPr>
            <a:r>
              <a:rPr sz="900" b="1" i="0">
                <a:solidFill>
                  <a:srgbClr val="627D98"/>
                </a:solidFill>
                <a:latin typeface="Arial"/>
                <a:ea typeface="Arial"/>
                <a:cs typeface="Arial"/>
              </a:rPr>
              <a:t>HOSPITAL PATIENT ANALYTICS  /  JUNE 2026</a:t>
            </a:r>
          </a:p>
        </p:txBody>
      </p:sp>
      <p:sp>
        <p:nvSpPr>
          <p:cNvPr id="6" name="">
            <a:extLst xmlns:a="http://schemas.openxmlformats.org/drawingml/2006/main">
              <a:ext uri="{FF2B5EF4-FFF2-40B4-BE49-F238E27FC236}">
                <a16:creationId xmlns:a16="http://schemas.microsoft.com/office/drawing/2014/main" id="{483F6943-5C11-417D-A11E-6F9E861C9F7B}"/>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r">
              <a:defRPr sz="1050" b="1" i="0">
                <a:solidFill>
                  <a:srgbClr val="627D98"/>
                </a:solidFill>
                <a:latin typeface="Arial"/>
                <a:ea typeface="Arial"/>
                <a:cs typeface="Arial"/>
              </a:defRPr>
            </a:defPPr>
          </a:lstStyle>
          <a:p xmlns:a="http://schemas.openxmlformats.org/drawingml/2006/main">
            <a:pPr algn="r">
              <a:defRPr sz="1050" b="1" i="0">
                <a:solidFill>
                  <a:srgbClr val="627D98"/>
                </a:solidFill>
                <a:latin typeface="Arial"/>
                <a:ea typeface="Arial"/>
                <a:cs typeface="Arial"/>
              </a:defRPr>
            </a:pPr>
            <a:r>
              <a:rPr sz="1050" b="1" i="0">
                <a:solidFill>
                  <a:srgbClr val="627D98"/>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FDD57370-0FF5-483D-895C-D9316B3A03BD}"/>
              </a:ext>
            </a:extLst>
          </p:cNvPr>
          <p:cNvSpPr>
            <a:spLocks xmlns:a="http://schemas.openxmlformats.org/drawingml/2006/main" noGrp="1"/>
          </p:cNvSpPr>
          <p:nvPr/>
        </p:nvSpPr>
        <p:spPr>
          <a:xfrm xmlns:a="http://schemas.openxmlformats.org/drawingml/2006/main">
            <a:off x="609600" y="1381125"/>
            <a:ext cx="4095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725" b="1" i="0">
                <a:solidFill>
                  <a:srgbClr val="102A43"/>
                </a:solidFill>
                <a:latin typeface="Arial"/>
                <a:ea typeface="Arial"/>
                <a:cs typeface="Arial"/>
              </a:defRPr>
            </a:defPPr>
          </a:lstStyle>
          <a:p xmlns:a="http://schemas.openxmlformats.org/drawingml/2006/main">
            <a:pPr algn="l">
              <a:defRPr sz="1725" b="1" i="0">
                <a:solidFill>
                  <a:srgbClr val="102A43"/>
                </a:solidFill>
                <a:latin typeface="Arial"/>
                <a:ea typeface="Arial"/>
                <a:cs typeface="Arial"/>
              </a:defRPr>
            </a:pPr>
            <a:r>
              <a:rPr sz="1725" b="1" i="0">
                <a:solidFill>
                  <a:srgbClr val="102A43"/>
                </a:solidFill>
                <a:latin typeface="Arial"/>
                <a:ea typeface="Arial"/>
                <a:cs typeface="Arial"/>
              </a:rPr>
              <a:t>Primary insight</a:t>
            </a:r>
          </a:p>
        </p:txBody>
      </p:sp>
      <p:sp>
        <p:nvSpPr>
          <p:cNvPr id="8" name="">
            <a:extLst xmlns:a="http://schemas.openxmlformats.org/drawingml/2006/main">
              <a:ext uri="{FF2B5EF4-FFF2-40B4-BE49-F238E27FC236}">
                <a16:creationId xmlns:a16="http://schemas.microsoft.com/office/drawing/2014/main" id="{425E11B8-801B-422F-89AD-70AF7E82E5FD}"/>
              </a:ext>
            </a:extLst>
          </p:cNvPr>
          <p:cNvSpPr>
            <a:spLocks xmlns:a="http://schemas.openxmlformats.org/drawingml/2006/main" noGrp="1"/>
          </p:cNvSpPr>
          <p:nvPr/>
        </p:nvSpPr>
        <p:spPr>
          <a:xfrm xmlns:a="http://schemas.openxmlformats.org/drawingml/2006/main">
            <a:off x="609600" y="1943100"/>
            <a:ext cx="4095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00" b="0" i="0">
                <a:solidFill>
                  <a:srgbClr val="183B56"/>
                </a:solidFill>
                <a:latin typeface="Arial"/>
                <a:ea typeface="Arial"/>
                <a:cs typeface="Arial"/>
              </a:defRPr>
            </a:defPPr>
          </a:lstStyle>
          <a:p xmlns:a="http://schemas.openxmlformats.org/drawingml/2006/main">
            <a:pPr algn="l">
              <a:defRPr sz="1500" b="0" i="0">
                <a:solidFill>
                  <a:srgbClr val="183B56"/>
                </a:solidFill>
                <a:latin typeface="Arial"/>
                <a:ea typeface="Arial"/>
                <a:cs typeface="Arial"/>
              </a:defRPr>
            </a:pPr>
            <a:r>
              <a:rPr sz="1500" b="0" i="0">
                <a:solidFill>
                  <a:srgbClr val="183B56"/>
                </a:solidFill>
                <a:latin typeface="Arial"/>
                <a:ea typeface="Arial"/>
                <a:cs typeface="Arial"/>
              </a:rPr>
              <a:t>Most dates cluster near 1,500 records; four Sundays fall sharply.</a:t>
            </a:r>
          </a:p>
        </p:txBody>
      </p:sp>
      <p:sp>
        <p:nvSpPr>
          <p:cNvPr id="9" name="">
            <a:extLst xmlns:a="http://schemas.openxmlformats.org/drawingml/2006/main">
              <a:ext uri="{FF2B5EF4-FFF2-40B4-BE49-F238E27FC236}">
                <a16:creationId xmlns:a16="http://schemas.microsoft.com/office/drawing/2014/main" id="{F1D5C552-297F-4ED9-AAF8-712F00B92983}"/>
              </a:ext>
            </a:extLst>
          </p:cNvPr>
          <p:cNvSpPr>
            <a:spLocks xmlns:a="http://schemas.openxmlformats.org/drawingml/2006/main" noGrp="1"/>
          </p:cNvSpPr>
          <p:nvPr/>
        </p:nvSpPr>
        <p:spPr>
          <a:xfrm xmlns:a="http://schemas.openxmlformats.org/drawingml/2006/main">
            <a:off x="609600" y="27813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087E8B"/>
                </a:solidFill>
                <a:latin typeface="Arial"/>
                <a:ea typeface="Arial"/>
                <a:cs typeface="Arial"/>
              </a:defRPr>
            </a:defPPr>
          </a:lstStyle>
          <a:p xmlns:a="http://schemas.openxmlformats.org/drawingml/2006/main">
            <a:pPr algn="l">
              <a:defRPr sz="1050" b="1" i="0">
                <a:solidFill>
                  <a:srgbClr val="087E8B"/>
                </a:solidFill>
                <a:latin typeface="Arial"/>
                <a:ea typeface="Arial"/>
                <a:cs typeface="Arial"/>
              </a:defRPr>
            </a:pPr>
            <a:r>
              <a:rPr sz="1050" b="1" i="0">
                <a:solidFill>
                  <a:srgbClr val="087E8B"/>
                </a:solidFill>
                <a:latin typeface="Arial"/>
                <a:ea typeface="Arial"/>
                <a:cs typeface="Arial"/>
              </a:rPr>
              <a:t>KEY OBSERVATIONS</a:t>
            </a:r>
          </a:p>
        </p:txBody>
      </p:sp>
      <p:sp>
        <p:nvSpPr>
          <p:cNvPr id="10" name="">
            <a:extLst xmlns:a="http://schemas.openxmlformats.org/drawingml/2006/main">
              <a:ext uri="{FF2B5EF4-FFF2-40B4-BE49-F238E27FC236}">
                <a16:creationId xmlns:a16="http://schemas.microsoft.com/office/drawing/2014/main" id="{A82AA5AF-A336-4804-8A92-4B9FAAB7244A}"/>
              </a:ext>
            </a:extLst>
          </p:cNvPr>
          <p:cNvSpPr>
            <a:spLocks xmlns:a="http://schemas.openxmlformats.org/drawingml/2006/main" noGrp="1"/>
          </p:cNvSpPr>
          <p:nvPr/>
        </p:nvSpPr>
        <p:spPr>
          <a:xfrm xmlns:a="http://schemas.openxmlformats.org/drawingml/2006/main">
            <a:off x="609600" y="3086100"/>
            <a:ext cx="400050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a:solidFill>
                  <a:srgbClr val="183B56"/>
                </a:solidFill>
                <a:latin typeface="Arial"/>
                <a:ea typeface="Arial"/>
                <a:cs typeface="Arial"/>
              </a:defRPr>
            </a:defPPr>
          </a:lstStyle>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Median: 1,529 records per day.</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Peak: 1,627 records on 13 June.</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Sundays: 190–229 records, about 85% below median.</a:t>
            </a:r>
          </a:p>
        </p:txBody>
      </p:sp>
      <p:sp>
        <p:nvSpPr>
          <p:cNvPr id="11" name="">
            <a:extLst xmlns:a="http://schemas.openxmlformats.org/drawingml/2006/main">
              <a:ext uri="{FF2B5EF4-FFF2-40B4-BE49-F238E27FC236}">
                <a16:creationId xmlns:a16="http://schemas.microsoft.com/office/drawing/2014/main" id="{084892BA-EEB0-4959-88BA-979421F97D56}"/>
              </a:ext>
            </a:extLst>
          </p:cNvPr>
          <p:cNvSpPr>
            <a:spLocks xmlns:a="http://schemas.openxmlformats.org/drawingml/2006/main" noGrp="1"/>
          </p:cNvSpPr>
          <p:nvPr/>
        </p:nvSpPr>
        <p:spPr>
          <a:xfrm xmlns:a="http://schemas.openxmlformats.org/drawingml/2006/main">
            <a:off x="5105400" y="1438275"/>
            <a:ext cx="9525" cy="40957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graphicFrame>
        <p:nvGraphicFramePr>
          <p:cNvPr id="12" name="Chart">
            <a:extLst xmlns:a="http://schemas.openxmlformats.org/drawingml/2006/main">
              <a:ext uri="{FF2B5EF4-FFF2-40B4-BE49-F238E27FC236}">
                <a16:creationId xmlns:a16="http://schemas.microsoft.com/office/drawing/2014/main" id="{C3C25F0D-B5DC-4E86-8002-EB2B7EE31F48}"/>
              </a:ext>
            </a:extLst>
          </p:cNvPr>
          <p:cNvGraphicFramePr/>
          <p:nvPr/>
        </p:nvGraphicFramePr>
        <p:xfrm>
          <a:off xmlns:a="http://schemas.openxmlformats.org/drawingml/2006/main" x="5257800" y="1504950"/>
          <a:ext xmlns:a="http://schemas.openxmlformats.org/drawingml/2006/main" cx="6286500" cy="3619500"/>
        </p:xfrm>
        <a:graphic xmlns:a="http://schemas.openxmlformats.org/drawingml/2006/main">
          <a:graphicData uri="http://schemas.openxmlformats.org/drawingml/2006/chart">
            <c:chart xmlns:r="http://schemas.openxmlformats.org/officeDocument/2006/relationships" xmlns:c="http://schemas.openxmlformats.org/drawingml/2006/chart" r:id="R1ebad86ebfc54655"/>
          </a:graphicData>
        </a:graphic>
      </p:graphicFrame>
      <p:sp>
        <p:nvSpPr>
          <p:cNvPr id="13" name="">
            <a:extLst xmlns:a="http://schemas.openxmlformats.org/drawingml/2006/main">
              <a:ext uri="{FF2B5EF4-FFF2-40B4-BE49-F238E27FC236}">
                <a16:creationId xmlns:a16="http://schemas.microsoft.com/office/drawing/2014/main" id="{71702411-F3E6-43D5-B1E7-5F99B8ABE8FD}"/>
              </a:ext>
            </a:extLst>
          </p:cNvPr>
          <p:cNvSpPr>
            <a:spLocks xmlns:a="http://schemas.openxmlformats.org/drawingml/2006/main" noGrp="1"/>
          </p:cNvSpPr>
          <p:nvPr/>
        </p:nvSpPr>
        <p:spPr>
          <a:xfrm xmlns:a="http://schemas.openxmlformats.org/drawingml/2006/main">
            <a:off x="609600" y="5314950"/>
            <a:ext cx="109728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33DE96F-374C-4E3F-927C-5477E4CE7CCF}"/>
              </a:ext>
            </a:extLst>
          </p:cNvPr>
          <p:cNvSpPr>
            <a:spLocks xmlns:a="http://schemas.openxmlformats.org/drawingml/2006/main" noGrp="1"/>
          </p:cNvSpPr>
          <p:nvPr/>
        </p:nvSpPr>
        <p:spPr>
          <a:xfrm xmlns:a="http://schemas.openxmlformats.org/drawingml/2006/main">
            <a:off x="609600" y="54673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087E8B"/>
                </a:solidFill>
                <a:latin typeface="Arial"/>
                <a:ea typeface="Arial"/>
                <a:cs typeface="Arial"/>
              </a:defRPr>
            </a:defPPr>
          </a:lstStyle>
          <a:p xmlns:a="http://schemas.openxmlformats.org/drawingml/2006/main">
            <a:pPr algn="l">
              <a:defRPr sz="1050" b="1" i="0">
                <a:solidFill>
                  <a:srgbClr val="087E8B"/>
                </a:solidFill>
                <a:latin typeface="Arial"/>
                <a:ea typeface="Arial"/>
                <a:cs typeface="Arial"/>
              </a:defRPr>
            </a:pPr>
            <a:r>
              <a:rPr sz="1050" b="1" i="0">
                <a:solidFill>
                  <a:srgbClr val="087E8B"/>
                </a:solidFill>
                <a:latin typeface="Arial"/>
                <a:ea typeface="Arial"/>
                <a:cs typeface="Arial"/>
              </a:rPr>
              <a:t>DECISION IMPLICATION</a:t>
            </a:r>
          </a:p>
        </p:txBody>
      </p:sp>
      <p:sp>
        <p:nvSpPr>
          <p:cNvPr id="15" name="">
            <a:extLst xmlns:a="http://schemas.openxmlformats.org/drawingml/2006/main">
              <a:ext uri="{FF2B5EF4-FFF2-40B4-BE49-F238E27FC236}">
                <a16:creationId xmlns:a16="http://schemas.microsoft.com/office/drawing/2014/main" id="{21F1A765-D39B-429E-863F-933BF4F4E58A}"/>
              </a:ext>
            </a:extLst>
          </p:cNvPr>
          <p:cNvSpPr>
            <a:spLocks xmlns:a="http://schemas.openxmlformats.org/drawingml/2006/main" noGrp="1"/>
          </p:cNvSpPr>
          <p:nvPr/>
        </p:nvSpPr>
        <p:spPr>
          <a:xfrm xmlns:a="http://schemas.openxmlformats.org/drawingml/2006/main">
            <a:off x="2762250" y="5410200"/>
            <a:ext cx="8820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75" b="1" i="0">
                <a:solidFill>
                  <a:srgbClr val="102A43"/>
                </a:solidFill>
                <a:latin typeface="Arial"/>
                <a:ea typeface="Arial"/>
                <a:cs typeface="Arial"/>
              </a:defRPr>
            </a:defPPr>
          </a:lstStyle>
          <a:p xmlns:a="http://schemas.openxmlformats.org/drawingml/2006/main">
            <a:pPr algn="l">
              <a:defRPr sz="1575" b="1" i="0">
                <a:solidFill>
                  <a:srgbClr val="102A43"/>
                </a:solidFill>
                <a:latin typeface="Arial"/>
                <a:ea typeface="Arial"/>
                <a:cs typeface="Arial"/>
              </a:defRPr>
            </a:pPr>
            <a:r>
              <a:rPr sz="1575" b="1" i="0">
                <a:solidFill>
                  <a:srgbClr val="102A43"/>
                </a:solidFill>
                <a:latin typeface="Arial"/>
                <a:ea typeface="Arial"/>
                <a:cs typeface="Arial"/>
              </a:rPr>
              <a:t>Verify Sunday reporting and operating schedules before changing staffing.</a:t>
            </a:r>
          </a:p>
        </p:txBody>
      </p:sp>
    </p:spTree>
    <p:extLst>
      <p:ext uri="{BB962C8B-B14F-4D97-AF65-F5344CB8AC3E}">
        <p14:creationId xmlns:p14="http://schemas.microsoft.com/office/powerpoint/2010/main" val="239289779"/>
      </p:ext>
    </p:extLst>
  </p:cSld>
</p:sld>
</file>

<file path=ppt/slides/slide7.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62BB3A7-6078-4057-8E93-F0B0A2BC0E97}"/>
              </a:ext>
            </a:extLst>
          </p:cNvPr>
          <p:cNvSpPr>
            <a:spLocks xmlns:a="http://schemas.openxmlformats.org/drawingml/2006/main" noGrp="1"/>
          </p:cNvSpPr>
          <p:nvPr/>
        </p:nvSpPr>
        <p:spPr>
          <a:xfrm xmlns:a="http://schemas.openxmlformats.org/drawingml/2006/main">
            <a:off x="609600" y="3619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925" b="1" i="0">
                <a:solidFill>
                  <a:srgbClr val="102A43"/>
                </a:solidFill>
                <a:latin typeface="Arial"/>
                <a:ea typeface="Arial"/>
                <a:cs typeface="Arial"/>
              </a:defRPr>
            </a:defPPr>
          </a:lstStyle>
          <a:p xmlns:a="http://schemas.openxmlformats.org/drawingml/2006/main">
            <a:pPr algn="l">
              <a:defRPr sz="2925" b="1" i="0">
                <a:solidFill>
                  <a:srgbClr val="102A43"/>
                </a:solidFill>
                <a:latin typeface="Arial"/>
                <a:ea typeface="Arial"/>
                <a:cs typeface="Arial"/>
              </a:defRPr>
            </a:pPr>
            <a:r>
              <a:rPr sz="2925" b="1" i="0">
                <a:solidFill>
                  <a:srgbClr val="102A43"/>
                </a:solidFill>
                <a:latin typeface="Arial"/>
                <a:ea typeface="Arial"/>
                <a:cs typeface="Arial"/>
              </a:rPr>
              <a:t>OPD and IPD service mix</a:t>
            </a:r>
          </a:p>
        </p:txBody>
      </p:sp>
      <p:sp>
        <p:nvSpPr>
          <p:cNvPr id="2" name="">
            <a:extLst xmlns:a="http://schemas.openxmlformats.org/drawingml/2006/main">
              <a:ext uri="{FF2B5EF4-FFF2-40B4-BE49-F238E27FC236}">
                <a16:creationId xmlns:a16="http://schemas.microsoft.com/office/drawing/2014/main" id="{2DE6DB23-687C-4755-BF81-8DA81D05DBF9}"/>
              </a:ext>
            </a:extLst>
          </p:cNvPr>
          <p:cNvSpPr>
            <a:spLocks xmlns:a="http://schemas.openxmlformats.org/drawingml/2006/main" noGrp="1"/>
          </p:cNvSpPr>
          <p:nvPr/>
        </p:nvSpPr>
        <p:spPr>
          <a:xfrm xmlns:a="http://schemas.openxmlformats.org/drawingml/2006/main">
            <a:off x="628650" y="895350"/>
            <a:ext cx="10934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627D98"/>
                </a:solidFill>
                <a:latin typeface="Arial"/>
                <a:ea typeface="Arial"/>
                <a:cs typeface="Arial"/>
              </a:defRPr>
            </a:defPPr>
          </a:lstStyle>
          <a:p xmlns:a="http://schemas.openxmlformats.org/drawingml/2006/main">
            <a:pPr algn="l">
              <a:defRPr sz="1275" b="0" i="0">
                <a:solidFill>
                  <a:srgbClr val="627D98"/>
                </a:solidFill>
                <a:latin typeface="Arial"/>
                <a:ea typeface="Arial"/>
                <a:cs typeface="Arial"/>
              </a:defRPr>
            </a:pPr>
            <a:r>
              <a:rPr sz="1275" b="0" i="0">
                <a:solidFill>
                  <a:srgbClr val="627D98"/>
                </a:solidFill>
                <a:latin typeface="Arial"/>
                <a:ea typeface="Arial"/>
                <a:cs typeface="Arial"/>
              </a:rPr>
              <a:t>Doughnut chart  |  Share of cleaned records</a:t>
            </a:r>
          </a:p>
        </p:txBody>
      </p:sp>
      <p:sp>
        <p:nvSpPr>
          <p:cNvPr id="3" name="">
            <a:extLst xmlns:a="http://schemas.openxmlformats.org/drawingml/2006/main">
              <a:ext uri="{FF2B5EF4-FFF2-40B4-BE49-F238E27FC236}">
                <a16:creationId xmlns:a16="http://schemas.microsoft.com/office/drawing/2014/main" id="{1BA3D197-8F87-41CC-9B84-2FCCC1A65DB6}"/>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587252F-0710-421F-B161-D067560B82E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C0144A1-64EB-4CCA-95FF-078F5F5FA448}"/>
              </a:ext>
            </a:extLst>
          </p:cNvPr>
          <p:cNvSpPr>
            <a:spLocks xmlns:a="http://schemas.openxmlformats.org/drawingml/2006/main" noGrp="1"/>
          </p:cNvSpPr>
          <p:nvPr/>
        </p:nvSpPr>
        <p:spPr>
          <a:xfrm xmlns:a="http://schemas.openxmlformats.org/drawingml/2006/main">
            <a:off x="609600" y="649605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900" b="1" i="0">
                <a:solidFill>
                  <a:srgbClr val="627D98"/>
                </a:solidFill>
                <a:latin typeface="Arial"/>
                <a:ea typeface="Arial"/>
                <a:cs typeface="Arial"/>
              </a:defRPr>
            </a:defPPr>
          </a:lstStyle>
          <a:p xmlns:a="http://schemas.openxmlformats.org/drawingml/2006/main">
            <a:pPr algn="l">
              <a:defRPr sz="900" b="1" i="0">
                <a:solidFill>
                  <a:srgbClr val="627D98"/>
                </a:solidFill>
                <a:latin typeface="Arial"/>
                <a:ea typeface="Arial"/>
                <a:cs typeface="Arial"/>
              </a:defRPr>
            </a:pPr>
            <a:r>
              <a:rPr sz="900" b="1" i="0">
                <a:solidFill>
                  <a:srgbClr val="627D98"/>
                </a:solidFill>
                <a:latin typeface="Arial"/>
                <a:ea typeface="Arial"/>
                <a:cs typeface="Arial"/>
              </a:rPr>
              <a:t>HOSPITAL PATIENT ANALYTICS  /  JUNE 2026</a:t>
            </a:r>
          </a:p>
        </p:txBody>
      </p:sp>
      <p:sp>
        <p:nvSpPr>
          <p:cNvPr id="6" name="">
            <a:extLst xmlns:a="http://schemas.openxmlformats.org/drawingml/2006/main">
              <a:ext uri="{FF2B5EF4-FFF2-40B4-BE49-F238E27FC236}">
                <a16:creationId xmlns:a16="http://schemas.microsoft.com/office/drawing/2014/main" id="{1758A45E-A218-4540-AF67-FC348DB24333}"/>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r">
              <a:defRPr sz="1050" b="1" i="0">
                <a:solidFill>
                  <a:srgbClr val="627D98"/>
                </a:solidFill>
                <a:latin typeface="Arial"/>
                <a:ea typeface="Arial"/>
                <a:cs typeface="Arial"/>
              </a:defRPr>
            </a:defPPr>
          </a:lstStyle>
          <a:p xmlns:a="http://schemas.openxmlformats.org/drawingml/2006/main">
            <a:pPr algn="r">
              <a:defRPr sz="1050" b="1" i="0">
                <a:solidFill>
                  <a:srgbClr val="627D98"/>
                </a:solidFill>
                <a:latin typeface="Arial"/>
                <a:ea typeface="Arial"/>
                <a:cs typeface="Arial"/>
              </a:defRPr>
            </a:pPr>
            <a:r>
              <a:rPr sz="1050" b="1" i="0">
                <a:solidFill>
                  <a:srgbClr val="627D98"/>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42632167-710C-474E-82AB-4A2D03532442}"/>
              </a:ext>
            </a:extLst>
          </p:cNvPr>
          <p:cNvSpPr>
            <a:spLocks xmlns:a="http://schemas.openxmlformats.org/drawingml/2006/main" noGrp="1"/>
          </p:cNvSpPr>
          <p:nvPr/>
        </p:nvSpPr>
        <p:spPr>
          <a:xfrm xmlns:a="http://schemas.openxmlformats.org/drawingml/2006/main">
            <a:off x="609600" y="1381125"/>
            <a:ext cx="4095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725" b="1" i="0">
                <a:solidFill>
                  <a:srgbClr val="102A43"/>
                </a:solidFill>
                <a:latin typeface="Arial"/>
                <a:ea typeface="Arial"/>
                <a:cs typeface="Arial"/>
              </a:defRPr>
            </a:defPPr>
          </a:lstStyle>
          <a:p xmlns:a="http://schemas.openxmlformats.org/drawingml/2006/main">
            <a:pPr algn="l">
              <a:defRPr sz="1725" b="1" i="0">
                <a:solidFill>
                  <a:srgbClr val="102A43"/>
                </a:solidFill>
                <a:latin typeface="Arial"/>
                <a:ea typeface="Arial"/>
                <a:cs typeface="Arial"/>
              </a:defRPr>
            </a:pPr>
            <a:r>
              <a:rPr sz="1725" b="1" i="0">
                <a:solidFill>
                  <a:srgbClr val="102A43"/>
                </a:solidFill>
                <a:latin typeface="Arial"/>
                <a:ea typeface="Arial"/>
                <a:cs typeface="Arial"/>
              </a:rPr>
              <a:t>Primary insight</a:t>
            </a:r>
          </a:p>
        </p:txBody>
      </p:sp>
      <p:sp>
        <p:nvSpPr>
          <p:cNvPr id="8" name="">
            <a:extLst xmlns:a="http://schemas.openxmlformats.org/drawingml/2006/main">
              <a:ext uri="{FF2B5EF4-FFF2-40B4-BE49-F238E27FC236}">
                <a16:creationId xmlns:a16="http://schemas.microsoft.com/office/drawing/2014/main" id="{18331D56-C797-4FFD-AC8A-AFB025D83D18}"/>
              </a:ext>
            </a:extLst>
          </p:cNvPr>
          <p:cNvSpPr>
            <a:spLocks xmlns:a="http://schemas.openxmlformats.org/drawingml/2006/main" noGrp="1"/>
          </p:cNvSpPr>
          <p:nvPr/>
        </p:nvSpPr>
        <p:spPr>
          <a:xfrm xmlns:a="http://schemas.openxmlformats.org/drawingml/2006/main">
            <a:off x="609600" y="1943100"/>
            <a:ext cx="4095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00" b="0" i="0">
                <a:solidFill>
                  <a:srgbClr val="183B56"/>
                </a:solidFill>
                <a:latin typeface="Arial"/>
                <a:ea typeface="Arial"/>
                <a:cs typeface="Arial"/>
              </a:defRPr>
            </a:defPPr>
          </a:lstStyle>
          <a:p xmlns:a="http://schemas.openxmlformats.org/drawingml/2006/main">
            <a:pPr algn="l">
              <a:defRPr sz="1500" b="0" i="0">
                <a:solidFill>
                  <a:srgbClr val="183B56"/>
                </a:solidFill>
                <a:latin typeface="Arial"/>
                <a:ea typeface="Arial"/>
                <a:cs typeface="Arial"/>
              </a:defRPr>
            </a:pPr>
            <a:r>
              <a:rPr sz="1500" b="0" i="0">
                <a:solidFill>
                  <a:srgbClr val="183B56"/>
                </a:solidFill>
                <a:latin typeface="Arial"/>
                <a:ea typeface="Arial"/>
                <a:cs typeface="Arial"/>
              </a:rPr>
              <a:t>OPD represents about three-quarters of recorded service volume.</a:t>
            </a:r>
          </a:p>
        </p:txBody>
      </p:sp>
      <p:sp>
        <p:nvSpPr>
          <p:cNvPr id="9" name="">
            <a:extLst xmlns:a="http://schemas.openxmlformats.org/drawingml/2006/main">
              <a:ext uri="{FF2B5EF4-FFF2-40B4-BE49-F238E27FC236}">
                <a16:creationId xmlns:a16="http://schemas.microsoft.com/office/drawing/2014/main" id="{C4C2362A-AF57-4115-B754-91BBB54EE297}"/>
              </a:ext>
            </a:extLst>
          </p:cNvPr>
          <p:cNvSpPr>
            <a:spLocks xmlns:a="http://schemas.openxmlformats.org/drawingml/2006/main" noGrp="1"/>
          </p:cNvSpPr>
          <p:nvPr/>
        </p:nvSpPr>
        <p:spPr>
          <a:xfrm xmlns:a="http://schemas.openxmlformats.org/drawingml/2006/main">
            <a:off x="609600" y="27813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087E8B"/>
                </a:solidFill>
                <a:latin typeface="Arial"/>
                <a:ea typeface="Arial"/>
                <a:cs typeface="Arial"/>
              </a:defRPr>
            </a:defPPr>
          </a:lstStyle>
          <a:p xmlns:a="http://schemas.openxmlformats.org/drawingml/2006/main">
            <a:pPr algn="l">
              <a:defRPr sz="1050" b="1" i="0">
                <a:solidFill>
                  <a:srgbClr val="087E8B"/>
                </a:solidFill>
                <a:latin typeface="Arial"/>
                <a:ea typeface="Arial"/>
                <a:cs typeface="Arial"/>
              </a:defRPr>
            </a:pPr>
            <a:r>
              <a:rPr sz="1050" b="1" i="0">
                <a:solidFill>
                  <a:srgbClr val="087E8B"/>
                </a:solidFill>
                <a:latin typeface="Arial"/>
                <a:ea typeface="Arial"/>
                <a:cs typeface="Arial"/>
              </a:rPr>
              <a:t>KEY OBSERVATIONS</a:t>
            </a:r>
          </a:p>
        </p:txBody>
      </p:sp>
      <p:sp>
        <p:nvSpPr>
          <p:cNvPr id="10" name="">
            <a:extLst xmlns:a="http://schemas.openxmlformats.org/drawingml/2006/main">
              <a:ext uri="{FF2B5EF4-FFF2-40B4-BE49-F238E27FC236}">
                <a16:creationId xmlns:a16="http://schemas.microsoft.com/office/drawing/2014/main" id="{88330E1C-A5DD-43D4-9360-3C7DCC1E4EC4}"/>
              </a:ext>
            </a:extLst>
          </p:cNvPr>
          <p:cNvSpPr>
            <a:spLocks xmlns:a="http://schemas.openxmlformats.org/drawingml/2006/main" noGrp="1"/>
          </p:cNvSpPr>
          <p:nvPr/>
        </p:nvSpPr>
        <p:spPr>
          <a:xfrm xmlns:a="http://schemas.openxmlformats.org/drawingml/2006/main">
            <a:off x="609600" y="3086100"/>
            <a:ext cx="400050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a:solidFill>
                  <a:srgbClr val="183B56"/>
                </a:solidFill>
                <a:latin typeface="Arial"/>
                <a:ea typeface="Arial"/>
                <a:cs typeface="Arial"/>
              </a:defRPr>
            </a:defPPr>
          </a:lstStyle>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OPD: 30,759 records (75.8%).</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IPD: 9,837 records (24.2%).</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Record mix does not establish capacity utilization.</a:t>
            </a:r>
          </a:p>
        </p:txBody>
      </p:sp>
      <p:sp>
        <p:nvSpPr>
          <p:cNvPr id="11" name="">
            <a:extLst xmlns:a="http://schemas.openxmlformats.org/drawingml/2006/main">
              <a:ext uri="{FF2B5EF4-FFF2-40B4-BE49-F238E27FC236}">
                <a16:creationId xmlns:a16="http://schemas.microsoft.com/office/drawing/2014/main" id="{0CD04563-CE23-4BE5-8DA4-2DE30871ED4C}"/>
              </a:ext>
            </a:extLst>
          </p:cNvPr>
          <p:cNvSpPr>
            <a:spLocks xmlns:a="http://schemas.openxmlformats.org/drawingml/2006/main" noGrp="1"/>
          </p:cNvSpPr>
          <p:nvPr/>
        </p:nvSpPr>
        <p:spPr>
          <a:xfrm xmlns:a="http://schemas.openxmlformats.org/drawingml/2006/main">
            <a:off x="5105400" y="1438275"/>
            <a:ext cx="9525" cy="40957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graphicFrame>
        <p:nvGraphicFramePr>
          <p:cNvPr id="12" name="Chart">
            <a:extLst xmlns:a="http://schemas.openxmlformats.org/drawingml/2006/main">
              <a:ext uri="{FF2B5EF4-FFF2-40B4-BE49-F238E27FC236}">
                <a16:creationId xmlns:a16="http://schemas.microsoft.com/office/drawing/2014/main" id="{0C24B72D-B3DD-4AC5-B1C9-A225EC2FF760}"/>
              </a:ext>
            </a:extLst>
          </p:cNvPr>
          <p:cNvGraphicFramePr/>
          <p:nvPr/>
        </p:nvGraphicFramePr>
        <p:xfrm>
          <a:off xmlns:a="http://schemas.openxmlformats.org/drawingml/2006/main" x="5572125" y="1504950"/>
          <a:ext xmlns:a="http://schemas.openxmlformats.org/drawingml/2006/main" cx="5810250" cy="3714750"/>
        </p:xfrm>
        <a:graphic xmlns:a="http://schemas.openxmlformats.org/drawingml/2006/main">
          <a:graphicData uri="http://schemas.openxmlformats.org/drawingml/2006/chart">
            <c:chart xmlns:r="http://schemas.openxmlformats.org/officeDocument/2006/relationships" xmlns:c="http://schemas.openxmlformats.org/drawingml/2006/chart" r:id="R18bcd368f0594378"/>
          </a:graphicData>
        </a:graphic>
      </p:graphicFrame>
      <p:sp>
        <p:nvSpPr>
          <p:cNvPr id="13" name="">
            <a:extLst xmlns:a="http://schemas.openxmlformats.org/drawingml/2006/main">
              <a:ext uri="{FF2B5EF4-FFF2-40B4-BE49-F238E27FC236}">
                <a16:creationId xmlns:a16="http://schemas.microsoft.com/office/drawing/2014/main" id="{CA1AA952-1E9E-433E-BC58-ED1FD550F0F4}"/>
              </a:ext>
            </a:extLst>
          </p:cNvPr>
          <p:cNvSpPr>
            <a:spLocks xmlns:a="http://schemas.openxmlformats.org/drawingml/2006/main" noGrp="1"/>
          </p:cNvSpPr>
          <p:nvPr/>
        </p:nvSpPr>
        <p:spPr>
          <a:xfrm xmlns:a="http://schemas.openxmlformats.org/drawingml/2006/main">
            <a:off x="609600" y="5314950"/>
            <a:ext cx="109728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38BD73F-3CBD-4466-A566-316A7144CE69}"/>
              </a:ext>
            </a:extLst>
          </p:cNvPr>
          <p:cNvSpPr>
            <a:spLocks xmlns:a="http://schemas.openxmlformats.org/drawingml/2006/main" noGrp="1"/>
          </p:cNvSpPr>
          <p:nvPr/>
        </p:nvSpPr>
        <p:spPr>
          <a:xfrm xmlns:a="http://schemas.openxmlformats.org/drawingml/2006/main">
            <a:off x="609600" y="54673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087E8B"/>
                </a:solidFill>
                <a:latin typeface="Arial"/>
                <a:ea typeface="Arial"/>
                <a:cs typeface="Arial"/>
              </a:defRPr>
            </a:defPPr>
          </a:lstStyle>
          <a:p xmlns:a="http://schemas.openxmlformats.org/drawingml/2006/main">
            <a:pPr algn="l">
              <a:defRPr sz="1050" b="1" i="0">
                <a:solidFill>
                  <a:srgbClr val="087E8B"/>
                </a:solidFill>
                <a:latin typeface="Arial"/>
                <a:ea typeface="Arial"/>
                <a:cs typeface="Arial"/>
              </a:defRPr>
            </a:pPr>
            <a:r>
              <a:rPr sz="1050" b="1" i="0">
                <a:solidFill>
                  <a:srgbClr val="087E8B"/>
                </a:solidFill>
                <a:latin typeface="Arial"/>
                <a:ea typeface="Arial"/>
                <a:cs typeface="Arial"/>
              </a:rPr>
              <a:t>DECISION IMPLICATION</a:t>
            </a:r>
          </a:p>
        </p:txBody>
      </p:sp>
      <p:sp>
        <p:nvSpPr>
          <p:cNvPr id="15" name="">
            <a:extLst xmlns:a="http://schemas.openxmlformats.org/drawingml/2006/main">
              <a:ext uri="{FF2B5EF4-FFF2-40B4-BE49-F238E27FC236}">
                <a16:creationId xmlns:a16="http://schemas.microsoft.com/office/drawing/2014/main" id="{763483EF-A57D-4466-9087-3E4EACC5C961}"/>
              </a:ext>
            </a:extLst>
          </p:cNvPr>
          <p:cNvSpPr>
            <a:spLocks xmlns:a="http://schemas.openxmlformats.org/drawingml/2006/main" noGrp="1"/>
          </p:cNvSpPr>
          <p:nvPr/>
        </p:nvSpPr>
        <p:spPr>
          <a:xfrm xmlns:a="http://schemas.openxmlformats.org/drawingml/2006/main">
            <a:off x="2762250" y="5410200"/>
            <a:ext cx="8820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75" b="1" i="0">
                <a:solidFill>
                  <a:srgbClr val="102A43"/>
                </a:solidFill>
                <a:latin typeface="Arial"/>
                <a:ea typeface="Arial"/>
                <a:cs typeface="Arial"/>
              </a:defRPr>
            </a:defPPr>
          </a:lstStyle>
          <a:p xmlns:a="http://schemas.openxmlformats.org/drawingml/2006/main">
            <a:pPr algn="l">
              <a:defRPr sz="1575" b="1" i="0">
                <a:solidFill>
                  <a:srgbClr val="102A43"/>
                </a:solidFill>
                <a:latin typeface="Arial"/>
                <a:ea typeface="Arial"/>
                <a:cs typeface="Arial"/>
              </a:defRPr>
            </a:pPr>
            <a:r>
              <a:rPr sz="1575" b="1" i="0">
                <a:solidFill>
                  <a:srgbClr val="102A43"/>
                </a:solidFill>
                <a:latin typeface="Arial"/>
                <a:ea typeface="Arial"/>
                <a:cs typeface="Arial"/>
              </a:rPr>
              <a:t>Align outpatient capacity to volume; protect inpatient staffing and beds.</a:t>
            </a:r>
          </a:p>
        </p:txBody>
      </p:sp>
    </p:spTree>
    <p:extLst>
      <p:ext uri="{BB962C8B-B14F-4D97-AF65-F5344CB8AC3E}">
        <p14:creationId xmlns:p14="http://schemas.microsoft.com/office/powerpoint/2010/main" val="720924172"/>
      </p:ext>
    </p:extLst>
  </p:cSld>
</p:sld>
</file>

<file path=ppt/slides/slide8.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0646617-09E2-4791-BE23-FA70706DE042}"/>
              </a:ext>
            </a:extLst>
          </p:cNvPr>
          <p:cNvSpPr>
            <a:spLocks xmlns:a="http://schemas.openxmlformats.org/drawingml/2006/main" noGrp="1"/>
          </p:cNvSpPr>
          <p:nvPr/>
        </p:nvSpPr>
        <p:spPr>
          <a:xfrm xmlns:a="http://schemas.openxmlformats.org/drawingml/2006/main">
            <a:off x="609600" y="3619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925" b="1" i="0">
                <a:solidFill>
                  <a:srgbClr val="102A43"/>
                </a:solidFill>
                <a:latin typeface="Arial"/>
                <a:ea typeface="Arial"/>
                <a:cs typeface="Arial"/>
              </a:defRPr>
            </a:defPPr>
          </a:lstStyle>
          <a:p xmlns:a="http://schemas.openxmlformats.org/drawingml/2006/main">
            <a:pPr algn="l">
              <a:defRPr sz="2925" b="1" i="0">
                <a:solidFill>
                  <a:srgbClr val="102A43"/>
                </a:solidFill>
                <a:latin typeface="Arial"/>
                <a:ea typeface="Arial"/>
                <a:cs typeface="Arial"/>
              </a:defRPr>
            </a:pPr>
            <a:r>
              <a:rPr sz="2925" b="1" i="0">
                <a:solidFill>
                  <a:srgbClr val="102A43"/>
                </a:solidFill>
                <a:latin typeface="Arial"/>
                <a:ea typeface="Arial"/>
                <a:cs typeface="Arial"/>
              </a:rPr>
              <a:t>Recorded patient outcomes</a:t>
            </a:r>
          </a:p>
        </p:txBody>
      </p:sp>
      <p:sp>
        <p:nvSpPr>
          <p:cNvPr id="2" name="">
            <a:extLst xmlns:a="http://schemas.openxmlformats.org/drawingml/2006/main">
              <a:ext uri="{FF2B5EF4-FFF2-40B4-BE49-F238E27FC236}">
                <a16:creationId xmlns:a16="http://schemas.microsoft.com/office/drawing/2014/main" id="{DDBB5E91-9274-466B-B817-842D0091F653}"/>
              </a:ext>
            </a:extLst>
          </p:cNvPr>
          <p:cNvSpPr>
            <a:spLocks xmlns:a="http://schemas.openxmlformats.org/drawingml/2006/main" noGrp="1"/>
          </p:cNvSpPr>
          <p:nvPr/>
        </p:nvSpPr>
        <p:spPr>
          <a:xfrm xmlns:a="http://schemas.openxmlformats.org/drawingml/2006/main">
            <a:off x="628650" y="895350"/>
            <a:ext cx="10934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627D98"/>
                </a:solidFill>
                <a:latin typeface="Arial"/>
                <a:ea typeface="Arial"/>
                <a:cs typeface="Arial"/>
              </a:defRPr>
            </a:defPPr>
          </a:lstStyle>
          <a:p xmlns:a="http://schemas.openxmlformats.org/drawingml/2006/main">
            <a:pPr algn="l">
              <a:defRPr sz="1275" b="0" i="0">
                <a:solidFill>
                  <a:srgbClr val="627D98"/>
                </a:solidFill>
                <a:latin typeface="Arial"/>
                <a:ea typeface="Arial"/>
                <a:cs typeface="Arial"/>
              </a:defRPr>
            </a:pPr>
            <a:r>
              <a:rPr sz="1275" b="0" i="0">
                <a:solidFill>
                  <a:srgbClr val="627D98"/>
                </a:solidFill>
                <a:latin typeface="Arial"/>
                <a:ea typeface="Arial"/>
                <a:cs typeface="Arial"/>
              </a:rPr>
              <a:t>Horizontal bar chart  |  Status distribution</a:t>
            </a:r>
          </a:p>
        </p:txBody>
      </p:sp>
      <p:sp>
        <p:nvSpPr>
          <p:cNvPr id="3" name="">
            <a:extLst xmlns:a="http://schemas.openxmlformats.org/drawingml/2006/main">
              <a:ext uri="{FF2B5EF4-FFF2-40B4-BE49-F238E27FC236}">
                <a16:creationId xmlns:a16="http://schemas.microsoft.com/office/drawing/2014/main" id="{2E072216-0ED4-4223-9282-01FD6A5A9BB4}"/>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C8468CD-9223-4E56-9307-546E5D0EC5C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49E61BA-EFA8-496F-93A8-10512AFD7D03}"/>
              </a:ext>
            </a:extLst>
          </p:cNvPr>
          <p:cNvSpPr>
            <a:spLocks xmlns:a="http://schemas.openxmlformats.org/drawingml/2006/main" noGrp="1"/>
          </p:cNvSpPr>
          <p:nvPr/>
        </p:nvSpPr>
        <p:spPr>
          <a:xfrm xmlns:a="http://schemas.openxmlformats.org/drawingml/2006/main">
            <a:off x="609600" y="649605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900" b="1" i="0">
                <a:solidFill>
                  <a:srgbClr val="627D98"/>
                </a:solidFill>
                <a:latin typeface="Arial"/>
                <a:ea typeface="Arial"/>
                <a:cs typeface="Arial"/>
              </a:defRPr>
            </a:defPPr>
          </a:lstStyle>
          <a:p xmlns:a="http://schemas.openxmlformats.org/drawingml/2006/main">
            <a:pPr algn="l">
              <a:defRPr sz="900" b="1" i="0">
                <a:solidFill>
                  <a:srgbClr val="627D98"/>
                </a:solidFill>
                <a:latin typeface="Arial"/>
                <a:ea typeface="Arial"/>
                <a:cs typeface="Arial"/>
              </a:defRPr>
            </a:pPr>
            <a:r>
              <a:rPr sz="900" b="1" i="0">
                <a:solidFill>
                  <a:srgbClr val="627D98"/>
                </a:solidFill>
                <a:latin typeface="Arial"/>
                <a:ea typeface="Arial"/>
                <a:cs typeface="Arial"/>
              </a:rPr>
              <a:t>HOSPITAL PATIENT ANALYTICS  /  JUNE 2026</a:t>
            </a:r>
          </a:p>
        </p:txBody>
      </p:sp>
      <p:sp>
        <p:nvSpPr>
          <p:cNvPr id="6" name="">
            <a:extLst xmlns:a="http://schemas.openxmlformats.org/drawingml/2006/main">
              <a:ext uri="{FF2B5EF4-FFF2-40B4-BE49-F238E27FC236}">
                <a16:creationId xmlns:a16="http://schemas.microsoft.com/office/drawing/2014/main" id="{2A8BDD93-5400-49CC-BB07-E2992B84B318}"/>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r">
              <a:defRPr sz="1050" b="1" i="0">
                <a:solidFill>
                  <a:srgbClr val="627D98"/>
                </a:solidFill>
                <a:latin typeface="Arial"/>
                <a:ea typeface="Arial"/>
                <a:cs typeface="Arial"/>
              </a:defRPr>
            </a:defPPr>
          </a:lstStyle>
          <a:p xmlns:a="http://schemas.openxmlformats.org/drawingml/2006/main">
            <a:pPr algn="r">
              <a:defRPr sz="1050" b="1" i="0">
                <a:solidFill>
                  <a:srgbClr val="627D98"/>
                </a:solidFill>
                <a:latin typeface="Arial"/>
                <a:ea typeface="Arial"/>
                <a:cs typeface="Arial"/>
              </a:defRPr>
            </a:pPr>
            <a:r>
              <a:rPr sz="1050" b="1" i="0">
                <a:solidFill>
                  <a:srgbClr val="627D98"/>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8F50F647-492A-4FF6-ACA0-1927737BD221}"/>
              </a:ext>
            </a:extLst>
          </p:cNvPr>
          <p:cNvSpPr>
            <a:spLocks xmlns:a="http://schemas.openxmlformats.org/drawingml/2006/main" noGrp="1"/>
          </p:cNvSpPr>
          <p:nvPr/>
        </p:nvSpPr>
        <p:spPr>
          <a:xfrm xmlns:a="http://schemas.openxmlformats.org/drawingml/2006/main">
            <a:off x="609600" y="1381125"/>
            <a:ext cx="4095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725" b="1" i="0">
                <a:solidFill>
                  <a:srgbClr val="102A43"/>
                </a:solidFill>
                <a:latin typeface="Arial"/>
                <a:ea typeface="Arial"/>
                <a:cs typeface="Arial"/>
              </a:defRPr>
            </a:defPPr>
          </a:lstStyle>
          <a:p xmlns:a="http://schemas.openxmlformats.org/drawingml/2006/main">
            <a:pPr algn="l">
              <a:defRPr sz="1725" b="1" i="0">
                <a:solidFill>
                  <a:srgbClr val="102A43"/>
                </a:solidFill>
                <a:latin typeface="Arial"/>
                <a:ea typeface="Arial"/>
                <a:cs typeface="Arial"/>
              </a:defRPr>
            </a:pPr>
            <a:r>
              <a:rPr sz="1725" b="1" i="0">
                <a:solidFill>
                  <a:srgbClr val="102A43"/>
                </a:solidFill>
                <a:latin typeface="Arial"/>
                <a:ea typeface="Arial"/>
                <a:cs typeface="Arial"/>
              </a:rPr>
              <a:t>Primary insight</a:t>
            </a:r>
          </a:p>
        </p:txBody>
      </p:sp>
      <p:sp>
        <p:nvSpPr>
          <p:cNvPr id="8" name="">
            <a:extLst xmlns:a="http://schemas.openxmlformats.org/drawingml/2006/main">
              <a:ext uri="{FF2B5EF4-FFF2-40B4-BE49-F238E27FC236}">
                <a16:creationId xmlns:a16="http://schemas.microsoft.com/office/drawing/2014/main" id="{AF1A8C9D-6593-4DF4-A2F4-4984726B0821}"/>
              </a:ext>
            </a:extLst>
          </p:cNvPr>
          <p:cNvSpPr>
            <a:spLocks xmlns:a="http://schemas.openxmlformats.org/drawingml/2006/main" noGrp="1"/>
          </p:cNvSpPr>
          <p:nvPr/>
        </p:nvSpPr>
        <p:spPr>
          <a:xfrm xmlns:a="http://schemas.openxmlformats.org/drawingml/2006/main">
            <a:off x="609600" y="1943100"/>
            <a:ext cx="4095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00" b="0" i="0">
                <a:solidFill>
                  <a:srgbClr val="183B56"/>
                </a:solidFill>
                <a:latin typeface="Arial"/>
                <a:ea typeface="Arial"/>
                <a:cs typeface="Arial"/>
              </a:defRPr>
            </a:defPPr>
          </a:lstStyle>
          <a:p xmlns:a="http://schemas.openxmlformats.org/drawingml/2006/main">
            <a:pPr algn="l">
              <a:defRPr sz="1500" b="0" i="0">
                <a:solidFill>
                  <a:srgbClr val="183B56"/>
                </a:solidFill>
                <a:latin typeface="Arial"/>
                <a:ea typeface="Arial"/>
                <a:cs typeface="Arial"/>
              </a:defRPr>
            </a:pPr>
            <a:r>
              <a:rPr sz="1500" b="0" i="0">
                <a:solidFill>
                  <a:srgbClr val="183B56"/>
                </a:solidFill>
                <a:latin typeface="Arial"/>
                <a:ea typeface="Arial"/>
                <a:cs typeface="Arial"/>
              </a:rPr>
              <a:t>Recovery is the most common recorded status; 18.6% show another status.</a:t>
            </a:r>
          </a:p>
        </p:txBody>
      </p:sp>
      <p:sp>
        <p:nvSpPr>
          <p:cNvPr id="9" name="">
            <a:extLst xmlns:a="http://schemas.openxmlformats.org/drawingml/2006/main">
              <a:ext uri="{FF2B5EF4-FFF2-40B4-BE49-F238E27FC236}">
                <a16:creationId xmlns:a16="http://schemas.microsoft.com/office/drawing/2014/main" id="{D1755B6C-1A66-4874-BECB-DAC40E04A4B1}"/>
              </a:ext>
            </a:extLst>
          </p:cNvPr>
          <p:cNvSpPr>
            <a:spLocks xmlns:a="http://schemas.openxmlformats.org/drawingml/2006/main" noGrp="1"/>
          </p:cNvSpPr>
          <p:nvPr/>
        </p:nvSpPr>
        <p:spPr>
          <a:xfrm xmlns:a="http://schemas.openxmlformats.org/drawingml/2006/main">
            <a:off x="609600" y="27813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087E8B"/>
                </a:solidFill>
                <a:latin typeface="Arial"/>
                <a:ea typeface="Arial"/>
                <a:cs typeface="Arial"/>
              </a:defRPr>
            </a:defPPr>
          </a:lstStyle>
          <a:p xmlns:a="http://schemas.openxmlformats.org/drawingml/2006/main">
            <a:pPr algn="l">
              <a:defRPr sz="1050" b="1" i="0">
                <a:solidFill>
                  <a:srgbClr val="087E8B"/>
                </a:solidFill>
                <a:latin typeface="Arial"/>
                <a:ea typeface="Arial"/>
                <a:cs typeface="Arial"/>
              </a:defRPr>
            </a:pPr>
            <a:r>
              <a:rPr sz="1050" b="1" i="0">
                <a:solidFill>
                  <a:srgbClr val="087E8B"/>
                </a:solidFill>
                <a:latin typeface="Arial"/>
                <a:ea typeface="Arial"/>
                <a:cs typeface="Arial"/>
              </a:rPr>
              <a:t>KEY OBSERVATIONS</a:t>
            </a:r>
          </a:p>
        </p:txBody>
      </p:sp>
      <p:sp>
        <p:nvSpPr>
          <p:cNvPr id="10" name="">
            <a:extLst xmlns:a="http://schemas.openxmlformats.org/drawingml/2006/main">
              <a:ext uri="{FF2B5EF4-FFF2-40B4-BE49-F238E27FC236}">
                <a16:creationId xmlns:a16="http://schemas.microsoft.com/office/drawing/2014/main" id="{236A5F92-BF34-4379-9EED-CEAE1728D719}"/>
              </a:ext>
            </a:extLst>
          </p:cNvPr>
          <p:cNvSpPr>
            <a:spLocks xmlns:a="http://schemas.openxmlformats.org/drawingml/2006/main" noGrp="1"/>
          </p:cNvSpPr>
          <p:nvPr/>
        </p:nvSpPr>
        <p:spPr>
          <a:xfrm xmlns:a="http://schemas.openxmlformats.org/drawingml/2006/main">
            <a:off x="609600" y="3086100"/>
            <a:ext cx="400050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a:solidFill>
                  <a:srgbClr val="183B56"/>
                </a:solidFill>
                <a:latin typeface="Arial"/>
                <a:ea typeface="Arial"/>
                <a:cs typeface="Arial"/>
              </a:defRPr>
            </a:defPPr>
          </a:lstStyle>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Recovered: 33,038 records (81.4%).</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Under treatment: 4,572; referred: 2,255.</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LAMA: 464; deceased: 267 (0.7%).</a:t>
            </a:r>
          </a:p>
        </p:txBody>
      </p:sp>
      <p:sp>
        <p:nvSpPr>
          <p:cNvPr id="11" name="">
            <a:extLst xmlns:a="http://schemas.openxmlformats.org/drawingml/2006/main">
              <a:ext uri="{FF2B5EF4-FFF2-40B4-BE49-F238E27FC236}">
                <a16:creationId xmlns:a16="http://schemas.microsoft.com/office/drawing/2014/main" id="{36E1919C-737A-48E7-A2F3-74DB6087AC13}"/>
              </a:ext>
            </a:extLst>
          </p:cNvPr>
          <p:cNvSpPr>
            <a:spLocks xmlns:a="http://schemas.openxmlformats.org/drawingml/2006/main" noGrp="1"/>
          </p:cNvSpPr>
          <p:nvPr/>
        </p:nvSpPr>
        <p:spPr>
          <a:xfrm xmlns:a="http://schemas.openxmlformats.org/drawingml/2006/main">
            <a:off x="5105400" y="1438275"/>
            <a:ext cx="9525" cy="40957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graphicFrame>
        <p:nvGraphicFramePr>
          <p:cNvPr id="12" name="Chart">
            <a:extLst xmlns:a="http://schemas.openxmlformats.org/drawingml/2006/main">
              <a:ext uri="{FF2B5EF4-FFF2-40B4-BE49-F238E27FC236}">
                <a16:creationId xmlns:a16="http://schemas.microsoft.com/office/drawing/2014/main" id="{1BA9C554-9D2F-4342-A294-F5C44168C947}"/>
              </a:ext>
            </a:extLst>
          </p:cNvPr>
          <p:cNvGraphicFramePr/>
          <p:nvPr/>
        </p:nvGraphicFramePr>
        <p:xfrm>
          <a:off xmlns:a="http://schemas.openxmlformats.org/drawingml/2006/main" x="5391150" y="1524000"/>
          <a:ext xmlns:a="http://schemas.openxmlformats.org/drawingml/2006/main" cx="6096000" cy="3600450"/>
        </p:xfrm>
        <a:graphic xmlns:a="http://schemas.openxmlformats.org/drawingml/2006/main">
          <a:graphicData uri="http://schemas.openxmlformats.org/drawingml/2006/chart">
            <c:chart xmlns:r="http://schemas.openxmlformats.org/officeDocument/2006/relationships" xmlns:c="http://schemas.openxmlformats.org/drawingml/2006/chart" r:id="R14dd7edfd37941d9"/>
          </a:graphicData>
        </a:graphic>
      </p:graphicFrame>
      <p:sp>
        <p:nvSpPr>
          <p:cNvPr id="13" name="">
            <a:extLst xmlns:a="http://schemas.openxmlformats.org/drawingml/2006/main">
              <a:ext uri="{FF2B5EF4-FFF2-40B4-BE49-F238E27FC236}">
                <a16:creationId xmlns:a16="http://schemas.microsoft.com/office/drawing/2014/main" id="{44E915C1-8D61-4A0C-BBE6-C892390FC635}"/>
              </a:ext>
            </a:extLst>
          </p:cNvPr>
          <p:cNvSpPr>
            <a:spLocks xmlns:a="http://schemas.openxmlformats.org/drawingml/2006/main" noGrp="1"/>
          </p:cNvSpPr>
          <p:nvPr/>
        </p:nvSpPr>
        <p:spPr>
          <a:xfrm xmlns:a="http://schemas.openxmlformats.org/drawingml/2006/main">
            <a:off x="609600" y="5314950"/>
            <a:ext cx="109728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F8D9E08-75FC-46F0-A571-DC4AE8119CF0}"/>
              </a:ext>
            </a:extLst>
          </p:cNvPr>
          <p:cNvSpPr>
            <a:spLocks xmlns:a="http://schemas.openxmlformats.org/drawingml/2006/main" noGrp="1"/>
          </p:cNvSpPr>
          <p:nvPr/>
        </p:nvSpPr>
        <p:spPr>
          <a:xfrm xmlns:a="http://schemas.openxmlformats.org/drawingml/2006/main">
            <a:off x="609600" y="54673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087E8B"/>
                </a:solidFill>
                <a:latin typeface="Arial"/>
                <a:ea typeface="Arial"/>
                <a:cs typeface="Arial"/>
              </a:defRPr>
            </a:defPPr>
          </a:lstStyle>
          <a:p xmlns:a="http://schemas.openxmlformats.org/drawingml/2006/main">
            <a:pPr algn="l">
              <a:defRPr sz="1050" b="1" i="0">
                <a:solidFill>
                  <a:srgbClr val="087E8B"/>
                </a:solidFill>
                <a:latin typeface="Arial"/>
                <a:ea typeface="Arial"/>
                <a:cs typeface="Arial"/>
              </a:defRPr>
            </a:pPr>
            <a:r>
              <a:rPr sz="1050" b="1" i="0">
                <a:solidFill>
                  <a:srgbClr val="087E8B"/>
                </a:solidFill>
                <a:latin typeface="Arial"/>
                <a:ea typeface="Arial"/>
                <a:cs typeface="Arial"/>
              </a:rPr>
              <a:t>DECISION IMPLICATION</a:t>
            </a:r>
          </a:p>
        </p:txBody>
      </p:sp>
      <p:sp>
        <p:nvSpPr>
          <p:cNvPr id="15" name="">
            <a:extLst xmlns:a="http://schemas.openxmlformats.org/drawingml/2006/main">
              <a:ext uri="{FF2B5EF4-FFF2-40B4-BE49-F238E27FC236}">
                <a16:creationId xmlns:a16="http://schemas.microsoft.com/office/drawing/2014/main" id="{BD9EFC76-59FF-4416-806E-D3BD311885EC}"/>
              </a:ext>
            </a:extLst>
          </p:cNvPr>
          <p:cNvSpPr>
            <a:spLocks xmlns:a="http://schemas.openxmlformats.org/drawingml/2006/main" noGrp="1"/>
          </p:cNvSpPr>
          <p:nvPr/>
        </p:nvSpPr>
        <p:spPr>
          <a:xfrm xmlns:a="http://schemas.openxmlformats.org/drawingml/2006/main">
            <a:off x="2762250" y="5410200"/>
            <a:ext cx="8820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75" b="1" i="0">
                <a:solidFill>
                  <a:srgbClr val="102A43"/>
                </a:solidFill>
                <a:latin typeface="Arial"/>
                <a:ea typeface="Arial"/>
                <a:cs typeface="Arial"/>
              </a:defRPr>
            </a:defPPr>
          </a:lstStyle>
          <a:p xmlns:a="http://schemas.openxmlformats.org/drawingml/2006/main">
            <a:pPr algn="l">
              <a:defRPr sz="1575" b="1" i="0">
                <a:solidFill>
                  <a:srgbClr val="102A43"/>
                </a:solidFill>
                <a:latin typeface="Arial"/>
                <a:ea typeface="Arial"/>
                <a:cs typeface="Arial"/>
              </a:defRPr>
            </a:pPr>
            <a:r>
              <a:rPr sz="1575" b="1" i="0">
                <a:solidFill>
                  <a:srgbClr val="102A43"/>
                </a:solidFill>
                <a:latin typeface="Arial"/>
                <a:ea typeface="Arial"/>
                <a:cs typeface="Arial"/>
              </a:rPr>
              <a:t>Review non-recovered statuses in clinical context; avoid risk-adjusted claims.</a:t>
            </a:r>
          </a:p>
        </p:txBody>
      </p:sp>
    </p:spTree>
    <p:extLst>
      <p:ext uri="{BB962C8B-B14F-4D97-AF65-F5344CB8AC3E}">
        <p14:creationId xmlns:p14="http://schemas.microsoft.com/office/powerpoint/2010/main" val="2144522165"/>
      </p:ext>
    </p:extLst>
  </p:cSld>
</p:sld>
</file>

<file path=ppt/slides/slide9.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CD07C23-39CB-4640-A371-0E5B1E55117F}"/>
              </a:ext>
            </a:extLst>
          </p:cNvPr>
          <p:cNvSpPr>
            <a:spLocks xmlns:a="http://schemas.openxmlformats.org/drawingml/2006/main" noGrp="1"/>
          </p:cNvSpPr>
          <p:nvPr/>
        </p:nvSpPr>
        <p:spPr>
          <a:xfrm xmlns:a="http://schemas.openxmlformats.org/drawingml/2006/main">
            <a:off x="609600" y="3619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925" b="1" i="0">
                <a:solidFill>
                  <a:srgbClr val="102A43"/>
                </a:solidFill>
                <a:latin typeface="Arial"/>
                <a:ea typeface="Arial"/>
                <a:cs typeface="Arial"/>
              </a:defRPr>
            </a:defPPr>
          </a:lstStyle>
          <a:p xmlns:a="http://schemas.openxmlformats.org/drawingml/2006/main">
            <a:pPr algn="l">
              <a:defRPr sz="2925" b="1" i="0">
                <a:solidFill>
                  <a:srgbClr val="102A43"/>
                </a:solidFill>
                <a:latin typeface="Arial"/>
                <a:ea typeface="Arial"/>
                <a:cs typeface="Arial"/>
              </a:defRPr>
            </a:pPr>
            <a:r>
              <a:rPr sz="2925" b="1" i="0">
                <a:solidFill>
                  <a:srgbClr val="102A43"/>
                </a:solidFill>
                <a:latin typeface="Arial"/>
                <a:ea typeface="Arial"/>
                <a:cs typeface="Arial"/>
              </a:rPr>
              <a:t>Severity distribution</a:t>
            </a:r>
          </a:p>
        </p:txBody>
      </p:sp>
      <p:sp>
        <p:nvSpPr>
          <p:cNvPr id="2" name="">
            <a:extLst xmlns:a="http://schemas.openxmlformats.org/drawingml/2006/main">
              <a:ext uri="{FF2B5EF4-FFF2-40B4-BE49-F238E27FC236}">
                <a16:creationId xmlns:a16="http://schemas.microsoft.com/office/drawing/2014/main" id="{AA515922-CE08-4998-8AEB-9287096B745C}"/>
              </a:ext>
            </a:extLst>
          </p:cNvPr>
          <p:cNvSpPr>
            <a:spLocks xmlns:a="http://schemas.openxmlformats.org/drawingml/2006/main" noGrp="1"/>
          </p:cNvSpPr>
          <p:nvPr/>
        </p:nvSpPr>
        <p:spPr>
          <a:xfrm xmlns:a="http://schemas.openxmlformats.org/drawingml/2006/main">
            <a:off x="628650" y="895350"/>
            <a:ext cx="10934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627D98"/>
                </a:solidFill>
                <a:latin typeface="Arial"/>
                <a:ea typeface="Arial"/>
                <a:cs typeface="Arial"/>
              </a:defRPr>
            </a:defPPr>
          </a:lstStyle>
          <a:p xmlns:a="http://schemas.openxmlformats.org/drawingml/2006/main">
            <a:pPr algn="l">
              <a:defRPr sz="1275" b="0" i="0">
                <a:solidFill>
                  <a:srgbClr val="627D98"/>
                </a:solidFill>
                <a:latin typeface="Arial"/>
                <a:ea typeface="Arial"/>
                <a:cs typeface="Arial"/>
              </a:defRPr>
            </a:pPr>
            <a:r>
              <a:rPr sz="1275" b="0" i="0">
                <a:solidFill>
                  <a:srgbClr val="627D98"/>
                </a:solidFill>
                <a:latin typeface="Arial"/>
                <a:ea typeface="Arial"/>
                <a:cs typeface="Arial"/>
              </a:rPr>
              <a:t>Horizontal bar chart  |  Recorded case severity</a:t>
            </a:r>
          </a:p>
        </p:txBody>
      </p:sp>
      <p:sp>
        <p:nvSpPr>
          <p:cNvPr id="3" name="">
            <a:extLst xmlns:a="http://schemas.openxmlformats.org/drawingml/2006/main">
              <a:ext uri="{FF2B5EF4-FFF2-40B4-BE49-F238E27FC236}">
                <a16:creationId xmlns:a16="http://schemas.microsoft.com/office/drawing/2014/main" id="{8CD577EA-26A3-422B-8389-8BEF11C399DD}"/>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777A1A0-8558-455E-B514-E7AC35A7554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CCB10EC-D74D-4FAE-B368-E32CAF4A3F60}"/>
              </a:ext>
            </a:extLst>
          </p:cNvPr>
          <p:cNvSpPr>
            <a:spLocks xmlns:a="http://schemas.openxmlformats.org/drawingml/2006/main" noGrp="1"/>
          </p:cNvSpPr>
          <p:nvPr/>
        </p:nvSpPr>
        <p:spPr>
          <a:xfrm xmlns:a="http://schemas.openxmlformats.org/drawingml/2006/main">
            <a:off x="609600" y="649605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900" b="1" i="0">
                <a:solidFill>
                  <a:srgbClr val="627D98"/>
                </a:solidFill>
                <a:latin typeface="Arial"/>
                <a:ea typeface="Arial"/>
                <a:cs typeface="Arial"/>
              </a:defRPr>
            </a:defPPr>
          </a:lstStyle>
          <a:p xmlns:a="http://schemas.openxmlformats.org/drawingml/2006/main">
            <a:pPr algn="l">
              <a:defRPr sz="900" b="1" i="0">
                <a:solidFill>
                  <a:srgbClr val="627D98"/>
                </a:solidFill>
                <a:latin typeface="Arial"/>
                <a:ea typeface="Arial"/>
                <a:cs typeface="Arial"/>
              </a:defRPr>
            </a:pPr>
            <a:r>
              <a:rPr sz="900" b="1" i="0">
                <a:solidFill>
                  <a:srgbClr val="627D98"/>
                </a:solidFill>
                <a:latin typeface="Arial"/>
                <a:ea typeface="Arial"/>
                <a:cs typeface="Arial"/>
              </a:rPr>
              <a:t>HOSPITAL PATIENT ANALYTICS  /  JUNE 2026</a:t>
            </a:r>
          </a:p>
        </p:txBody>
      </p:sp>
      <p:sp>
        <p:nvSpPr>
          <p:cNvPr id="6" name="">
            <a:extLst xmlns:a="http://schemas.openxmlformats.org/drawingml/2006/main">
              <a:ext uri="{FF2B5EF4-FFF2-40B4-BE49-F238E27FC236}">
                <a16:creationId xmlns:a16="http://schemas.microsoft.com/office/drawing/2014/main" id="{206C4274-F5D6-4FCC-B175-8110331B40B9}"/>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r">
              <a:defRPr sz="1050" b="1" i="0">
                <a:solidFill>
                  <a:srgbClr val="627D98"/>
                </a:solidFill>
                <a:latin typeface="Arial"/>
                <a:ea typeface="Arial"/>
                <a:cs typeface="Arial"/>
              </a:defRPr>
            </a:defPPr>
          </a:lstStyle>
          <a:p xmlns:a="http://schemas.openxmlformats.org/drawingml/2006/main">
            <a:pPr algn="r">
              <a:defRPr sz="1050" b="1" i="0">
                <a:solidFill>
                  <a:srgbClr val="627D98"/>
                </a:solidFill>
                <a:latin typeface="Arial"/>
                <a:ea typeface="Arial"/>
                <a:cs typeface="Arial"/>
              </a:defRPr>
            </a:pPr>
            <a:r>
              <a:rPr sz="1050" b="1" i="0">
                <a:solidFill>
                  <a:srgbClr val="627D98"/>
                </a:solidFill>
                <a:latin typeface="Arial"/>
                <a:ea typeface="Arial"/>
                <a:cs typeface="Arial"/>
              </a:rPr>
              <a:t>09</a:t>
            </a:r>
          </a:p>
        </p:txBody>
      </p:sp>
      <p:sp>
        <p:nvSpPr>
          <p:cNvPr id="7" name="">
            <a:extLst xmlns:a="http://schemas.openxmlformats.org/drawingml/2006/main">
              <a:ext uri="{FF2B5EF4-FFF2-40B4-BE49-F238E27FC236}">
                <a16:creationId xmlns:a16="http://schemas.microsoft.com/office/drawing/2014/main" id="{C02F896F-C56E-49D9-BF93-DB2A7B51F5FE}"/>
              </a:ext>
            </a:extLst>
          </p:cNvPr>
          <p:cNvSpPr>
            <a:spLocks xmlns:a="http://schemas.openxmlformats.org/drawingml/2006/main" noGrp="1"/>
          </p:cNvSpPr>
          <p:nvPr/>
        </p:nvSpPr>
        <p:spPr>
          <a:xfrm xmlns:a="http://schemas.openxmlformats.org/drawingml/2006/main">
            <a:off x="609600" y="1381125"/>
            <a:ext cx="4095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725" b="1" i="0">
                <a:solidFill>
                  <a:srgbClr val="102A43"/>
                </a:solidFill>
                <a:latin typeface="Arial"/>
                <a:ea typeface="Arial"/>
                <a:cs typeface="Arial"/>
              </a:defRPr>
            </a:defPPr>
          </a:lstStyle>
          <a:p xmlns:a="http://schemas.openxmlformats.org/drawingml/2006/main">
            <a:pPr algn="l">
              <a:defRPr sz="1725" b="1" i="0">
                <a:solidFill>
                  <a:srgbClr val="102A43"/>
                </a:solidFill>
                <a:latin typeface="Arial"/>
                <a:ea typeface="Arial"/>
                <a:cs typeface="Arial"/>
              </a:defRPr>
            </a:pPr>
            <a:r>
              <a:rPr sz="1725" b="1" i="0">
                <a:solidFill>
                  <a:srgbClr val="102A43"/>
                </a:solidFill>
                <a:latin typeface="Arial"/>
                <a:ea typeface="Arial"/>
                <a:cs typeface="Arial"/>
              </a:rPr>
              <a:t>Primary insight</a:t>
            </a:r>
          </a:p>
        </p:txBody>
      </p:sp>
      <p:sp>
        <p:nvSpPr>
          <p:cNvPr id="8" name="">
            <a:extLst xmlns:a="http://schemas.openxmlformats.org/drawingml/2006/main">
              <a:ext uri="{FF2B5EF4-FFF2-40B4-BE49-F238E27FC236}">
                <a16:creationId xmlns:a16="http://schemas.microsoft.com/office/drawing/2014/main" id="{8812F3B6-9123-4897-8857-BEB779ADC6E1}"/>
              </a:ext>
            </a:extLst>
          </p:cNvPr>
          <p:cNvSpPr>
            <a:spLocks xmlns:a="http://schemas.openxmlformats.org/drawingml/2006/main" noGrp="1"/>
          </p:cNvSpPr>
          <p:nvPr/>
        </p:nvSpPr>
        <p:spPr>
          <a:xfrm xmlns:a="http://schemas.openxmlformats.org/drawingml/2006/main">
            <a:off x="609600" y="1943100"/>
            <a:ext cx="4095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00" b="0" i="0">
                <a:solidFill>
                  <a:srgbClr val="183B56"/>
                </a:solidFill>
                <a:latin typeface="Arial"/>
                <a:ea typeface="Arial"/>
                <a:cs typeface="Arial"/>
              </a:defRPr>
            </a:defPPr>
          </a:lstStyle>
          <a:p xmlns:a="http://schemas.openxmlformats.org/drawingml/2006/main">
            <a:pPr algn="l">
              <a:defRPr sz="1500" b="0" i="0">
                <a:solidFill>
                  <a:srgbClr val="183B56"/>
                </a:solidFill>
                <a:latin typeface="Arial"/>
                <a:ea typeface="Arial"/>
                <a:cs typeface="Arial"/>
              </a:defRPr>
            </a:pPr>
            <a:r>
              <a:rPr sz="1500" b="0" i="0">
                <a:solidFill>
                  <a:srgbClr val="183B56"/>
                </a:solidFill>
                <a:latin typeface="Arial"/>
                <a:ea typeface="Arial"/>
                <a:cs typeface="Arial"/>
              </a:rPr>
              <a:t>Moderate cases dominate the recorded severity mix.</a:t>
            </a:r>
          </a:p>
        </p:txBody>
      </p:sp>
      <p:sp>
        <p:nvSpPr>
          <p:cNvPr id="9" name="">
            <a:extLst xmlns:a="http://schemas.openxmlformats.org/drawingml/2006/main">
              <a:ext uri="{FF2B5EF4-FFF2-40B4-BE49-F238E27FC236}">
                <a16:creationId xmlns:a16="http://schemas.microsoft.com/office/drawing/2014/main" id="{65F3C9FF-C933-4D52-B471-E6703DFAC3DE}"/>
              </a:ext>
            </a:extLst>
          </p:cNvPr>
          <p:cNvSpPr>
            <a:spLocks xmlns:a="http://schemas.openxmlformats.org/drawingml/2006/main" noGrp="1"/>
          </p:cNvSpPr>
          <p:nvPr/>
        </p:nvSpPr>
        <p:spPr>
          <a:xfrm xmlns:a="http://schemas.openxmlformats.org/drawingml/2006/main">
            <a:off x="609600" y="27813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087E8B"/>
                </a:solidFill>
                <a:latin typeface="Arial"/>
                <a:ea typeface="Arial"/>
                <a:cs typeface="Arial"/>
              </a:defRPr>
            </a:defPPr>
          </a:lstStyle>
          <a:p xmlns:a="http://schemas.openxmlformats.org/drawingml/2006/main">
            <a:pPr algn="l">
              <a:defRPr sz="1050" b="1" i="0">
                <a:solidFill>
                  <a:srgbClr val="087E8B"/>
                </a:solidFill>
                <a:latin typeface="Arial"/>
                <a:ea typeface="Arial"/>
                <a:cs typeface="Arial"/>
              </a:defRPr>
            </a:pPr>
            <a:r>
              <a:rPr sz="1050" b="1" i="0">
                <a:solidFill>
                  <a:srgbClr val="087E8B"/>
                </a:solidFill>
                <a:latin typeface="Arial"/>
                <a:ea typeface="Arial"/>
                <a:cs typeface="Arial"/>
              </a:rPr>
              <a:t>KEY OBSERVATIONS</a:t>
            </a:r>
          </a:p>
        </p:txBody>
      </p:sp>
      <p:sp>
        <p:nvSpPr>
          <p:cNvPr id="10" name="">
            <a:extLst xmlns:a="http://schemas.openxmlformats.org/drawingml/2006/main">
              <a:ext uri="{FF2B5EF4-FFF2-40B4-BE49-F238E27FC236}">
                <a16:creationId xmlns:a16="http://schemas.microsoft.com/office/drawing/2014/main" id="{08FFE321-1E8F-4002-BACA-C2E7B327F70B}"/>
              </a:ext>
            </a:extLst>
          </p:cNvPr>
          <p:cNvSpPr>
            <a:spLocks xmlns:a="http://schemas.openxmlformats.org/drawingml/2006/main" noGrp="1"/>
          </p:cNvSpPr>
          <p:nvPr/>
        </p:nvSpPr>
        <p:spPr>
          <a:xfrm xmlns:a="http://schemas.openxmlformats.org/drawingml/2006/main">
            <a:off x="609600" y="3086100"/>
            <a:ext cx="400050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a:solidFill>
                  <a:srgbClr val="183B56"/>
                </a:solidFill>
                <a:latin typeface="Arial"/>
                <a:ea typeface="Arial"/>
                <a:cs typeface="Arial"/>
              </a:defRPr>
            </a:defPPr>
          </a:lstStyle>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Moderate: 27,908 records (68.7%).</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Mild: 6,083; severe: 4,312.</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Critical: 2,293; severe plus critical: 16.3%.</a:t>
            </a:r>
          </a:p>
        </p:txBody>
      </p:sp>
      <p:sp>
        <p:nvSpPr>
          <p:cNvPr id="11" name="">
            <a:extLst xmlns:a="http://schemas.openxmlformats.org/drawingml/2006/main">
              <a:ext uri="{FF2B5EF4-FFF2-40B4-BE49-F238E27FC236}">
                <a16:creationId xmlns:a16="http://schemas.microsoft.com/office/drawing/2014/main" id="{3E8EB4D9-1335-4F5E-9D94-149B4AF13107}"/>
              </a:ext>
            </a:extLst>
          </p:cNvPr>
          <p:cNvSpPr>
            <a:spLocks xmlns:a="http://schemas.openxmlformats.org/drawingml/2006/main" noGrp="1"/>
          </p:cNvSpPr>
          <p:nvPr/>
        </p:nvSpPr>
        <p:spPr>
          <a:xfrm xmlns:a="http://schemas.openxmlformats.org/drawingml/2006/main">
            <a:off x="5105400" y="1438275"/>
            <a:ext cx="9525" cy="40957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graphicFrame>
        <p:nvGraphicFramePr>
          <p:cNvPr id="12" name="Chart">
            <a:extLst xmlns:a="http://schemas.openxmlformats.org/drawingml/2006/main">
              <a:ext uri="{FF2B5EF4-FFF2-40B4-BE49-F238E27FC236}">
                <a16:creationId xmlns:a16="http://schemas.microsoft.com/office/drawing/2014/main" id="{D3A1B14E-B4FC-4373-8DF2-9BF671B4B1E5}"/>
              </a:ext>
            </a:extLst>
          </p:cNvPr>
          <p:cNvGraphicFramePr/>
          <p:nvPr/>
        </p:nvGraphicFramePr>
        <p:xfrm>
          <a:off xmlns:a="http://schemas.openxmlformats.org/drawingml/2006/main" x="5391150" y="1524000"/>
          <a:ext xmlns:a="http://schemas.openxmlformats.org/drawingml/2006/main" cx="6096000" cy="3600450"/>
        </p:xfrm>
        <a:graphic xmlns:a="http://schemas.openxmlformats.org/drawingml/2006/main">
          <a:graphicData uri="http://schemas.openxmlformats.org/drawingml/2006/chart">
            <c:chart xmlns:r="http://schemas.openxmlformats.org/officeDocument/2006/relationships" xmlns:c="http://schemas.openxmlformats.org/drawingml/2006/chart" r:id="R43f4c3ec6c334961"/>
          </a:graphicData>
        </a:graphic>
      </p:graphicFrame>
      <p:sp>
        <p:nvSpPr>
          <p:cNvPr id="13" name="">
            <a:extLst xmlns:a="http://schemas.openxmlformats.org/drawingml/2006/main">
              <a:ext uri="{FF2B5EF4-FFF2-40B4-BE49-F238E27FC236}">
                <a16:creationId xmlns:a16="http://schemas.microsoft.com/office/drawing/2014/main" id="{FE70CCB5-E0A2-40AC-A6BC-4591ABAF8CB9}"/>
              </a:ext>
            </a:extLst>
          </p:cNvPr>
          <p:cNvSpPr>
            <a:spLocks xmlns:a="http://schemas.openxmlformats.org/drawingml/2006/main" noGrp="1"/>
          </p:cNvSpPr>
          <p:nvPr/>
        </p:nvSpPr>
        <p:spPr>
          <a:xfrm xmlns:a="http://schemas.openxmlformats.org/drawingml/2006/main">
            <a:off x="609600" y="5314950"/>
            <a:ext cx="109728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FD36ED3-AC23-45D9-A479-2DC95F334966}"/>
              </a:ext>
            </a:extLst>
          </p:cNvPr>
          <p:cNvSpPr>
            <a:spLocks xmlns:a="http://schemas.openxmlformats.org/drawingml/2006/main" noGrp="1"/>
          </p:cNvSpPr>
          <p:nvPr/>
        </p:nvSpPr>
        <p:spPr>
          <a:xfrm xmlns:a="http://schemas.openxmlformats.org/drawingml/2006/main">
            <a:off x="609600" y="54673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087E8B"/>
                </a:solidFill>
                <a:latin typeface="Arial"/>
                <a:ea typeface="Arial"/>
                <a:cs typeface="Arial"/>
              </a:defRPr>
            </a:defPPr>
          </a:lstStyle>
          <a:p xmlns:a="http://schemas.openxmlformats.org/drawingml/2006/main">
            <a:pPr algn="l">
              <a:defRPr sz="1050" b="1" i="0">
                <a:solidFill>
                  <a:srgbClr val="087E8B"/>
                </a:solidFill>
                <a:latin typeface="Arial"/>
                <a:ea typeface="Arial"/>
                <a:cs typeface="Arial"/>
              </a:defRPr>
            </a:pPr>
            <a:r>
              <a:rPr sz="1050" b="1" i="0">
                <a:solidFill>
                  <a:srgbClr val="087E8B"/>
                </a:solidFill>
                <a:latin typeface="Arial"/>
                <a:ea typeface="Arial"/>
                <a:cs typeface="Arial"/>
              </a:rPr>
              <a:t>DECISION IMPLICATION</a:t>
            </a:r>
          </a:p>
        </p:txBody>
      </p:sp>
      <p:sp>
        <p:nvSpPr>
          <p:cNvPr id="15" name="">
            <a:extLst xmlns:a="http://schemas.openxmlformats.org/drawingml/2006/main">
              <a:ext uri="{FF2B5EF4-FFF2-40B4-BE49-F238E27FC236}">
                <a16:creationId xmlns:a16="http://schemas.microsoft.com/office/drawing/2014/main" id="{F5BFDC4E-9DF7-4197-B247-4B2134779F77}"/>
              </a:ext>
            </a:extLst>
          </p:cNvPr>
          <p:cNvSpPr>
            <a:spLocks xmlns:a="http://schemas.openxmlformats.org/drawingml/2006/main" noGrp="1"/>
          </p:cNvSpPr>
          <p:nvPr/>
        </p:nvSpPr>
        <p:spPr>
          <a:xfrm xmlns:a="http://schemas.openxmlformats.org/drawingml/2006/main">
            <a:off x="2762250" y="5410200"/>
            <a:ext cx="8820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75" b="1" i="0">
                <a:solidFill>
                  <a:srgbClr val="102A43"/>
                </a:solidFill>
                <a:latin typeface="Arial"/>
                <a:ea typeface="Arial"/>
                <a:cs typeface="Arial"/>
              </a:defRPr>
            </a:defPPr>
          </a:lstStyle>
          <a:p xmlns:a="http://schemas.openxmlformats.org/drawingml/2006/main">
            <a:pPr algn="l">
              <a:defRPr sz="1575" b="1" i="0">
                <a:solidFill>
                  <a:srgbClr val="102A43"/>
                </a:solidFill>
                <a:latin typeface="Arial"/>
                <a:ea typeface="Arial"/>
                <a:cs typeface="Arial"/>
              </a:defRPr>
            </a:pPr>
            <a:r>
              <a:rPr sz="1575" b="1" i="0">
                <a:solidFill>
                  <a:srgbClr val="102A43"/>
                </a:solidFill>
                <a:latin typeface="Arial"/>
                <a:ea typeface="Arial"/>
                <a:cs typeface="Arial"/>
              </a:rPr>
              <a:t>Use acuity mix in capacity reviews; confirm the source coding definitions.</a:t>
            </a:r>
          </a:p>
        </p:txBody>
      </p:sp>
    </p:spTree>
    <p:extLst>
      <p:ext uri="{BB962C8B-B14F-4D97-AF65-F5344CB8AC3E}">
        <p14:creationId xmlns:p14="http://schemas.microsoft.com/office/powerpoint/2010/main" val="1044454358"/>
      </p:ext>
    </p:extLst>
  </p:cSld>
</p:sld>
</file>

<file path=ppt/slides/slide10.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6D20E63-A9FB-49E4-8056-4C973432839E}"/>
              </a:ext>
            </a:extLst>
          </p:cNvPr>
          <p:cNvSpPr>
            <a:spLocks xmlns:a="http://schemas.openxmlformats.org/drawingml/2006/main" noGrp="1"/>
          </p:cNvSpPr>
          <p:nvPr/>
        </p:nvSpPr>
        <p:spPr>
          <a:xfrm xmlns:a="http://schemas.openxmlformats.org/drawingml/2006/main">
            <a:off x="609600" y="3619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925" b="1" i="0">
                <a:solidFill>
                  <a:srgbClr val="102A43"/>
                </a:solidFill>
                <a:latin typeface="Arial"/>
                <a:ea typeface="Arial"/>
                <a:cs typeface="Arial"/>
              </a:defRPr>
            </a:defPPr>
          </a:lstStyle>
          <a:p xmlns:a="http://schemas.openxmlformats.org/drawingml/2006/main">
            <a:pPr algn="l">
              <a:defRPr sz="2925" b="1" i="0">
                <a:solidFill>
                  <a:srgbClr val="102A43"/>
                </a:solidFill>
                <a:latin typeface="Arial"/>
                <a:ea typeface="Arial"/>
                <a:cs typeface="Arial"/>
              </a:defRPr>
            </a:pPr>
            <a:r>
              <a:rPr sz="2925" b="1" i="0">
                <a:solidFill>
                  <a:srgbClr val="102A43"/>
                </a:solidFill>
                <a:latin typeface="Arial"/>
                <a:ea typeface="Arial"/>
                <a:cs typeface="Arial"/>
              </a:rPr>
              <a:t>Average treatment cost per patient-day</a:t>
            </a:r>
          </a:p>
        </p:txBody>
      </p:sp>
      <p:sp>
        <p:nvSpPr>
          <p:cNvPr id="2" name="">
            <a:extLst xmlns:a="http://schemas.openxmlformats.org/drawingml/2006/main">
              <a:ext uri="{FF2B5EF4-FFF2-40B4-BE49-F238E27FC236}">
                <a16:creationId xmlns:a16="http://schemas.microsoft.com/office/drawing/2014/main" id="{3E222502-3A37-4D9B-B71B-7AA5A58D7E48}"/>
              </a:ext>
            </a:extLst>
          </p:cNvPr>
          <p:cNvSpPr>
            <a:spLocks xmlns:a="http://schemas.openxmlformats.org/drawingml/2006/main" noGrp="1"/>
          </p:cNvSpPr>
          <p:nvPr/>
        </p:nvSpPr>
        <p:spPr>
          <a:xfrm xmlns:a="http://schemas.openxmlformats.org/drawingml/2006/main">
            <a:off x="628650" y="895350"/>
            <a:ext cx="10934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627D98"/>
                </a:solidFill>
                <a:latin typeface="Arial"/>
                <a:ea typeface="Arial"/>
                <a:cs typeface="Arial"/>
              </a:defRPr>
            </a:defPPr>
          </a:lstStyle>
          <a:p xmlns:a="http://schemas.openxmlformats.org/drawingml/2006/main">
            <a:pPr algn="l">
              <a:defRPr sz="1275" b="0" i="0">
                <a:solidFill>
                  <a:srgbClr val="627D98"/>
                </a:solidFill>
                <a:latin typeface="Arial"/>
                <a:ea typeface="Arial"/>
                <a:cs typeface="Arial"/>
              </a:defRPr>
            </a:pPr>
            <a:r>
              <a:rPr sz="1275" b="0" i="0">
                <a:solidFill>
                  <a:srgbClr val="627D98"/>
                </a:solidFill>
                <a:latin typeface="Arial"/>
                <a:ea typeface="Arial"/>
                <a:cs typeface="Arial"/>
              </a:rPr>
              <a:t>Column chart  |  OPD and IPD, INR</a:t>
            </a:r>
          </a:p>
        </p:txBody>
      </p:sp>
      <p:sp>
        <p:nvSpPr>
          <p:cNvPr id="3" name="">
            <a:extLst xmlns:a="http://schemas.openxmlformats.org/drawingml/2006/main">
              <a:ext uri="{FF2B5EF4-FFF2-40B4-BE49-F238E27FC236}">
                <a16:creationId xmlns:a16="http://schemas.microsoft.com/office/drawing/2014/main" id="{77A2B106-CA93-4913-892B-595B070A1F3E}"/>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BBBE85B-EBC2-4F70-83A8-AE9E97AB8BD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55027D5-6865-4C6D-AC4C-A63993CCC8A8}"/>
              </a:ext>
            </a:extLst>
          </p:cNvPr>
          <p:cNvSpPr>
            <a:spLocks xmlns:a="http://schemas.openxmlformats.org/drawingml/2006/main" noGrp="1"/>
          </p:cNvSpPr>
          <p:nvPr/>
        </p:nvSpPr>
        <p:spPr>
          <a:xfrm xmlns:a="http://schemas.openxmlformats.org/drawingml/2006/main">
            <a:off x="609600" y="649605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900" b="1" i="0">
                <a:solidFill>
                  <a:srgbClr val="627D98"/>
                </a:solidFill>
                <a:latin typeface="Arial"/>
                <a:ea typeface="Arial"/>
                <a:cs typeface="Arial"/>
              </a:defRPr>
            </a:defPPr>
          </a:lstStyle>
          <a:p xmlns:a="http://schemas.openxmlformats.org/drawingml/2006/main">
            <a:pPr algn="l">
              <a:defRPr sz="900" b="1" i="0">
                <a:solidFill>
                  <a:srgbClr val="627D98"/>
                </a:solidFill>
                <a:latin typeface="Arial"/>
                <a:ea typeface="Arial"/>
                <a:cs typeface="Arial"/>
              </a:defRPr>
            </a:pPr>
            <a:r>
              <a:rPr sz="900" b="1" i="0">
                <a:solidFill>
                  <a:srgbClr val="627D98"/>
                </a:solidFill>
                <a:latin typeface="Arial"/>
                <a:ea typeface="Arial"/>
                <a:cs typeface="Arial"/>
              </a:rPr>
              <a:t>HOSPITAL PATIENT ANALYTICS  /  JUNE 2026</a:t>
            </a:r>
          </a:p>
        </p:txBody>
      </p:sp>
      <p:sp>
        <p:nvSpPr>
          <p:cNvPr id="6" name="">
            <a:extLst xmlns:a="http://schemas.openxmlformats.org/drawingml/2006/main">
              <a:ext uri="{FF2B5EF4-FFF2-40B4-BE49-F238E27FC236}">
                <a16:creationId xmlns:a16="http://schemas.microsoft.com/office/drawing/2014/main" id="{B9BEE059-276D-44D0-965D-95479C900F58}"/>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r">
              <a:defRPr sz="1050" b="1" i="0">
                <a:solidFill>
                  <a:srgbClr val="627D98"/>
                </a:solidFill>
                <a:latin typeface="Arial"/>
                <a:ea typeface="Arial"/>
                <a:cs typeface="Arial"/>
              </a:defRPr>
            </a:defPPr>
          </a:lstStyle>
          <a:p xmlns:a="http://schemas.openxmlformats.org/drawingml/2006/main">
            <a:pPr algn="r">
              <a:defRPr sz="1050" b="1" i="0">
                <a:solidFill>
                  <a:srgbClr val="627D98"/>
                </a:solidFill>
                <a:latin typeface="Arial"/>
                <a:ea typeface="Arial"/>
                <a:cs typeface="Arial"/>
              </a:defRPr>
            </a:pPr>
            <a:r>
              <a:rPr sz="1050" b="1" i="0">
                <a:solidFill>
                  <a:srgbClr val="627D98"/>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781A3E60-AFA0-4CC4-B1EF-F0C1FC4D6988}"/>
              </a:ext>
            </a:extLst>
          </p:cNvPr>
          <p:cNvSpPr>
            <a:spLocks xmlns:a="http://schemas.openxmlformats.org/drawingml/2006/main" noGrp="1"/>
          </p:cNvSpPr>
          <p:nvPr/>
        </p:nvSpPr>
        <p:spPr>
          <a:xfrm xmlns:a="http://schemas.openxmlformats.org/drawingml/2006/main">
            <a:off x="609600" y="1381125"/>
            <a:ext cx="4095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725" b="1" i="0">
                <a:solidFill>
                  <a:srgbClr val="102A43"/>
                </a:solidFill>
                <a:latin typeface="Arial"/>
                <a:ea typeface="Arial"/>
                <a:cs typeface="Arial"/>
              </a:defRPr>
            </a:defPPr>
          </a:lstStyle>
          <a:p xmlns:a="http://schemas.openxmlformats.org/drawingml/2006/main">
            <a:pPr algn="l">
              <a:defRPr sz="1725" b="1" i="0">
                <a:solidFill>
                  <a:srgbClr val="102A43"/>
                </a:solidFill>
                <a:latin typeface="Arial"/>
                <a:ea typeface="Arial"/>
                <a:cs typeface="Arial"/>
              </a:defRPr>
            </a:pPr>
            <a:r>
              <a:rPr sz="1725" b="1" i="0">
                <a:solidFill>
                  <a:srgbClr val="102A43"/>
                </a:solidFill>
                <a:latin typeface="Arial"/>
                <a:ea typeface="Arial"/>
                <a:cs typeface="Arial"/>
              </a:rPr>
              <a:t>Primary insight</a:t>
            </a:r>
          </a:p>
        </p:txBody>
      </p:sp>
      <p:sp>
        <p:nvSpPr>
          <p:cNvPr id="8" name="">
            <a:extLst xmlns:a="http://schemas.openxmlformats.org/drawingml/2006/main">
              <a:ext uri="{FF2B5EF4-FFF2-40B4-BE49-F238E27FC236}">
                <a16:creationId xmlns:a16="http://schemas.microsoft.com/office/drawing/2014/main" id="{E421C72B-85F4-46F4-B35E-99553B81F630}"/>
              </a:ext>
            </a:extLst>
          </p:cNvPr>
          <p:cNvSpPr>
            <a:spLocks xmlns:a="http://schemas.openxmlformats.org/drawingml/2006/main" noGrp="1"/>
          </p:cNvSpPr>
          <p:nvPr/>
        </p:nvSpPr>
        <p:spPr>
          <a:xfrm xmlns:a="http://schemas.openxmlformats.org/drawingml/2006/main">
            <a:off x="609600" y="1943100"/>
            <a:ext cx="4095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00" b="0" i="0">
                <a:solidFill>
                  <a:srgbClr val="183B56"/>
                </a:solidFill>
                <a:latin typeface="Arial"/>
                <a:ea typeface="Arial"/>
                <a:cs typeface="Arial"/>
              </a:defRPr>
            </a:defPPr>
          </a:lstStyle>
          <a:p xmlns:a="http://schemas.openxmlformats.org/drawingml/2006/main">
            <a:pPr algn="l">
              <a:defRPr sz="1500" b="0" i="0">
                <a:solidFill>
                  <a:srgbClr val="183B56"/>
                </a:solidFill>
                <a:latin typeface="Arial"/>
                <a:ea typeface="Arial"/>
                <a:cs typeface="Arial"/>
              </a:defRPr>
            </a:pPr>
            <a:r>
              <a:rPr sz="1500" b="0" i="0">
                <a:solidFill>
                  <a:srgbClr val="183B56"/>
                </a:solidFill>
                <a:latin typeface="Arial"/>
                <a:ea typeface="Arial"/>
                <a:cs typeface="Arial"/>
              </a:rPr>
              <a:t>Recorded IPD cost per patient-day is about 3.6× OPD.</a:t>
            </a:r>
          </a:p>
        </p:txBody>
      </p:sp>
      <p:sp>
        <p:nvSpPr>
          <p:cNvPr id="9" name="">
            <a:extLst xmlns:a="http://schemas.openxmlformats.org/drawingml/2006/main">
              <a:ext uri="{FF2B5EF4-FFF2-40B4-BE49-F238E27FC236}">
                <a16:creationId xmlns:a16="http://schemas.microsoft.com/office/drawing/2014/main" id="{6D9E9F6D-EA02-4702-8065-7EDAF2D53B06}"/>
              </a:ext>
            </a:extLst>
          </p:cNvPr>
          <p:cNvSpPr>
            <a:spLocks xmlns:a="http://schemas.openxmlformats.org/drawingml/2006/main" noGrp="1"/>
          </p:cNvSpPr>
          <p:nvPr/>
        </p:nvSpPr>
        <p:spPr>
          <a:xfrm xmlns:a="http://schemas.openxmlformats.org/drawingml/2006/main">
            <a:off x="609600" y="27813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087E8B"/>
                </a:solidFill>
                <a:latin typeface="Arial"/>
                <a:ea typeface="Arial"/>
                <a:cs typeface="Arial"/>
              </a:defRPr>
            </a:defPPr>
          </a:lstStyle>
          <a:p xmlns:a="http://schemas.openxmlformats.org/drawingml/2006/main">
            <a:pPr algn="l">
              <a:defRPr sz="1050" b="1" i="0">
                <a:solidFill>
                  <a:srgbClr val="087E8B"/>
                </a:solidFill>
                <a:latin typeface="Arial"/>
                <a:ea typeface="Arial"/>
                <a:cs typeface="Arial"/>
              </a:defRPr>
            </a:pPr>
            <a:r>
              <a:rPr sz="1050" b="1" i="0">
                <a:solidFill>
                  <a:srgbClr val="087E8B"/>
                </a:solidFill>
                <a:latin typeface="Arial"/>
                <a:ea typeface="Arial"/>
                <a:cs typeface="Arial"/>
              </a:rPr>
              <a:t>KEY OBSERVATIONS</a:t>
            </a:r>
          </a:p>
        </p:txBody>
      </p:sp>
      <p:sp>
        <p:nvSpPr>
          <p:cNvPr id="10" name="">
            <a:extLst xmlns:a="http://schemas.openxmlformats.org/drawingml/2006/main">
              <a:ext uri="{FF2B5EF4-FFF2-40B4-BE49-F238E27FC236}">
                <a16:creationId xmlns:a16="http://schemas.microsoft.com/office/drawing/2014/main" id="{AE81D6CE-A8CD-4A6E-AB7D-D632B7A21213}"/>
              </a:ext>
            </a:extLst>
          </p:cNvPr>
          <p:cNvSpPr>
            <a:spLocks xmlns:a="http://schemas.openxmlformats.org/drawingml/2006/main" noGrp="1"/>
          </p:cNvSpPr>
          <p:nvPr/>
        </p:nvSpPr>
        <p:spPr>
          <a:xfrm xmlns:a="http://schemas.openxmlformats.org/drawingml/2006/main">
            <a:off x="609600" y="3086100"/>
            <a:ext cx="400050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a:solidFill>
                  <a:srgbClr val="183B56"/>
                </a:solidFill>
                <a:latin typeface="Arial"/>
                <a:ea typeface="Arial"/>
                <a:cs typeface="Arial"/>
              </a:defRPr>
            </a:defPPr>
          </a:lstStyle>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IPD: ₹14,237.55 per patient-day.</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OPD: ₹3,972.30 per patient-day.</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Compare only after confirming cost and day definitions.</a:t>
            </a:r>
          </a:p>
        </p:txBody>
      </p:sp>
      <p:sp>
        <p:nvSpPr>
          <p:cNvPr id="11" name="">
            <a:extLst xmlns:a="http://schemas.openxmlformats.org/drawingml/2006/main">
              <a:ext uri="{FF2B5EF4-FFF2-40B4-BE49-F238E27FC236}">
                <a16:creationId xmlns:a16="http://schemas.microsoft.com/office/drawing/2014/main" id="{B9507270-F391-49ED-A973-771B6B385DAC}"/>
              </a:ext>
            </a:extLst>
          </p:cNvPr>
          <p:cNvSpPr>
            <a:spLocks xmlns:a="http://schemas.openxmlformats.org/drawingml/2006/main" noGrp="1"/>
          </p:cNvSpPr>
          <p:nvPr/>
        </p:nvSpPr>
        <p:spPr>
          <a:xfrm xmlns:a="http://schemas.openxmlformats.org/drawingml/2006/main">
            <a:off x="5105400" y="1438275"/>
            <a:ext cx="9525" cy="40957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graphicFrame>
        <p:nvGraphicFramePr>
          <p:cNvPr id="12" name="Chart">
            <a:extLst xmlns:a="http://schemas.openxmlformats.org/drawingml/2006/main">
              <a:ext uri="{FF2B5EF4-FFF2-40B4-BE49-F238E27FC236}">
                <a16:creationId xmlns:a16="http://schemas.microsoft.com/office/drawing/2014/main" id="{201E4FBF-26E3-4C69-8D37-C950D6AC0A1F}"/>
              </a:ext>
            </a:extLst>
          </p:cNvPr>
          <p:cNvGraphicFramePr/>
          <p:nvPr/>
        </p:nvGraphicFramePr>
        <p:xfrm>
          <a:off xmlns:a="http://schemas.openxmlformats.org/drawingml/2006/main" x="5486400" y="1524000"/>
          <a:ext xmlns:a="http://schemas.openxmlformats.org/drawingml/2006/main" cx="5905500" cy="3600450"/>
        </p:xfrm>
        <a:graphic xmlns:a="http://schemas.openxmlformats.org/drawingml/2006/main">
          <a:graphicData uri="http://schemas.openxmlformats.org/drawingml/2006/chart">
            <c:chart xmlns:r="http://schemas.openxmlformats.org/officeDocument/2006/relationships" xmlns:c="http://schemas.openxmlformats.org/drawingml/2006/chart" r:id="Raadff5eab2834e71"/>
          </a:graphicData>
        </a:graphic>
      </p:graphicFrame>
      <p:sp>
        <p:nvSpPr>
          <p:cNvPr id="13" name="">
            <a:extLst xmlns:a="http://schemas.openxmlformats.org/drawingml/2006/main">
              <a:ext uri="{FF2B5EF4-FFF2-40B4-BE49-F238E27FC236}">
                <a16:creationId xmlns:a16="http://schemas.microsoft.com/office/drawing/2014/main" id="{B5254B69-5F81-46EB-8FDE-D33B438E4D46}"/>
              </a:ext>
            </a:extLst>
          </p:cNvPr>
          <p:cNvSpPr>
            <a:spLocks xmlns:a="http://schemas.openxmlformats.org/drawingml/2006/main" noGrp="1"/>
          </p:cNvSpPr>
          <p:nvPr/>
        </p:nvSpPr>
        <p:spPr>
          <a:xfrm xmlns:a="http://schemas.openxmlformats.org/drawingml/2006/main">
            <a:off x="609600" y="5314950"/>
            <a:ext cx="109728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605C36C-4B75-438C-A1F1-144040743ABD}"/>
              </a:ext>
            </a:extLst>
          </p:cNvPr>
          <p:cNvSpPr>
            <a:spLocks xmlns:a="http://schemas.openxmlformats.org/drawingml/2006/main" noGrp="1"/>
          </p:cNvSpPr>
          <p:nvPr/>
        </p:nvSpPr>
        <p:spPr>
          <a:xfrm xmlns:a="http://schemas.openxmlformats.org/drawingml/2006/main">
            <a:off x="609600" y="54673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087E8B"/>
                </a:solidFill>
                <a:latin typeface="Arial"/>
                <a:ea typeface="Arial"/>
                <a:cs typeface="Arial"/>
              </a:defRPr>
            </a:defPPr>
          </a:lstStyle>
          <a:p xmlns:a="http://schemas.openxmlformats.org/drawingml/2006/main">
            <a:pPr algn="l">
              <a:defRPr sz="1050" b="1" i="0">
                <a:solidFill>
                  <a:srgbClr val="087E8B"/>
                </a:solidFill>
                <a:latin typeface="Arial"/>
                <a:ea typeface="Arial"/>
                <a:cs typeface="Arial"/>
              </a:defRPr>
            </a:pPr>
            <a:r>
              <a:rPr sz="1050" b="1" i="0">
                <a:solidFill>
                  <a:srgbClr val="087E8B"/>
                </a:solidFill>
                <a:latin typeface="Arial"/>
                <a:ea typeface="Arial"/>
                <a:cs typeface="Arial"/>
              </a:rPr>
              <a:t>DECISION IMPLICATION</a:t>
            </a:r>
          </a:p>
        </p:txBody>
      </p:sp>
      <p:sp>
        <p:nvSpPr>
          <p:cNvPr id="15" name="">
            <a:extLst xmlns:a="http://schemas.openxmlformats.org/drawingml/2006/main">
              <a:ext uri="{FF2B5EF4-FFF2-40B4-BE49-F238E27FC236}">
                <a16:creationId xmlns:a16="http://schemas.microsoft.com/office/drawing/2014/main" id="{B89A3EF8-48F5-4BBA-A796-952680D17B5A}"/>
              </a:ext>
            </a:extLst>
          </p:cNvPr>
          <p:cNvSpPr>
            <a:spLocks xmlns:a="http://schemas.openxmlformats.org/drawingml/2006/main" noGrp="1"/>
          </p:cNvSpPr>
          <p:nvPr/>
        </p:nvSpPr>
        <p:spPr>
          <a:xfrm xmlns:a="http://schemas.openxmlformats.org/drawingml/2006/main">
            <a:off x="2762250" y="5410200"/>
            <a:ext cx="8820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75" b="1" i="0">
                <a:solidFill>
                  <a:srgbClr val="102A43"/>
                </a:solidFill>
                <a:latin typeface="Arial"/>
                <a:ea typeface="Arial"/>
                <a:cs typeface="Arial"/>
              </a:defRPr>
            </a:defPPr>
          </a:lstStyle>
          <a:p xmlns:a="http://schemas.openxmlformats.org/drawingml/2006/main">
            <a:pPr algn="l">
              <a:defRPr sz="1575" b="1" i="0">
                <a:solidFill>
                  <a:srgbClr val="102A43"/>
                </a:solidFill>
                <a:latin typeface="Arial"/>
                <a:ea typeface="Arial"/>
                <a:cs typeface="Arial"/>
              </a:defRPr>
            </a:pPr>
            <a:r>
              <a:rPr sz="1575" b="1" i="0">
                <a:solidFill>
                  <a:srgbClr val="102A43"/>
                </a:solidFill>
                <a:latin typeface="Arial"/>
                <a:ea typeface="Arial"/>
                <a:cs typeface="Arial"/>
              </a:rPr>
              <a:t>Review inpatient cost drivers and validate patient-day calculations.</a:t>
            </a:r>
          </a:p>
        </p:txBody>
      </p:sp>
    </p:spTree>
    <p:extLst>
      <p:ext uri="{BB962C8B-B14F-4D97-AF65-F5344CB8AC3E}">
        <p14:creationId xmlns:p14="http://schemas.microsoft.com/office/powerpoint/2010/main" val="1042151678"/>
      </p:ext>
    </p:extLst>
  </p:cSld>
</p:sld>
</file>

<file path=ppt/slides/slide1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C051C37-6624-4678-AFD4-2E73D190ECF5}"/>
              </a:ext>
            </a:extLst>
          </p:cNvPr>
          <p:cNvSpPr>
            <a:spLocks xmlns:a="http://schemas.openxmlformats.org/drawingml/2006/main" noGrp="1"/>
          </p:cNvSpPr>
          <p:nvPr/>
        </p:nvSpPr>
        <p:spPr>
          <a:xfrm xmlns:a="http://schemas.openxmlformats.org/drawingml/2006/main">
            <a:off x="609600" y="3619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925" b="1" i="0">
                <a:solidFill>
                  <a:srgbClr val="102A43"/>
                </a:solidFill>
                <a:latin typeface="Arial"/>
                <a:ea typeface="Arial"/>
                <a:cs typeface="Arial"/>
              </a:defRPr>
            </a:defPPr>
          </a:lstStyle>
          <a:p xmlns:a="http://schemas.openxmlformats.org/drawingml/2006/main">
            <a:pPr algn="l">
              <a:defRPr sz="2925" b="1" i="0">
                <a:solidFill>
                  <a:srgbClr val="102A43"/>
                </a:solidFill>
                <a:latin typeface="Arial"/>
                <a:ea typeface="Arial"/>
                <a:cs typeface="Arial"/>
              </a:defRPr>
            </a:pPr>
            <a:r>
              <a:rPr sz="2925" b="1" i="0">
                <a:solidFill>
                  <a:srgbClr val="102A43"/>
                </a:solidFill>
                <a:latin typeface="Arial"/>
                <a:ea typeface="Arial"/>
                <a:cs typeface="Arial"/>
              </a:rPr>
              <a:t>Average service time</a:t>
            </a:r>
          </a:p>
        </p:txBody>
      </p:sp>
      <p:sp>
        <p:nvSpPr>
          <p:cNvPr id="2" name="">
            <a:extLst xmlns:a="http://schemas.openxmlformats.org/drawingml/2006/main">
              <a:ext uri="{FF2B5EF4-FFF2-40B4-BE49-F238E27FC236}">
                <a16:creationId xmlns:a16="http://schemas.microsoft.com/office/drawing/2014/main" id="{7B5D189A-311A-4FBA-916A-1EB862457117}"/>
              </a:ext>
            </a:extLst>
          </p:cNvPr>
          <p:cNvSpPr>
            <a:spLocks xmlns:a="http://schemas.openxmlformats.org/drawingml/2006/main" noGrp="1"/>
          </p:cNvSpPr>
          <p:nvPr/>
        </p:nvSpPr>
        <p:spPr>
          <a:xfrm xmlns:a="http://schemas.openxmlformats.org/drawingml/2006/main">
            <a:off x="628650" y="895350"/>
            <a:ext cx="10934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627D98"/>
                </a:solidFill>
                <a:latin typeface="Arial"/>
                <a:ea typeface="Arial"/>
                <a:cs typeface="Arial"/>
              </a:defRPr>
            </a:defPPr>
          </a:lstStyle>
          <a:p xmlns:a="http://schemas.openxmlformats.org/drawingml/2006/main">
            <a:pPr algn="l">
              <a:defRPr sz="1275" b="0" i="0">
                <a:solidFill>
                  <a:srgbClr val="627D98"/>
                </a:solidFill>
                <a:latin typeface="Arial"/>
                <a:ea typeface="Arial"/>
                <a:cs typeface="Arial"/>
              </a:defRPr>
            </a:pPr>
            <a:r>
              <a:rPr sz="1275" b="0" i="0">
                <a:solidFill>
                  <a:srgbClr val="627D98"/>
                </a:solidFill>
                <a:latin typeface="Arial"/>
                <a:ea typeface="Arial"/>
                <a:cs typeface="Arial"/>
              </a:rPr>
              <a:t>Column chart  |  Service-specific minutes</a:t>
            </a:r>
          </a:p>
        </p:txBody>
      </p:sp>
      <p:sp>
        <p:nvSpPr>
          <p:cNvPr id="3" name="">
            <a:extLst xmlns:a="http://schemas.openxmlformats.org/drawingml/2006/main">
              <a:ext uri="{FF2B5EF4-FFF2-40B4-BE49-F238E27FC236}">
                <a16:creationId xmlns:a16="http://schemas.microsoft.com/office/drawing/2014/main" id="{F8042164-7BC6-4555-AB23-E30AA85659DE}"/>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E1B33C9-6D3D-4226-AC0B-7B998EB71855}"/>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D01BC50-D9AC-4AF3-A2F7-E761600409D6}"/>
              </a:ext>
            </a:extLst>
          </p:cNvPr>
          <p:cNvSpPr>
            <a:spLocks xmlns:a="http://schemas.openxmlformats.org/drawingml/2006/main" noGrp="1"/>
          </p:cNvSpPr>
          <p:nvPr/>
        </p:nvSpPr>
        <p:spPr>
          <a:xfrm xmlns:a="http://schemas.openxmlformats.org/drawingml/2006/main">
            <a:off x="609600" y="649605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900" b="1" i="0">
                <a:solidFill>
                  <a:srgbClr val="627D98"/>
                </a:solidFill>
                <a:latin typeface="Arial"/>
                <a:ea typeface="Arial"/>
                <a:cs typeface="Arial"/>
              </a:defRPr>
            </a:defPPr>
          </a:lstStyle>
          <a:p xmlns:a="http://schemas.openxmlformats.org/drawingml/2006/main">
            <a:pPr algn="l">
              <a:defRPr sz="900" b="1" i="0">
                <a:solidFill>
                  <a:srgbClr val="627D98"/>
                </a:solidFill>
                <a:latin typeface="Arial"/>
                <a:ea typeface="Arial"/>
                <a:cs typeface="Arial"/>
              </a:defRPr>
            </a:pPr>
            <a:r>
              <a:rPr sz="900" b="1" i="0">
                <a:solidFill>
                  <a:srgbClr val="627D98"/>
                </a:solidFill>
                <a:latin typeface="Arial"/>
                <a:ea typeface="Arial"/>
                <a:cs typeface="Arial"/>
              </a:rPr>
              <a:t>HOSPITAL PATIENT ANALYTICS  /  JUNE 2026</a:t>
            </a:r>
          </a:p>
        </p:txBody>
      </p:sp>
      <p:sp>
        <p:nvSpPr>
          <p:cNvPr id="6" name="">
            <a:extLst xmlns:a="http://schemas.openxmlformats.org/drawingml/2006/main">
              <a:ext uri="{FF2B5EF4-FFF2-40B4-BE49-F238E27FC236}">
                <a16:creationId xmlns:a16="http://schemas.microsoft.com/office/drawing/2014/main" id="{5C72006A-E2E5-4500-BADB-566C7A11CBA4}"/>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r">
              <a:defRPr sz="1050" b="1" i="0">
                <a:solidFill>
                  <a:srgbClr val="627D98"/>
                </a:solidFill>
                <a:latin typeface="Arial"/>
                <a:ea typeface="Arial"/>
                <a:cs typeface="Arial"/>
              </a:defRPr>
            </a:defPPr>
          </a:lstStyle>
          <a:p xmlns:a="http://schemas.openxmlformats.org/drawingml/2006/main">
            <a:pPr algn="r">
              <a:defRPr sz="1050" b="1" i="0">
                <a:solidFill>
                  <a:srgbClr val="627D98"/>
                </a:solidFill>
                <a:latin typeface="Arial"/>
                <a:ea typeface="Arial"/>
                <a:cs typeface="Arial"/>
              </a:defRPr>
            </a:pPr>
            <a:r>
              <a:rPr sz="1050" b="1" i="0">
                <a:solidFill>
                  <a:srgbClr val="627D98"/>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E31D1551-4F2A-45EA-853F-78451E7A886C}"/>
              </a:ext>
            </a:extLst>
          </p:cNvPr>
          <p:cNvSpPr>
            <a:spLocks xmlns:a="http://schemas.openxmlformats.org/drawingml/2006/main" noGrp="1"/>
          </p:cNvSpPr>
          <p:nvPr/>
        </p:nvSpPr>
        <p:spPr>
          <a:xfrm xmlns:a="http://schemas.openxmlformats.org/drawingml/2006/main">
            <a:off x="609600" y="1381125"/>
            <a:ext cx="4095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725" b="1" i="0">
                <a:solidFill>
                  <a:srgbClr val="102A43"/>
                </a:solidFill>
                <a:latin typeface="Arial"/>
                <a:ea typeface="Arial"/>
                <a:cs typeface="Arial"/>
              </a:defRPr>
            </a:defPPr>
          </a:lstStyle>
          <a:p xmlns:a="http://schemas.openxmlformats.org/drawingml/2006/main">
            <a:pPr algn="l">
              <a:defRPr sz="1725" b="1" i="0">
                <a:solidFill>
                  <a:srgbClr val="102A43"/>
                </a:solidFill>
                <a:latin typeface="Arial"/>
                <a:ea typeface="Arial"/>
                <a:cs typeface="Arial"/>
              </a:defRPr>
            </a:pPr>
            <a:r>
              <a:rPr sz="1725" b="1" i="0">
                <a:solidFill>
                  <a:srgbClr val="102A43"/>
                </a:solidFill>
                <a:latin typeface="Arial"/>
                <a:ea typeface="Arial"/>
                <a:cs typeface="Arial"/>
              </a:rPr>
              <a:t>Primary insight</a:t>
            </a:r>
          </a:p>
        </p:txBody>
      </p:sp>
      <p:sp>
        <p:nvSpPr>
          <p:cNvPr id="8" name="">
            <a:extLst xmlns:a="http://schemas.openxmlformats.org/drawingml/2006/main">
              <a:ext uri="{FF2B5EF4-FFF2-40B4-BE49-F238E27FC236}">
                <a16:creationId xmlns:a16="http://schemas.microsoft.com/office/drawing/2014/main" id="{826A5F44-0E36-43C9-9929-F1601F6BA6AB}"/>
              </a:ext>
            </a:extLst>
          </p:cNvPr>
          <p:cNvSpPr>
            <a:spLocks xmlns:a="http://schemas.openxmlformats.org/drawingml/2006/main" noGrp="1"/>
          </p:cNvSpPr>
          <p:nvPr/>
        </p:nvSpPr>
        <p:spPr>
          <a:xfrm xmlns:a="http://schemas.openxmlformats.org/drawingml/2006/main">
            <a:off x="609600" y="1943100"/>
            <a:ext cx="4095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00" b="0" i="0">
                <a:solidFill>
                  <a:srgbClr val="183B56"/>
                </a:solidFill>
                <a:latin typeface="Arial"/>
                <a:ea typeface="Arial"/>
                <a:cs typeface="Arial"/>
              </a:defRPr>
            </a:defPPr>
          </a:lstStyle>
          <a:p xmlns:a="http://schemas.openxmlformats.org/drawingml/2006/main">
            <a:pPr algn="l">
              <a:defRPr sz="1500" b="0" i="0">
                <a:solidFill>
                  <a:srgbClr val="183B56"/>
                </a:solidFill>
                <a:latin typeface="Arial"/>
                <a:ea typeface="Arial"/>
                <a:cs typeface="Arial"/>
              </a:defRPr>
            </a:pPr>
            <a:r>
              <a:rPr sz="1500" b="0" i="0">
                <a:solidFill>
                  <a:srgbClr val="183B56"/>
                </a:solidFill>
                <a:latin typeface="Arial"/>
                <a:ea typeface="Arial"/>
                <a:cs typeface="Arial"/>
              </a:rPr>
              <a:t>OPD waiting and IPD room allocation average distinct service times.</a:t>
            </a:r>
          </a:p>
        </p:txBody>
      </p:sp>
      <p:sp>
        <p:nvSpPr>
          <p:cNvPr id="9" name="">
            <a:extLst xmlns:a="http://schemas.openxmlformats.org/drawingml/2006/main">
              <a:ext uri="{FF2B5EF4-FFF2-40B4-BE49-F238E27FC236}">
                <a16:creationId xmlns:a16="http://schemas.microsoft.com/office/drawing/2014/main" id="{ABE898DC-F9BD-4E58-80B6-4E4BE8765680}"/>
              </a:ext>
            </a:extLst>
          </p:cNvPr>
          <p:cNvSpPr>
            <a:spLocks xmlns:a="http://schemas.openxmlformats.org/drawingml/2006/main" noGrp="1"/>
          </p:cNvSpPr>
          <p:nvPr/>
        </p:nvSpPr>
        <p:spPr>
          <a:xfrm xmlns:a="http://schemas.openxmlformats.org/drawingml/2006/main">
            <a:off x="609600" y="27813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087E8B"/>
                </a:solidFill>
                <a:latin typeface="Arial"/>
                <a:ea typeface="Arial"/>
                <a:cs typeface="Arial"/>
              </a:defRPr>
            </a:defPPr>
          </a:lstStyle>
          <a:p xmlns:a="http://schemas.openxmlformats.org/drawingml/2006/main">
            <a:pPr algn="l">
              <a:defRPr sz="1050" b="1" i="0">
                <a:solidFill>
                  <a:srgbClr val="087E8B"/>
                </a:solidFill>
                <a:latin typeface="Arial"/>
                <a:ea typeface="Arial"/>
                <a:cs typeface="Arial"/>
              </a:defRPr>
            </a:pPr>
            <a:r>
              <a:rPr sz="1050" b="1" i="0">
                <a:solidFill>
                  <a:srgbClr val="087E8B"/>
                </a:solidFill>
                <a:latin typeface="Arial"/>
                <a:ea typeface="Arial"/>
                <a:cs typeface="Arial"/>
              </a:rPr>
              <a:t>KEY OBSERVATIONS</a:t>
            </a:r>
          </a:p>
        </p:txBody>
      </p:sp>
      <p:sp>
        <p:nvSpPr>
          <p:cNvPr id="10" name="">
            <a:extLst xmlns:a="http://schemas.openxmlformats.org/drawingml/2006/main">
              <a:ext uri="{FF2B5EF4-FFF2-40B4-BE49-F238E27FC236}">
                <a16:creationId xmlns:a16="http://schemas.microsoft.com/office/drawing/2014/main" id="{50BA6DD5-8316-47B7-B067-9131B8FA6ECE}"/>
              </a:ext>
            </a:extLst>
          </p:cNvPr>
          <p:cNvSpPr>
            <a:spLocks xmlns:a="http://schemas.openxmlformats.org/drawingml/2006/main" noGrp="1"/>
          </p:cNvSpPr>
          <p:nvPr/>
        </p:nvSpPr>
        <p:spPr>
          <a:xfrm xmlns:a="http://schemas.openxmlformats.org/drawingml/2006/main">
            <a:off x="609600" y="3086100"/>
            <a:ext cx="400050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a:solidFill>
                  <a:srgbClr val="183B56"/>
                </a:solidFill>
                <a:latin typeface="Arial"/>
                <a:ea typeface="Arial"/>
                <a:cs typeface="Arial"/>
              </a:defRPr>
            </a:defPPr>
          </a:lstStyle>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OPD average waiting time: 44.5 minutes.</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IPD average room allocation: 34.8 minutes.</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Do not compare as equivalent workflow measures.</a:t>
            </a:r>
          </a:p>
        </p:txBody>
      </p:sp>
      <p:sp>
        <p:nvSpPr>
          <p:cNvPr id="11" name="">
            <a:extLst xmlns:a="http://schemas.openxmlformats.org/drawingml/2006/main">
              <a:ext uri="{FF2B5EF4-FFF2-40B4-BE49-F238E27FC236}">
                <a16:creationId xmlns:a16="http://schemas.microsoft.com/office/drawing/2014/main" id="{080BDA18-FD32-40C9-919F-8D49E692402D}"/>
              </a:ext>
            </a:extLst>
          </p:cNvPr>
          <p:cNvSpPr>
            <a:spLocks xmlns:a="http://schemas.openxmlformats.org/drawingml/2006/main" noGrp="1"/>
          </p:cNvSpPr>
          <p:nvPr/>
        </p:nvSpPr>
        <p:spPr>
          <a:xfrm xmlns:a="http://schemas.openxmlformats.org/drawingml/2006/main">
            <a:off x="5105400" y="1438275"/>
            <a:ext cx="9525" cy="40957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graphicFrame>
        <p:nvGraphicFramePr>
          <p:cNvPr id="12" name="Chart">
            <a:extLst xmlns:a="http://schemas.openxmlformats.org/drawingml/2006/main">
              <a:ext uri="{FF2B5EF4-FFF2-40B4-BE49-F238E27FC236}">
                <a16:creationId xmlns:a16="http://schemas.microsoft.com/office/drawing/2014/main" id="{E542392C-C79D-4902-BA0C-2EC08BDA61BD}"/>
              </a:ext>
            </a:extLst>
          </p:cNvPr>
          <p:cNvGraphicFramePr/>
          <p:nvPr/>
        </p:nvGraphicFramePr>
        <p:xfrm>
          <a:off xmlns:a="http://schemas.openxmlformats.org/drawingml/2006/main" x="5486400" y="1524000"/>
          <a:ext xmlns:a="http://schemas.openxmlformats.org/drawingml/2006/main" cx="5905500" cy="3600450"/>
        </p:xfrm>
        <a:graphic xmlns:a="http://schemas.openxmlformats.org/drawingml/2006/main">
          <a:graphicData uri="http://schemas.openxmlformats.org/drawingml/2006/chart">
            <c:chart xmlns:r="http://schemas.openxmlformats.org/officeDocument/2006/relationships" xmlns:c="http://schemas.openxmlformats.org/drawingml/2006/chart" r:id="Rc9dc9f71b9c145d2"/>
          </a:graphicData>
        </a:graphic>
      </p:graphicFrame>
      <p:sp>
        <p:nvSpPr>
          <p:cNvPr id="13" name="">
            <a:extLst xmlns:a="http://schemas.openxmlformats.org/drawingml/2006/main">
              <a:ext uri="{FF2B5EF4-FFF2-40B4-BE49-F238E27FC236}">
                <a16:creationId xmlns:a16="http://schemas.microsoft.com/office/drawing/2014/main" id="{8C5604B9-37CF-4D60-AAF7-1CB2E4E6CDD3}"/>
              </a:ext>
            </a:extLst>
          </p:cNvPr>
          <p:cNvSpPr>
            <a:spLocks xmlns:a="http://schemas.openxmlformats.org/drawingml/2006/main" noGrp="1"/>
          </p:cNvSpPr>
          <p:nvPr/>
        </p:nvSpPr>
        <p:spPr>
          <a:xfrm xmlns:a="http://schemas.openxmlformats.org/drawingml/2006/main">
            <a:off x="609600" y="5314950"/>
            <a:ext cx="109728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26DFB00-1B5C-4A39-A4A3-00CE9A335546}"/>
              </a:ext>
            </a:extLst>
          </p:cNvPr>
          <p:cNvSpPr>
            <a:spLocks xmlns:a="http://schemas.openxmlformats.org/drawingml/2006/main" noGrp="1"/>
          </p:cNvSpPr>
          <p:nvPr/>
        </p:nvSpPr>
        <p:spPr>
          <a:xfrm xmlns:a="http://schemas.openxmlformats.org/drawingml/2006/main">
            <a:off x="609600" y="54673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087E8B"/>
                </a:solidFill>
                <a:latin typeface="Arial"/>
                <a:ea typeface="Arial"/>
                <a:cs typeface="Arial"/>
              </a:defRPr>
            </a:defPPr>
          </a:lstStyle>
          <a:p xmlns:a="http://schemas.openxmlformats.org/drawingml/2006/main">
            <a:pPr algn="l">
              <a:defRPr sz="1050" b="1" i="0">
                <a:solidFill>
                  <a:srgbClr val="087E8B"/>
                </a:solidFill>
                <a:latin typeface="Arial"/>
                <a:ea typeface="Arial"/>
                <a:cs typeface="Arial"/>
              </a:defRPr>
            </a:pPr>
            <a:r>
              <a:rPr sz="1050" b="1" i="0">
                <a:solidFill>
                  <a:srgbClr val="087E8B"/>
                </a:solidFill>
                <a:latin typeface="Arial"/>
                <a:ea typeface="Arial"/>
                <a:cs typeface="Arial"/>
              </a:rPr>
              <a:t>DECISION IMPLICATION</a:t>
            </a:r>
          </a:p>
        </p:txBody>
      </p:sp>
      <p:sp>
        <p:nvSpPr>
          <p:cNvPr id="15" name="">
            <a:extLst xmlns:a="http://schemas.openxmlformats.org/drawingml/2006/main">
              <a:ext uri="{FF2B5EF4-FFF2-40B4-BE49-F238E27FC236}">
                <a16:creationId xmlns:a16="http://schemas.microsoft.com/office/drawing/2014/main" id="{337AC1E6-CD9E-4087-AB11-8C1027F8BD94}"/>
              </a:ext>
            </a:extLst>
          </p:cNvPr>
          <p:cNvSpPr>
            <a:spLocks xmlns:a="http://schemas.openxmlformats.org/drawingml/2006/main" noGrp="1"/>
          </p:cNvSpPr>
          <p:nvPr/>
        </p:nvSpPr>
        <p:spPr>
          <a:xfrm xmlns:a="http://schemas.openxmlformats.org/drawingml/2006/main">
            <a:off x="2762250" y="5410200"/>
            <a:ext cx="8820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75" b="1" i="0">
                <a:solidFill>
                  <a:srgbClr val="102A43"/>
                </a:solidFill>
                <a:latin typeface="Arial"/>
                <a:ea typeface="Arial"/>
                <a:cs typeface="Arial"/>
              </a:defRPr>
            </a:defPPr>
          </a:lstStyle>
          <a:p xmlns:a="http://schemas.openxmlformats.org/drawingml/2006/main">
            <a:pPr algn="l">
              <a:defRPr sz="1575" b="1" i="0">
                <a:solidFill>
                  <a:srgbClr val="102A43"/>
                </a:solidFill>
                <a:latin typeface="Arial"/>
                <a:ea typeface="Arial"/>
                <a:cs typeface="Arial"/>
              </a:defRPr>
            </a:pPr>
            <a:r>
              <a:rPr sz="1575" b="1" i="0">
                <a:solidFill>
                  <a:srgbClr val="102A43"/>
                </a:solidFill>
                <a:latin typeface="Arial"/>
                <a:ea typeface="Arial"/>
                <a:cs typeface="Arial"/>
              </a:rPr>
              <a:t>Set separate service targets and track monthly median alongside averages.</a:t>
            </a:r>
          </a:p>
        </p:txBody>
      </p:sp>
    </p:spTree>
    <p:extLst>
      <p:ext uri="{BB962C8B-B14F-4D97-AF65-F5344CB8AC3E}">
        <p14:creationId xmlns:p14="http://schemas.microsoft.com/office/powerpoint/2010/main" val="1400562341"/>
      </p:ext>
    </p:extLst>
  </p:cSld>
</p:sld>
</file>

<file path=ppt/slides/slide1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9028435-0E6A-461A-885D-9392EDC25299}"/>
              </a:ext>
            </a:extLst>
          </p:cNvPr>
          <p:cNvSpPr>
            <a:spLocks xmlns:a="http://schemas.openxmlformats.org/drawingml/2006/main" noGrp="1"/>
          </p:cNvSpPr>
          <p:nvPr/>
        </p:nvSpPr>
        <p:spPr>
          <a:xfrm xmlns:a="http://schemas.openxmlformats.org/drawingml/2006/main">
            <a:off x="609600" y="3619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925" b="1" i="0">
                <a:solidFill>
                  <a:srgbClr val="102A43"/>
                </a:solidFill>
                <a:latin typeface="Arial"/>
                <a:ea typeface="Arial"/>
                <a:cs typeface="Arial"/>
              </a:defRPr>
            </a:defPPr>
          </a:lstStyle>
          <a:p xmlns:a="http://schemas.openxmlformats.org/drawingml/2006/main">
            <a:pPr algn="l">
              <a:defRPr sz="2925" b="1" i="0">
                <a:solidFill>
                  <a:srgbClr val="102A43"/>
                </a:solidFill>
                <a:latin typeface="Arial"/>
                <a:ea typeface="Arial"/>
                <a:cs typeface="Arial"/>
              </a:defRPr>
            </a:pPr>
            <a:r>
              <a:rPr sz="2925" b="1" i="0">
                <a:solidFill>
                  <a:srgbClr val="102A43"/>
                </a:solidFill>
                <a:latin typeface="Arial"/>
                <a:ea typeface="Arial"/>
                <a:cs typeface="Arial"/>
              </a:rPr>
              <a:t>Average recorded treatment cost by payment method</a:t>
            </a:r>
          </a:p>
        </p:txBody>
      </p:sp>
      <p:sp>
        <p:nvSpPr>
          <p:cNvPr id="2" name="">
            <a:extLst xmlns:a="http://schemas.openxmlformats.org/drawingml/2006/main">
              <a:ext uri="{FF2B5EF4-FFF2-40B4-BE49-F238E27FC236}">
                <a16:creationId xmlns:a16="http://schemas.microsoft.com/office/drawing/2014/main" id="{A7C806D5-F43C-4EF4-B9A7-564D07CFF536}"/>
              </a:ext>
            </a:extLst>
          </p:cNvPr>
          <p:cNvSpPr>
            <a:spLocks xmlns:a="http://schemas.openxmlformats.org/drawingml/2006/main" noGrp="1"/>
          </p:cNvSpPr>
          <p:nvPr/>
        </p:nvSpPr>
        <p:spPr>
          <a:xfrm xmlns:a="http://schemas.openxmlformats.org/drawingml/2006/main">
            <a:off x="628650" y="895350"/>
            <a:ext cx="10934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627D98"/>
                </a:solidFill>
                <a:latin typeface="Arial"/>
                <a:ea typeface="Arial"/>
                <a:cs typeface="Arial"/>
              </a:defRPr>
            </a:defPPr>
          </a:lstStyle>
          <a:p xmlns:a="http://schemas.openxmlformats.org/drawingml/2006/main">
            <a:pPr algn="l">
              <a:defRPr sz="1275" b="0" i="0">
                <a:solidFill>
                  <a:srgbClr val="627D98"/>
                </a:solidFill>
                <a:latin typeface="Arial"/>
                <a:ea typeface="Arial"/>
                <a:cs typeface="Arial"/>
              </a:defRPr>
            </a:pPr>
            <a:r>
              <a:rPr sz="1275" b="0" i="0">
                <a:solidFill>
                  <a:srgbClr val="627D98"/>
                </a:solidFill>
                <a:latin typeface="Arial"/>
                <a:ea typeface="Arial"/>
                <a:cs typeface="Arial"/>
              </a:rPr>
              <a:t>Horizontal bar chart  |  INR per record</a:t>
            </a:r>
          </a:p>
        </p:txBody>
      </p:sp>
      <p:sp>
        <p:nvSpPr>
          <p:cNvPr id="3" name="">
            <a:extLst xmlns:a="http://schemas.openxmlformats.org/drawingml/2006/main">
              <a:ext uri="{FF2B5EF4-FFF2-40B4-BE49-F238E27FC236}">
                <a16:creationId xmlns:a16="http://schemas.microsoft.com/office/drawing/2014/main" id="{00601EFB-4588-4363-B6A8-55CFBC3FA181}"/>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090AFCF-A3A3-4B18-AE40-223137C2A99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9AEC32E-7943-4A23-BEC4-28E1D3D2D1DB}"/>
              </a:ext>
            </a:extLst>
          </p:cNvPr>
          <p:cNvSpPr>
            <a:spLocks xmlns:a="http://schemas.openxmlformats.org/drawingml/2006/main" noGrp="1"/>
          </p:cNvSpPr>
          <p:nvPr/>
        </p:nvSpPr>
        <p:spPr>
          <a:xfrm xmlns:a="http://schemas.openxmlformats.org/drawingml/2006/main">
            <a:off x="609600" y="649605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900" b="1" i="0">
                <a:solidFill>
                  <a:srgbClr val="627D98"/>
                </a:solidFill>
                <a:latin typeface="Arial"/>
                <a:ea typeface="Arial"/>
                <a:cs typeface="Arial"/>
              </a:defRPr>
            </a:defPPr>
          </a:lstStyle>
          <a:p xmlns:a="http://schemas.openxmlformats.org/drawingml/2006/main">
            <a:pPr algn="l">
              <a:defRPr sz="900" b="1" i="0">
                <a:solidFill>
                  <a:srgbClr val="627D98"/>
                </a:solidFill>
                <a:latin typeface="Arial"/>
                <a:ea typeface="Arial"/>
                <a:cs typeface="Arial"/>
              </a:defRPr>
            </a:pPr>
            <a:r>
              <a:rPr sz="900" b="1" i="0">
                <a:solidFill>
                  <a:srgbClr val="627D98"/>
                </a:solidFill>
                <a:latin typeface="Arial"/>
                <a:ea typeface="Arial"/>
                <a:cs typeface="Arial"/>
              </a:rPr>
              <a:t>HOSPITAL PATIENT ANALYTICS  /  JUNE 2026</a:t>
            </a:r>
          </a:p>
        </p:txBody>
      </p:sp>
      <p:sp>
        <p:nvSpPr>
          <p:cNvPr id="6" name="">
            <a:extLst xmlns:a="http://schemas.openxmlformats.org/drawingml/2006/main">
              <a:ext uri="{FF2B5EF4-FFF2-40B4-BE49-F238E27FC236}">
                <a16:creationId xmlns:a16="http://schemas.microsoft.com/office/drawing/2014/main" id="{90AE37A4-5415-4314-BFDA-675931846B87}"/>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r">
              <a:defRPr sz="1050" b="1" i="0">
                <a:solidFill>
                  <a:srgbClr val="627D98"/>
                </a:solidFill>
                <a:latin typeface="Arial"/>
                <a:ea typeface="Arial"/>
                <a:cs typeface="Arial"/>
              </a:defRPr>
            </a:defPPr>
          </a:lstStyle>
          <a:p xmlns:a="http://schemas.openxmlformats.org/drawingml/2006/main">
            <a:pPr algn="r">
              <a:defRPr sz="1050" b="1" i="0">
                <a:solidFill>
                  <a:srgbClr val="627D98"/>
                </a:solidFill>
                <a:latin typeface="Arial"/>
                <a:ea typeface="Arial"/>
                <a:cs typeface="Arial"/>
              </a:defRPr>
            </a:pPr>
            <a:r>
              <a:rPr sz="1050" b="1" i="0">
                <a:solidFill>
                  <a:srgbClr val="627D98"/>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FC2CF2CA-43D6-43FC-ACED-BF2796421735}"/>
              </a:ext>
            </a:extLst>
          </p:cNvPr>
          <p:cNvSpPr>
            <a:spLocks xmlns:a="http://schemas.openxmlformats.org/drawingml/2006/main" noGrp="1"/>
          </p:cNvSpPr>
          <p:nvPr/>
        </p:nvSpPr>
        <p:spPr>
          <a:xfrm xmlns:a="http://schemas.openxmlformats.org/drawingml/2006/main">
            <a:off x="609600" y="1381125"/>
            <a:ext cx="4095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725" b="1" i="0">
                <a:solidFill>
                  <a:srgbClr val="102A43"/>
                </a:solidFill>
                <a:latin typeface="Arial"/>
                <a:ea typeface="Arial"/>
                <a:cs typeface="Arial"/>
              </a:defRPr>
            </a:defPPr>
          </a:lstStyle>
          <a:p xmlns:a="http://schemas.openxmlformats.org/drawingml/2006/main">
            <a:pPr algn="l">
              <a:defRPr sz="1725" b="1" i="0">
                <a:solidFill>
                  <a:srgbClr val="102A43"/>
                </a:solidFill>
                <a:latin typeface="Arial"/>
                <a:ea typeface="Arial"/>
                <a:cs typeface="Arial"/>
              </a:defRPr>
            </a:pPr>
            <a:r>
              <a:rPr sz="1725" b="1" i="0">
                <a:solidFill>
                  <a:srgbClr val="102A43"/>
                </a:solidFill>
                <a:latin typeface="Arial"/>
                <a:ea typeface="Arial"/>
                <a:cs typeface="Arial"/>
              </a:rPr>
              <a:t>Primary insight</a:t>
            </a:r>
          </a:p>
        </p:txBody>
      </p:sp>
      <p:sp>
        <p:nvSpPr>
          <p:cNvPr id="8" name="">
            <a:extLst xmlns:a="http://schemas.openxmlformats.org/drawingml/2006/main">
              <a:ext uri="{FF2B5EF4-FFF2-40B4-BE49-F238E27FC236}">
                <a16:creationId xmlns:a16="http://schemas.microsoft.com/office/drawing/2014/main" id="{725CF516-FEDC-4483-BD2A-C2835AB5D213}"/>
              </a:ext>
            </a:extLst>
          </p:cNvPr>
          <p:cNvSpPr>
            <a:spLocks xmlns:a="http://schemas.openxmlformats.org/drawingml/2006/main" noGrp="1"/>
          </p:cNvSpPr>
          <p:nvPr/>
        </p:nvSpPr>
        <p:spPr>
          <a:xfrm xmlns:a="http://schemas.openxmlformats.org/drawingml/2006/main">
            <a:off x="609600" y="1943100"/>
            <a:ext cx="4095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00" b="0" i="0">
                <a:solidFill>
                  <a:srgbClr val="183B56"/>
                </a:solidFill>
                <a:latin typeface="Arial"/>
                <a:ea typeface="Arial"/>
                <a:cs typeface="Arial"/>
              </a:defRPr>
            </a:defPPr>
          </a:lstStyle>
          <a:p xmlns:a="http://schemas.openxmlformats.org/drawingml/2006/main">
            <a:pPr algn="l">
              <a:defRPr sz="1500" b="0" i="0">
                <a:solidFill>
                  <a:srgbClr val="183B56"/>
                </a:solidFill>
                <a:latin typeface="Arial"/>
                <a:ea typeface="Arial"/>
                <a:cs typeface="Arial"/>
              </a:defRPr>
            </a:pPr>
            <a:r>
              <a:rPr sz="1500" b="0" i="0">
                <a:solidFill>
                  <a:srgbClr val="183B56"/>
                </a:solidFill>
                <a:latin typeface="Arial"/>
                <a:ea typeface="Arial"/>
                <a:cs typeface="Arial"/>
              </a:rPr>
              <a:t>Average recorded cost varies by payment label and case mix.</a:t>
            </a:r>
          </a:p>
        </p:txBody>
      </p:sp>
      <p:sp>
        <p:nvSpPr>
          <p:cNvPr id="9" name="">
            <a:extLst xmlns:a="http://schemas.openxmlformats.org/drawingml/2006/main">
              <a:ext uri="{FF2B5EF4-FFF2-40B4-BE49-F238E27FC236}">
                <a16:creationId xmlns:a16="http://schemas.microsoft.com/office/drawing/2014/main" id="{62ED5C3C-6818-48A1-B4D4-6F31F49048F7}"/>
              </a:ext>
            </a:extLst>
          </p:cNvPr>
          <p:cNvSpPr>
            <a:spLocks xmlns:a="http://schemas.openxmlformats.org/drawingml/2006/main" noGrp="1"/>
          </p:cNvSpPr>
          <p:nvPr/>
        </p:nvSpPr>
        <p:spPr>
          <a:xfrm xmlns:a="http://schemas.openxmlformats.org/drawingml/2006/main">
            <a:off x="609600" y="27813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087E8B"/>
                </a:solidFill>
                <a:latin typeface="Arial"/>
                <a:ea typeface="Arial"/>
                <a:cs typeface="Arial"/>
              </a:defRPr>
            </a:defPPr>
          </a:lstStyle>
          <a:p xmlns:a="http://schemas.openxmlformats.org/drawingml/2006/main">
            <a:pPr algn="l">
              <a:defRPr sz="1050" b="1" i="0">
                <a:solidFill>
                  <a:srgbClr val="087E8B"/>
                </a:solidFill>
                <a:latin typeface="Arial"/>
                <a:ea typeface="Arial"/>
                <a:cs typeface="Arial"/>
              </a:defRPr>
            </a:pPr>
            <a:r>
              <a:rPr sz="1050" b="1" i="0">
                <a:solidFill>
                  <a:srgbClr val="087E8B"/>
                </a:solidFill>
                <a:latin typeface="Arial"/>
                <a:ea typeface="Arial"/>
                <a:cs typeface="Arial"/>
              </a:rPr>
              <a:t>KEY OBSERVATIONS</a:t>
            </a:r>
          </a:p>
        </p:txBody>
      </p:sp>
      <p:sp>
        <p:nvSpPr>
          <p:cNvPr id="10" name="">
            <a:extLst xmlns:a="http://schemas.openxmlformats.org/drawingml/2006/main">
              <a:ext uri="{FF2B5EF4-FFF2-40B4-BE49-F238E27FC236}">
                <a16:creationId xmlns:a16="http://schemas.microsoft.com/office/drawing/2014/main" id="{F050B35A-6A15-47FE-9236-A67B6C8209A4}"/>
              </a:ext>
            </a:extLst>
          </p:cNvPr>
          <p:cNvSpPr>
            <a:spLocks xmlns:a="http://schemas.openxmlformats.org/drawingml/2006/main" noGrp="1"/>
          </p:cNvSpPr>
          <p:nvPr/>
        </p:nvSpPr>
        <p:spPr>
          <a:xfrm xmlns:a="http://schemas.openxmlformats.org/drawingml/2006/main">
            <a:off x="609600" y="3086100"/>
            <a:ext cx="400050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a:solidFill>
                  <a:srgbClr val="183B56"/>
                </a:solidFill>
                <a:latin typeface="Arial"/>
                <a:ea typeface="Arial"/>
                <a:cs typeface="Arial"/>
              </a:defRPr>
            </a:defPPr>
          </a:lstStyle>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Insurance: ₹88,064 average; credit card: ₹40,767.</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Debit: ₹22,327; UPI: ₹9,272; cash: ₹7,157.</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Averages may reflect service mix and high-cost cases.</a:t>
            </a:r>
          </a:p>
        </p:txBody>
      </p:sp>
      <p:sp>
        <p:nvSpPr>
          <p:cNvPr id="11" name="">
            <a:extLst xmlns:a="http://schemas.openxmlformats.org/drawingml/2006/main">
              <a:ext uri="{FF2B5EF4-FFF2-40B4-BE49-F238E27FC236}">
                <a16:creationId xmlns:a16="http://schemas.microsoft.com/office/drawing/2014/main" id="{A6D22235-FCCC-45E0-817C-361A443C5188}"/>
              </a:ext>
            </a:extLst>
          </p:cNvPr>
          <p:cNvSpPr>
            <a:spLocks xmlns:a="http://schemas.openxmlformats.org/drawingml/2006/main" noGrp="1"/>
          </p:cNvSpPr>
          <p:nvPr/>
        </p:nvSpPr>
        <p:spPr>
          <a:xfrm xmlns:a="http://schemas.openxmlformats.org/drawingml/2006/main">
            <a:off x="5105400" y="1438275"/>
            <a:ext cx="9525" cy="40957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graphicFrame>
        <p:nvGraphicFramePr>
          <p:cNvPr id="12" name="Chart">
            <a:extLst xmlns:a="http://schemas.openxmlformats.org/drawingml/2006/main">
              <a:ext uri="{FF2B5EF4-FFF2-40B4-BE49-F238E27FC236}">
                <a16:creationId xmlns:a16="http://schemas.microsoft.com/office/drawing/2014/main" id="{BB09D6B5-F70C-41AD-9AD3-F4767A670873}"/>
              </a:ext>
            </a:extLst>
          </p:cNvPr>
          <p:cNvGraphicFramePr/>
          <p:nvPr/>
        </p:nvGraphicFramePr>
        <p:xfrm>
          <a:off xmlns:a="http://schemas.openxmlformats.org/drawingml/2006/main" x="5334000" y="1466850"/>
          <a:ext xmlns:a="http://schemas.openxmlformats.org/drawingml/2006/main" cx="6143625" cy="3733800"/>
        </p:xfrm>
        <a:graphic xmlns:a="http://schemas.openxmlformats.org/drawingml/2006/main">
          <a:graphicData uri="http://schemas.openxmlformats.org/drawingml/2006/chart">
            <c:chart xmlns:r="http://schemas.openxmlformats.org/officeDocument/2006/relationships" xmlns:c="http://schemas.openxmlformats.org/drawingml/2006/chart" r:id="R301706ae24274c19"/>
          </a:graphicData>
        </a:graphic>
      </p:graphicFrame>
      <p:sp>
        <p:nvSpPr>
          <p:cNvPr id="13" name="">
            <a:extLst xmlns:a="http://schemas.openxmlformats.org/drawingml/2006/main">
              <a:ext uri="{FF2B5EF4-FFF2-40B4-BE49-F238E27FC236}">
                <a16:creationId xmlns:a16="http://schemas.microsoft.com/office/drawing/2014/main" id="{74A5883F-FE87-488F-BFF8-0E99116E569B}"/>
              </a:ext>
            </a:extLst>
          </p:cNvPr>
          <p:cNvSpPr>
            <a:spLocks xmlns:a="http://schemas.openxmlformats.org/drawingml/2006/main" noGrp="1"/>
          </p:cNvSpPr>
          <p:nvPr/>
        </p:nvSpPr>
        <p:spPr>
          <a:xfrm xmlns:a="http://schemas.openxmlformats.org/drawingml/2006/main">
            <a:off x="609600" y="5314950"/>
            <a:ext cx="109728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2625CFC-427D-4C76-9398-689BD0290F2A}"/>
              </a:ext>
            </a:extLst>
          </p:cNvPr>
          <p:cNvSpPr>
            <a:spLocks xmlns:a="http://schemas.openxmlformats.org/drawingml/2006/main" noGrp="1"/>
          </p:cNvSpPr>
          <p:nvPr/>
        </p:nvSpPr>
        <p:spPr>
          <a:xfrm xmlns:a="http://schemas.openxmlformats.org/drawingml/2006/main">
            <a:off x="609600" y="54673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087E8B"/>
                </a:solidFill>
                <a:latin typeface="Arial"/>
                <a:ea typeface="Arial"/>
                <a:cs typeface="Arial"/>
              </a:defRPr>
            </a:defPPr>
          </a:lstStyle>
          <a:p xmlns:a="http://schemas.openxmlformats.org/drawingml/2006/main">
            <a:pPr algn="l">
              <a:defRPr sz="1050" b="1" i="0">
                <a:solidFill>
                  <a:srgbClr val="087E8B"/>
                </a:solidFill>
                <a:latin typeface="Arial"/>
                <a:ea typeface="Arial"/>
                <a:cs typeface="Arial"/>
              </a:defRPr>
            </a:pPr>
            <a:r>
              <a:rPr sz="1050" b="1" i="0">
                <a:solidFill>
                  <a:srgbClr val="087E8B"/>
                </a:solidFill>
                <a:latin typeface="Arial"/>
                <a:ea typeface="Arial"/>
                <a:cs typeface="Arial"/>
              </a:rPr>
              <a:t>DECISION IMPLICATION</a:t>
            </a:r>
          </a:p>
        </p:txBody>
      </p:sp>
      <p:sp>
        <p:nvSpPr>
          <p:cNvPr id="15" name="">
            <a:extLst xmlns:a="http://schemas.openxmlformats.org/drawingml/2006/main">
              <a:ext uri="{FF2B5EF4-FFF2-40B4-BE49-F238E27FC236}">
                <a16:creationId xmlns:a16="http://schemas.microsoft.com/office/drawing/2014/main" id="{3F1C116B-4EB7-4E85-AB71-3AF2CB2B258F}"/>
              </a:ext>
            </a:extLst>
          </p:cNvPr>
          <p:cNvSpPr>
            <a:spLocks xmlns:a="http://schemas.openxmlformats.org/drawingml/2006/main" noGrp="1"/>
          </p:cNvSpPr>
          <p:nvPr/>
        </p:nvSpPr>
        <p:spPr>
          <a:xfrm xmlns:a="http://schemas.openxmlformats.org/drawingml/2006/main">
            <a:off x="2762250" y="5410200"/>
            <a:ext cx="8820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75" b="1" i="0">
                <a:solidFill>
                  <a:srgbClr val="102A43"/>
                </a:solidFill>
                <a:latin typeface="Arial"/>
                <a:ea typeface="Arial"/>
                <a:cs typeface="Arial"/>
              </a:defRPr>
            </a:defPPr>
          </a:lstStyle>
          <a:p xmlns:a="http://schemas.openxmlformats.org/drawingml/2006/main">
            <a:pPr algn="l">
              <a:defRPr sz="1575" b="1" i="0">
                <a:solidFill>
                  <a:srgbClr val="102A43"/>
                </a:solidFill>
                <a:latin typeface="Arial"/>
                <a:ea typeface="Arial"/>
                <a:cs typeface="Arial"/>
              </a:defRPr>
            </a:pPr>
            <a:r>
              <a:rPr sz="1575" b="1" i="0">
                <a:solidFill>
                  <a:srgbClr val="102A43"/>
                </a:solidFill>
                <a:latin typeface="Arial"/>
                <a:ea typeface="Arial"/>
                <a:cs typeface="Arial"/>
              </a:rPr>
              <a:t>Compare payment categories within service type before drawing conclusions.</a:t>
            </a:r>
          </a:p>
        </p:txBody>
      </p:sp>
    </p:spTree>
    <p:extLst>
      <p:ext uri="{BB962C8B-B14F-4D97-AF65-F5344CB8AC3E}">
        <p14:creationId xmlns:p14="http://schemas.microsoft.com/office/powerpoint/2010/main" val="9798363"/>
      </p:ext>
    </p:extLst>
  </p:cSld>
</p:sld>
</file>

<file path=ppt/slides/slide1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06D872E-AA24-4579-A77D-AD92A475BA9E}"/>
              </a:ext>
            </a:extLst>
          </p:cNvPr>
          <p:cNvSpPr>
            <a:spLocks xmlns:a="http://schemas.openxmlformats.org/drawingml/2006/main" noGrp="1"/>
          </p:cNvSpPr>
          <p:nvPr/>
        </p:nvSpPr>
        <p:spPr>
          <a:xfrm xmlns:a="http://schemas.openxmlformats.org/drawingml/2006/main">
            <a:off x="609600" y="3619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925" b="1" i="0">
                <a:solidFill>
                  <a:srgbClr val="102A43"/>
                </a:solidFill>
                <a:latin typeface="Arial"/>
                <a:ea typeface="Arial"/>
                <a:cs typeface="Arial"/>
              </a:defRPr>
            </a:defPPr>
          </a:lstStyle>
          <a:p xmlns:a="http://schemas.openxmlformats.org/drawingml/2006/main">
            <a:pPr algn="l">
              <a:defRPr sz="2925" b="1" i="0">
                <a:solidFill>
                  <a:srgbClr val="102A43"/>
                </a:solidFill>
                <a:latin typeface="Arial"/>
                <a:ea typeface="Arial"/>
                <a:cs typeface="Arial"/>
              </a:defRPr>
            </a:pPr>
            <a:r>
              <a:rPr sz="2925" b="1" i="0">
                <a:solidFill>
                  <a:srgbClr val="102A43"/>
                </a:solidFill>
                <a:latin typeface="Arial"/>
                <a:ea typeface="Arial"/>
                <a:cs typeface="Arial"/>
              </a:rPr>
              <a:t>Emergency records by insurance status</a:t>
            </a:r>
          </a:p>
        </p:txBody>
      </p:sp>
      <p:sp>
        <p:nvSpPr>
          <p:cNvPr id="2" name="">
            <a:extLst xmlns:a="http://schemas.openxmlformats.org/drawingml/2006/main">
              <a:ext uri="{FF2B5EF4-FFF2-40B4-BE49-F238E27FC236}">
                <a16:creationId xmlns:a16="http://schemas.microsoft.com/office/drawing/2014/main" id="{C37B8172-B994-40A0-99DA-35152A480A18}"/>
              </a:ext>
            </a:extLst>
          </p:cNvPr>
          <p:cNvSpPr>
            <a:spLocks xmlns:a="http://schemas.openxmlformats.org/drawingml/2006/main" noGrp="1"/>
          </p:cNvSpPr>
          <p:nvPr/>
        </p:nvSpPr>
        <p:spPr>
          <a:xfrm xmlns:a="http://schemas.openxmlformats.org/drawingml/2006/main">
            <a:off x="628650" y="895350"/>
            <a:ext cx="10934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627D98"/>
                </a:solidFill>
                <a:latin typeface="Arial"/>
                <a:ea typeface="Arial"/>
                <a:cs typeface="Arial"/>
              </a:defRPr>
            </a:defPPr>
          </a:lstStyle>
          <a:p xmlns:a="http://schemas.openxmlformats.org/drawingml/2006/main">
            <a:pPr algn="l">
              <a:defRPr sz="1275" b="0" i="0">
                <a:solidFill>
                  <a:srgbClr val="627D98"/>
                </a:solidFill>
                <a:latin typeface="Arial"/>
                <a:ea typeface="Arial"/>
                <a:cs typeface="Arial"/>
              </a:defRPr>
            </a:pPr>
            <a:r>
              <a:rPr sz="1275" b="0" i="0">
                <a:solidFill>
                  <a:srgbClr val="627D98"/>
                </a:solidFill>
                <a:latin typeface="Arial"/>
                <a:ea typeface="Arial"/>
                <a:cs typeface="Arial"/>
              </a:rPr>
              <a:t>Horizontal bar chart  |  Average records per day, June 2026</a:t>
            </a:r>
          </a:p>
        </p:txBody>
      </p:sp>
      <p:sp>
        <p:nvSpPr>
          <p:cNvPr id="3" name="">
            <a:extLst xmlns:a="http://schemas.openxmlformats.org/drawingml/2006/main">
              <a:ext uri="{FF2B5EF4-FFF2-40B4-BE49-F238E27FC236}">
                <a16:creationId xmlns:a16="http://schemas.microsoft.com/office/drawing/2014/main" id="{BE48B387-9C6B-4A6B-B9E6-9DA94E583FA2}"/>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0C7E236-0C46-4DD8-92F1-BB214C939F4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C440D32-4087-4B10-9E20-4E3F708480CE}"/>
              </a:ext>
            </a:extLst>
          </p:cNvPr>
          <p:cNvSpPr>
            <a:spLocks xmlns:a="http://schemas.openxmlformats.org/drawingml/2006/main" noGrp="1"/>
          </p:cNvSpPr>
          <p:nvPr/>
        </p:nvSpPr>
        <p:spPr>
          <a:xfrm xmlns:a="http://schemas.openxmlformats.org/drawingml/2006/main">
            <a:off x="609600" y="649605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900" b="1" i="0">
                <a:solidFill>
                  <a:srgbClr val="627D98"/>
                </a:solidFill>
                <a:latin typeface="Arial"/>
                <a:ea typeface="Arial"/>
                <a:cs typeface="Arial"/>
              </a:defRPr>
            </a:defPPr>
          </a:lstStyle>
          <a:p xmlns:a="http://schemas.openxmlformats.org/drawingml/2006/main">
            <a:pPr algn="l">
              <a:defRPr sz="900" b="1" i="0">
                <a:solidFill>
                  <a:srgbClr val="627D98"/>
                </a:solidFill>
                <a:latin typeface="Arial"/>
                <a:ea typeface="Arial"/>
                <a:cs typeface="Arial"/>
              </a:defRPr>
            </a:pPr>
            <a:r>
              <a:rPr sz="900" b="1" i="0">
                <a:solidFill>
                  <a:srgbClr val="627D98"/>
                </a:solidFill>
                <a:latin typeface="Arial"/>
                <a:ea typeface="Arial"/>
                <a:cs typeface="Arial"/>
              </a:rPr>
              <a:t>HOSPITAL PATIENT ANALYTICS  /  JUNE 2026</a:t>
            </a:r>
          </a:p>
        </p:txBody>
      </p:sp>
      <p:sp>
        <p:nvSpPr>
          <p:cNvPr id="6" name="">
            <a:extLst xmlns:a="http://schemas.openxmlformats.org/drawingml/2006/main">
              <a:ext uri="{FF2B5EF4-FFF2-40B4-BE49-F238E27FC236}">
                <a16:creationId xmlns:a16="http://schemas.microsoft.com/office/drawing/2014/main" id="{997CD020-44F5-42F0-BE71-8588E474FA32}"/>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r">
              <a:defRPr sz="1050" b="1" i="0">
                <a:solidFill>
                  <a:srgbClr val="627D98"/>
                </a:solidFill>
                <a:latin typeface="Arial"/>
                <a:ea typeface="Arial"/>
                <a:cs typeface="Arial"/>
              </a:defRPr>
            </a:defPPr>
          </a:lstStyle>
          <a:p xmlns:a="http://schemas.openxmlformats.org/drawingml/2006/main">
            <a:pPr algn="r">
              <a:defRPr sz="1050" b="1" i="0">
                <a:solidFill>
                  <a:srgbClr val="627D98"/>
                </a:solidFill>
                <a:latin typeface="Arial"/>
                <a:ea typeface="Arial"/>
                <a:cs typeface="Arial"/>
              </a:defRPr>
            </a:pPr>
            <a:r>
              <a:rPr sz="1050" b="1" i="0">
                <a:solidFill>
                  <a:srgbClr val="627D98"/>
                </a:solidFill>
                <a:latin typeface="Arial"/>
                <a:ea typeface="Arial"/>
                <a:cs typeface="Arial"/>
              </a:rPr>
              <a:t>13</a:t>
            </a:r>
          </a:p>
        </p:txBody>
      </p:sp>
      <p:sp>
        <p:nvSpPr>
          <p:cNvPr id="7" name="">
            <a:extLst xmlns:a="http://schemas.openxmlformats.org/drawingml/2006/main">
              <a:ext uri="{FF2B5EF4-FFF2-40B4-BE49-F238E27FC236}">
                <a16:creationId xmlns:a16="http://schemas.microsoft.com/office/drawing/2014/main" id="{88368B42-CEA0-4ABE-BF04-D6133F07D82D}"/>
              </a:ext>
            </a:extLst>
          </p:cNvPr>
          <p:cNvSpPr>
            <a:spLocks xmlns:a="http://schemas.openxmlformats.org/drawingml/2006/main" noGrp="1"/>
          </p:cNvSpPr>
          <p:nvPr/>
        </p:nvSpPr>
        <p:spPr>
          <a:xfrm xmlns:a="http://schemas.openxmlformats.org/drawingml/2006/main">
            <a:off x="609600" y="1381125"/>
            <a:ext cx="4095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725" b="1" i="0">
                <a:solidFill>
                  <a:srgbClr val="102A43"/>
                </a:solidFill>
                <a:latin typeface="Arial"/>
                <a:ea typeface="Arial"/>
                <a:cs typeface="Arial"/>
              </a:defRPr>
            </a:defPPr>
          </a:lstStyle>
          <a:p xmlns:a="http://schemas.openxmlformats.org/drawingml/2006/main">
            <a:pPr algn="l">
              <a:defRPr sz="1725" b="1" i="0">
                <a:solidFill>
                  <a:srgbClr val="102A43"/>
                </a:solidFill>
                <a:latin typeface="Arial"/>
                <a:ea typeface="Arial"/>
                <a:cs typeface="Arial"/>
              </a:defRPr>
            </a:pPr>
            <a:r>
              <a:rPr sz="1725" b="1" i="0">
                <a:solidFill>
                  <a:srgbClr val="102A43"/>
                </a:solidFill>
                <a:latin typeface="Arial"/>
                <a:ea typeface="Arial"/>
                <a:cs typeface="Arial"/>
              </a:rPr>
              <a:t>Primary insight</a:t>
            </a:r>
          </a:p>
        </p:txBody>
      </p:sp>
      <p:sp>
        <p:nvSpPr>
          <p:cNvPr id="8" name="">
            <a:extLst xmlns:a="http://schemas.openxmlformats.org/drawingml/2006/main">
              <a:ext uri="{FF2B5EF4-FFF2-40B4-BE49-F238E27FC236}">
                <a16:creationId xmlns:a16="http://schemas.microsoft.com/office/drawing/2014/main" id="{3F0E5ABF-B03A-4CE7-9807-67696C5CE566}"/>
              </a:ext>
            </a:extLst>
          </p:cNvPr>
          <p:cNvSpPr>
            <a:spLocks xmlns:a="http://schemas.openxmlformats.org/drawingml/2006/main" noGrp="1"/>
          </p:cNvSpPr>
          <p:nvPr/>
        </p:nvSpPr>
        <p:spPr>
          <a:xfrm xmlns:a="http://schemas.openxmlformats.org/drawingml/2006/main">
            <a:off x="609600" y="1943100"/>
            <a:ext cx="4095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00" b="0" i="0">
                <a:solidFill>
                  <a:srgbClr val="183B56"/>
                </a:solidFill>
                <a:latin typeface="Arial"/>
                <a:ea typeface="Arial"/>
                <a:cs typeface="Arial"/>
              </a:defRPr>
            </a:defPPr>
          </a:lstStyle>
          <a:p xmlns:a="http://schemas.openxmlformats.org/drawingml/2006/main">
            <a:pPr algn="l">
              <a:defRPr sz="1500" b="0" i="0">
                <a:solidFill>
                  <a:srgbClr val="183B56"/>
                </a:solidFill>
                <a:latin typeface="Arial"/>
                <a:ea typeface="Arial"/>
                <a:cs typeface="Arial"/>
              </a:defRPr>
            </a:pPr>
            <a:r>
              <a:rPr sz="1500" b="0" i="0">
                <a:solidFill>
                  <a:srgbClr val="183B56"/>
                </a:solidFill>
                <a:latin typeface="Arial"/>
                <a:ea typeface="Arial"/>
                <a:cs typeface="Arial"/>
              </a:rPr>
              <a:t>More daily emergency records are marked uninsured in this extract.</a:t>
            </a:r>
          </a:p>
        </p:txBody>
      </p:sp>
      <p:sp>
        <p:nvSpPr>
          <p:cNvPr id="9" name="">
            <a:extLst xmlns:a="http://schemas.openxmlformats.org/drawingml/2006/main">
              <a:ext uri="{FF2B5EF4-FFF2-40B4-BE49-F238E27FC236}">
                <a16:creationId xmlns:a16="http://schemas.microsoft.com/office/drawing/2014/main" id="{06F4F591-5DB0-48ED-BD31-49825784C422}"/>
              </a:ext>
            </a:extLst>
          </p:cNvPr>
          <p:cNvSpPr>
            <a:spLocks xmlns:a="http://schemas.openxmlformats.org/drawingml/2006/main" noGrp="1"/>
          </p:cNvSpPr>
          <p:nvPr/>
        </p:nvSpPr>
        <p:spPr>
          <a:xfrm xmlns:a="http://schemas.openxmlformats.org/drawingml/2006/main">
            <a:off x="609600" y="27813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087E8B"/>
                </a:solidFill>
                <a:latin typeface="Arial"/>
                <a:ea typeface="Arial"/>
                <a:cs typeface="Arial"/>
              </a:defRPr>
            </a:defPPr>
          </a:lstStyle>
          <a:p xmlns:a="http://schemas.openxmlformats.org/drawingml/2006/main">
            <a:pPr algn="l">
              <a:defRPr sz="1050" b="1" i="0">
                <a:solidFill>
                  <a:srgbClr val="087E8B"/>
                </a:solidFill>
                <a:latin typeface="Arial"/>
                <a:ea typeface="Arial"/>
                <a:cs typeface="Arial"/>
              </a:defRPr>
            </a:pPr>
            <a:r>
              <a:rPr sz="1050" b="1" i="0">
                <a:solidFill>
                  <a:srgbClr val="087E8B"/>
                </a:solidFill>
                <a:latin typeface="Arial"/>
                <a:ea typeface="Arial"/>
                <a:cs typeface="Arial"/>
              </a:rPr>
              <a:t>KEY OBSERVATIONS</a:t>
            </a:r>
          </a:p>
        </p:txBody>
      </p:sp>
      <p:sp>
        <p:nvSpPr>
          <p:cNvPr id="10" name="">
            <a:extLst xmlns:a="http://schemas.openxmlformats.org/drawingml/2006/main">
              <a:ext uri="{FF2B5EF4-FFF2-40B4-BE49-F238E27FC236}">
                <a16:creationId xmlns:a16="http://schemas.microsoft.com/office/drawing/2014/main" id="{C96326A1-5F51-4821-A141-3296A9FCF136}"/>
              </a:ext>
            </a:extLst>
          </p:cNvPr>
          <p:cNvSpPr>
            <a:spLocks xmlns:a="http://schemas.openxmlformats.org/drawingml/2006/main" noGrp="1"/>
          </p:cNvSpPr>
          <p:nvPr/>
        </p:nvSpPr>
        <p:spPr>
          <a:xfrm xmlns:a="http://schemas.openxmlformats.org/drawingml/2006/main">
            <a:off x="609600" y="3086100"/>
            <a:ext cx="400050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a:solidFill>
                  <a:srgbClr val="183B56"/>
                </a:solidFill>
                <a:latin typeface="Arial"/>
                <a:ea typeface="Arial"/>
                <a:cs typeface="Arial"/>
              </a:defRPr>
            </a:defPPr>
          </a:lstStyle>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Uninsured: 130.9 emergency records per day.</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Insured: 71.8 emergency records per day.</a:t>
            </a:r>
          </a:p>
          <a:p xmlns:a="http://schemas.openxmlformats.org/drawingml/2006/main">
            <a:pPr marL="215900" indent="-114300">
              <a:spcAft>
                <a:spcPts val="900"/>
              </a:spcAft>
              <a:buChar char="•"/>
              <a:defRPr sz="1575">
                <a:solidFill>
                  <a:srgbClr val="183B56"/>
                </a:solidFill>
                <a:latin typeface="Arial"/>
                <a:ea typeface="Arial"/>
                <a:cs typeface="Arial"/>
              </a:defRPr>
            </a:pPr>
            <a:r>
              <a:rPr sz="1575">
                <a:solidFill>
                  <a:srgbClr val="183B56"/>
                </a:solidFill>
                <a:latin typeface="Arial"/>
                <a:ea typeface="Arial"/>
                <a:cs typeface="Arial"/>
              </a:rPr>
              <a:t>Validate insurance capture and case mix before action.</a:t>
            </a:r>
          </a:p>
        </p:txBody>
      </p:sp>
      <p:sp>
        <p:nvSpPr>
          <p:cNvPr id="11" name="">
            <a:extLst xmlns:a="http://schemas.openxmlformats.org/drawingml/2006/main">
              <a:ext uri="{FF2B5EF4-FFF2-40B4-BE49-F238E27FC236}">
                <a16:creationId xmlns:a16="http://schemas.microsoft.com/office/drawing/2014/main" id="{F01AD5ED-26AE-43CD-B7E6-B3BC62006A3F}"/>
              </a:ext>
            </a:extLst>
          </p:cNvPr>
          <p:cNvSpPr>
            <a:spLocks xmlns:a="http://schemas.openxmlformats.org/drawingml/2006/main" noGrp="1"/>
          </p:cNvSpPr>
          <p:nvPr/>
        </p:nvSpPr>
        <p:spPr>
          <a:xfrm xmlns:a="http://schemas.openxmlformats.org/drawingml/2006/main">
            <a:off x="5105400" y="1438275"/>
            <a:ext cx="9525" cy="40957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graphicFrame>
        <p:nvGraphicFramePr>
          <p:cNvPr id="12" name="Chart">
            <a:extLst xmlns:a="http://schemas.openxmlformats.org/drawingml/2006/main">
              <a:ext uri="{FF2B5EF4-FFF2-40B4-BE49-F238E27FC236}">
                <a16:creationId xmlns:a16="http://schemas.microsoft.com/office/drawing/2014/main" id="{4828512A-5CD6-4FF7-94FA-F50BF5A51F0B}"/>
              </a:ext>
            </a:extLst>
          </p:cNvPr>
          <p:cNvGraphicFramePr/>
          <p:nvPr/>
        </p:nvGraphicFramePr>
        <p:xfrm>
          <a:off xmlns:a="http://schemas.openxmlformats.org/drawingml/2006/main" x="5391150" y="1524000"/>
          <a:ext xmlns:a="http://schemas.openxmlformats.org/drawingml/2006/main" cx="6096000" cy="3600450"/>
        </p:xfrm>
        <a:graphic xmlns:a="http://schemas.openxmlformats.org/drawingml/2006/main">
          <a:graphicData uri="http://schemas.openxmlformats.org/drawingml/2006/chart">
            <c:chart xmlns:r="http://schemas.openxmlformats.org/officeDocument/2006/relationships" xmlns:c="http://schemas.openxmlformats.org/drawingml/2006/chart" r:id="Rad6512d4742f480f"/>
          </a:graphicData>
        </a:graphic>
      </p:graphicFrame>
      <p:sp>
        <p:nvSpPr>
          <p:cNvPr id="13" name="">
            <a:extLst xmlns:a="http://schemas.openxmlformats.org/drawingml/2006/main">
              <a:ext uri="{FF2B5EF4-FFF2-40B4-BE49-F238E27FC236}">
                <a16:creationId xmlns:a16="http://schemas.microsoft.com/office/drawing/2014/main" id="{9E113F32-FC4A-4502-A269-063ED450A72D}"/>
              </a:ext>
            </a:extLst>
          </p:cNvPr>
          <p:cNvSpPr>
            <a:spLocks xmlns:a="http://schemas.openxmlformats.org/drawingml/2006/main" noGrp="1"/>
          </p:cNvSpPr>
          <p:nvPr/>
        </p:nvSpPr>
        <p:spPr>
          <a:xfrm xmlns:a="http://schemas.openxmlformats.org/drawingml/2006/main">
            <a:off x="609600" y="5314950"/>
            <a:ext cx="109728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0ED8DB7-0B7F-445D-9476-FD0EB607B1F6}"/>
              </a:ext>
            </a:extLst>
          </p:cNvPr>
          <p:cNvSpPr>
            <a:spLocks xmlns:a="http://schemas.openxmlformats.org/drawingml/2006/main" noGrp="1"/>
          </p:cNvSpPr>
          <p:nvPr/>
        </p:nvSpPr>
        <p:spPr>
          <a:xfrm xmlns:a="http://schemas.openxmlformats.org/drawingml/2006/main">
            <a:off x="609600" y="54673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087E8B"/>
                </a:solidFill>
                <a:latin typeface="Arial"/>
                <a:ea typeface="Arial"/>
                <a:cs typeface="Arial"/>
              </a:defRPr>
            </a:defPPr>
          </a:lstStyle>
          <a:p xmlns:a="http://schemas.openxmlformats.org/drawingml/2006/main">
            <a:pPr algn="l">
              <a:defRPr sz="1050" b="1" i="0">
                <a:solidFill>
                  <a:srgbClr val="087E8B"/>
                </a:solidFill>
                <a:latin typeface="Arial"/>
                <a:ea typeface="Arial"/>
                <a:cs typeface="Arial"/>
              </a:defRPr>
            </a:pPr>
            <a:r>
              <a:rPr sz="1050" b="1" i="0">
                <a:solidFill>
                  <a:srgbClr val="087E8B"/>
                </a:solidFill>
                <a:latin typeface="Arial"/>
                <a:ea typeface="Arial"/>
                <a:cs typeface="Arial"/>
              </a:rPr>
              <a:t>DECISION IMPLICATION</a:t>
            </a:r>
          </a:p>
        </p:txBody>
      </p:sp>
      <p:sp>
        <p:nvSpPr>
          <p:cNvPr id="15" name="">
            <a:extLst xmlns:a="http://schemas.openxmlformats.org/drawingml/2006/main">
              <a:ext uri="{FF2B5EF4-FFF2-40B4-BE49-F238E27FC236}">
                <a16:creationId xmlns:a16="http://schemas.microsoft.com/office/drawing/2014/main" id="{FE8EC989-5E85-4CC7-BD6E-5E5E711D22D9}"/>
              </a:ext>
            </a:extLst>
          </p:cNvPr>
          <p:cNvSpPr>
            <a:spLocks xmlns:a="http://schemas.openxmlformats.org/drawingml/2006/main" noGrp="1"/>
          </p:cNvSpPr>
          <p:nvPr/>
        </p:nvSpPr>
        <p:spPr>
          <a:xfrm xmlns:a="http://schemas.openxmlformats.org/drawingml/2006/main">
            <a:off x="2762250" y="5410200"/>
            <a:ext cx="8820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575" b="1" i="0">
                <a:solidFill>
                  <a:srgbClr val="102A43"/>
                </a:solidFill>
                <a:latin typeface="Arial"/>
                <a:ea typeface="Arial"/>
                <a:cs typeface="Arial"/>
              </a:defRPr>
            </a:defPPr>
          </a:lstStyle>
          <a:p xmlns:a="http://schemas.openxmlformats.org/drawingml/2006/main">
            <a:pPr algn="l">
              <a:defRPr sz="1575" b="1" i="0">
                <a:solidFill>
                  <a:srgbClr val="102A43"/>
                </a:solidFill>
                <a:latin typeface="Arial"/>
                <a:ea typeface="Arial"/>
                <a:cs typeface="Arial"/>
              </a:defRPr>
            </a:pPr>
            <a:r>
              <a:rPr sz="1575" b="1" i="0">
                <a:solidFill>
                  <a:srgbClr val="102A43"/>
                </a:solidFill>
                <a:latin typeface="Arial"/>
                <a:ea typeface="Arial"/>
                <a:cs typeface="Arial"/>
              </a:rPr>
              <a:t>Check insurance completeness and emergency case mix before resource decisions.</a:t>
            </a:r>
          </a:p>
        </p:txBody>
      </p:sp>
    </p:spTree>
    <p:extLst>
      <p:ext uri="{BB962C8B-B14F-4D97-AF65-F5344CB8AC3E}">
        <p14:creationId xmlns:p14="http://schemas.microsoft.com/office/powerpoint/2010/main" val="1000084688"/>
      </p:ext>
    </p:extLst>
  </p:cSld>
</p:sld>
</file>

<file path=ppt/slides/slide1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5C14AAB-89FE-4380-917E-2E134F382F2D}"/>
              </a:ext>
            </a:extLst>
          </p:cNvPr>
          <p:cNvSpPr>
            <a:spLocks xmlns:a="http://schemas.openxmlformats.org/drawingml/2006/main" noGrp="1"/>
          </p:cNvSpPr>
          <p:nvPr/>
        </p:nvSpPr>
        <p:spPr>
          <a:xfrm xmlns:a="http://schemas.openxmlformats.org/drawingml/2006/main">
            <a:off x="609600" y="3619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925" b="1" i="0">
                <a:solidFill>
                  <a:srgbClr val="102A43"/>
                </a:solidFill>
                <a:latin typeface="Arial"/>
                <a:ea typeface="Arial"/>
                <a:cs typeface="Arial"/>
              </a:defRPr>
            </a:defPPr>
          </a:lstStyle>
          <a:p xmlns:a="http://schemas.openxmlformats.org/drawingml/2006/main">
            <a:pPr algn="l">
              <a:defRPr sz="2925" b="1" i="0">
                <a:solidFill>
                  <a:srgbClr val="102A43"/>
                </a:solidFill>
                <a:latin typeface="Arial"/>
                <a:ea typeface="Arial"/>
                <a:cs typeface="Arial"/>
              </a:defRPr>
            </a:pPr>
            <a:r>
              <a:rPr sz="2925" b="1" i="0">
                <a:solidFill>
                  <a:srgbClr val="102A43"/>
                </a:solidFill>
                <a:latin typeface="Arial"/>
                <a:ea typeface="Arial"/>
                <a:cs typeface="Arial"/>
              </a:rPr>
              <a:t>Executive dashboard overview</a:t>
            </a:r>
          </a:p>
        </p:txBody>
      </p:sp>
      <p:sp>
        <p:nvSpPr>
          <p:cNvPr id="2" name="">
            <a:extLst xmlns:a="http://schemas.openxmlformats.org/drawingml/2006/main">
              <a:ext uri="{FF2B5EF4-FFF2-40B4-BE49-F238E27FC236}">
                <a16:creationId xmlns:a16="http://schemas.microsoft.com/office/drawing/2014/main" id="{7F87443E-4D02-45D1-9631-037E5CD0271C}"/>
              </a:ext>
            </a:extLst>
          </p:cNvPr>
          <p:cNvSpPr>
            <a:spLocks xmlns:a="http://schemas.openxmlformats.org/drawingml/2006/main" noGrp="1"/>
          </p:cNvSpPr>
          <p:nvPr/>
        </p:nvSpPr>
        <p:spPr>
          <a:xfrm xmlns:a="http://schemas.openxmlformats.org/drawingml/2006/main">
            <a:off x="628650" y="895350"/>
            <a:ext cx="10934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275" b="0" i="0">
                <a:solidFill>
                  <a:srgbClr val="627D98"/>
                </a:solidFill>
                <a:latin typeface="Arial"/>
                <a:ea typeface="Arial"/>
                <a:cs typeface="Arial"/>
              </a:defRPr>
            </a:defPPr>
          </a:lstStyle>
          <a:p xmlns:a="http://schemas.openxmlformats.org/drawingml/2006/main">
            <a:pPr algn="l">
              <a:defRPr sz="1275" b="0" i="0">
                <a:solidFill>
                  <a:srgbClr val="627D98"/>
                </a:solidFill>
                <a:latin typeface="Arial"/>
                <a:ea typeface="Arial"/>
                <a:cs typeface="Arial"/>
              </a:defRPr>
            </a:pPr>
            <a:r>
              <a:rPr sz="1275" b="0" i="0">
                <a:solidFill>
                  <a:srgbClr val="627D98"/>
                </a:solidFill>
                <a:latin typeface="Arial"/>
                <a:ea typeface="Arial"/>
                <a:cs typeface="Arial"/>
              </a:rPr>
              <a:t>Dashboard screenshots supplied by the user</a:t>
            </a:r>
          </a:p>
        </p:txBody>
      </p:sp>
      <p:sp>
        <p:nvSpPr>
          <p:cNvPr id="3" name="">
            <a:extLst xmlns:a="http://schemas.openxmlformats.org/drawingml/2006/main">
              <a:ext uri="{FF2B5EF4-FFF2-40B4-BE49-F238E27FC236}">
                <a16:creationId xmlns:a16="http://schemas.microsoft.com/office/drawing/2014/main" id="{BBCCF120-92AC-47E0-A8EE-FA83C6B8B510}"/>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D7ECA15-456F-4CA9-B4F4-E54FE0CF225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F992369-E100-4529-8A8B-B2580FB0B124}"/>
              </a:ext>
            </a:extLst>
          </p:cNvPr>
          <p:cNvSpPr>
            <a:spLocks xmlns:a="http://schemas.openxmlformats.org/drawingml/2006/main" noGrp="1"/>
          </p:cNvSpPr>
          <p:nvPr/>
        </p:nvSpPr>
        <p:spPr>
          <a:xfrm xmlns:a="http://schemas.openxmlformats.org/drawingml/2006/main">
            <a:off x="609600" y="649605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900" b="1" i="0">
                <a:solidFill>
                  <a:srgbClr val="627D98"/>
                </a:solidFill>
                <a:latin typeface="Arial"/>
                <a:ea typeface="Arial"/>
                <a:cs typeface="Arial"/>
              </a:defRPr>
            </a:defPPr>
          </a:lstStyle>
          <a:p xmlns:a="http://schemas.openxmlformats.org/drawingml/2006/main">
            <a:pPr algn="l">
              <a:defRPr sz="900" b="1" i="0">
                <a:solidFill>
                  <a:srgbClr val="627D98"/>
                </a:solidFill>
                <a:latin typeface="Arial"/>
                <a:ea typeface="Arial"/>
                <a:cs typeface="Arial"/>
              </a:defRPr>
            </a:pPr>
            <a:r>
              <a:rPr sz="900" b="1" i="0">
                <a:solidFill>
                  <a:srgbClr val="627D98"/>
                </a:solidFill>
                <a:latin typeface="Arial"/>
                <a:ea typeface="Arial"/>
                <a:cs typeface="Arial"/>
              </a:rPr>
              <a:t>HOSPITAL PATIENT ANALYTICS  /  JUNE 2026</a:t>
            </a:r>
          </a:p>
        </p:txBody>
      </p:sp>
      <p:sp>
        <p:nvSpPr>
          <p:cNvPr id="6" name="">
            <a:extLst xmlns:a="http://schemas.openxmlformats.org/drawingml/2006/main">
              <a:ext uri="{FF2B5EF4-FFF2-40B4-BE49-F238E27FC236}">
                <a16:creationId xmlns:a16="http://schemas.microsoft.com/office/drawing/2014/main" id="{46EFB774-71DD-4823-A30C-5FAFCFF94E42}"/>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r">
              <a:defRPr sz="1050" b="1" i="0">
                <a:solidFill>
                  <a:srgbClr val="627D98"/>
                </a:solidFill>
                <a:latin typeface="Arial"/>
                <a:ea typeface="Arial"/>
                <a:cs typeface="Arial"/>
              </a:defRPr>
            </a:defPPr>
          </a:lstStyle>
          <a:p xmlns:a="http://schemas.openxmlformats.org/drawingml/2006/main">
            <a:pPr algn="r">
              <a:defRPr sz="1050" b="1" i="0">
                <a:solidFill>
                  <a:srgbClr val="627D98"/>
                </a:solidFill>
                <a:latin typeface="Arial"/>
                <a:ea typeface="Arial"/>
                <a:cs typeface="Arial"/>
              </a:defRPr>
            </a:pPr>
            <a:r>
              <a:rPr sz="1050" b="1" i="0">
                <a:solidFill>
                  <a:srgbClr val="627D98"/>
                </a:solidFill>
                <a:latin typeface="Arial"/>
                <a:ea typeface="Arial"/>
                <a:cs typeface="Arial"/>
              </a:rPr>
              <a:t>14</a:t>
            </a:r>
          </a:p>
        </p:txBody>
      </p:sp>
      <p:pic>
        <p:nvPicPr>
          <p:cNvPr id="7" name="">
            <a:extLst xmlns:a="http://schemas.openxmlformats.org/drawingml/2006/main">
              <a:ext uri="{FF2B5EF4-FFF2-40B4-BE49-F238E27FC236}">
                <a16:creationId xmlns:a16="http://schemas.microsoft.com/office/drawing/2014/main" id="{995DCF1D-D543-49D4-8AC5-5D665FC896FF}"/>
              </a:ext>
            </a:extLst>
          </p:cNvPr>
          <p:cNvPicPr>
            <a:picLocks xmlns:a="http://schemas.openxmlformats.org/drawingml/2006/main" noChangeAspect="1"/>
          </p:cNvPicPr>
          <p:nvPr/>
        </p:nvPicPr>
        <p:blipFill>
          <a:blip xmlns:r="http://schemas.openxmlformats.org/officeDocument/2006/relationships" xmlns:a="http://schemas.openxmlformats.org/drawingml/2006/main" r:embed="R1ff8deb4a9d7411b"/>
          <a:stretch xmlns:a="http://schemas.openxmlformats.org/drawingml/2006/main"/>
        </p:blipFill>
        <p:spPr>
          <a:xfrm xmlns:a="http://schemas.openxmlformats.org/drawingml/2006/main">
            <a:off x="612012" y="1390650"/>
            <a:ext cx="6091176" cy="38671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9D636E35-90E7-44A8-B75B-9F7D4F7B901A}"/>
              </a:ext>
            </a:extLst>
          </p:cNvPr>
          <p:cNvPicPr>
            <a:picLocks xmlns:a="http://schemas.openxmlformats.org/drawingml/2006/main" noChangeAspect="1"/>
          </p:cNvPicPr>
          <p:nvPr/>
        </p:nvPicPr>
        <p:blipFill>
          <a:blip xmlns:r="http://schemas.openxmlformats.org/officeDocument/2006/relationships" xmlns:a="http://schemas.openxmlformats.org/drawingml/2006/main" r:embed="R342006d4fa69483b"/>
          <a:stretch xmlns:a="http://schemas.openxmlformats.org/drawingml/2006/main"/>
        </p:blipFill>
        <p:spPr>
          <a:xfrm xmlns:a="http://schemas.openxmlformats.org/drawingml/2006/main">
            <a:off x="6819900" y="1393016"/>
            <a:ext cx="4762500" cy="3367118"/>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A3D66C71-A736-489E-9BAD-29BEA4EDA861}"/>
              </a:ext>
            </a:extLst>
          </p:cNvPr>
          <p:cNvPicPr>
            <a:picLocks xmlns:a="http://schemas.openxmlformats.org/drawingml/2006/main" noChangeAspect="1"/>
          </p:cNvPicPr>
          <p:nvPr/>
        </p:nvPicPr>
        <p:blipFill>
          <a:blip xmlns:r="http://schemas.openxmlformats.org/officeDocument/2006/relationships" xmlns:a="http://schemas.openxmlformats.org/drawingml/2006/main" r:embed="R3ba2c5572e824ae6"/>
          <a:stretch xmlns:a="http://schemas.openxmlformats.org/drawingml/2006/main"/>
        </p:blipFill>
        <p:spPr>
          <a:xfrm xmlns:a="http://schemas.openxmlformats.org/drawingml/2006/main">
            <a:off x="6828930" y="4838700"/>
            <a:ext cx="4744441" cy="1076325"/>
          </a:xfrm>
          <a:prstGeom xmlns:a="http://schemas.openxmlformats.org/drawingml/2006/main" prst="rect">
            <a:avLst/>
          </a:prstGeom>
        </p:spPr>
      </p:pic>
    </p:spTree>
    <p:extLst>
      <p:ext uri="{BB962C8B-B14F-4D97-AF65-F5344CB8AC3E}">
        <p14:creationId xmlns:p14="http://schemas.microsoft.com/office/powerpoint/2010/main" val="757791275"/>
      </p:ext>
    </p:extLst>
  </p:cSld>
</p:sld>
</file>

<file path=ppt/slides/slide15.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DEBB624-4A6C-4659-A52B-9E77CDA2A638}"/>
              </a:ext>
            </a:extLst>
          </p:cNvPr>
          <p:cNvSpPr>
            <a:spLocks xmlns:a="http://schemas.openxmlformats.org/drawingml/2006/main" noGrp="1"/>
          </p:cNvSpPr>
          <p:nvPr/>
        </p:nvSpPr>
        <p:spPr>
          <a:xfrm xmlns:a="http://schemas.openxmlformats.org/drawingml/2006/main">
            <a:off x="685800" y="5143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3000" b="1" i="0">
                <a:solidFill>
                  <a:srgbClr val="FFFFFF"/>
                </a:solidFill>
                <a:latin typeface="Arial"/>
                <a:ea typeface="Arial"/>
                <a:cs typeface="Arial"/>
              </a:defRPr>
            </a:defPPr>
          </a:lstStyle>
          <a:p xmlns:a="http://schemas.openxmlformats.org/drawingml/2006/main">
            <a:pPr algn="l">
              <a:defRPr sz="3000" b="1" i="0">
                <a:solidFill>
                  <a:srgbClr val="FFFFFF"/>
                </a:solidFill>
                <a:latin typeface="Arial"/>
                <a:ea typeface="Arial"/>
                <a:cs typeface="Arial"/>
              </a:defRPr>
            </a:pPr>
            <a:r>
              <a:rPr sz="3000" b="1" i="0">
                <a:solidFill>
                  <a:srgbClr val="FFFFFF"/>
                </a:solidFill>
                <a:latin typeface="Arial"/>
                <a:ea typeface="Arial"/>
                <a:cs typeface="Arial"/>
              </a:rPr>
              <a:t>Conclusion &amp; strategic goal</a:t>
            </a:r>
          </a:p>
        </p:txBody>
      </p:sp>
      <p:sp>
        <p:nvSpPr>
          <p:cNvPr id="2" name="">
            <a:extLst xmlns:a="http://schemas.openxmlformats.org/drawingml/2006/main">
              <a:ext uri="{FF2B5EF4-FFF2-40B4-BE49-F238E27FC236}">
                <a16:creationId xmlns:a16="http://schemas.microsoft.com/office/drawing/2014/main" id="{2910AF1C-03C0-4DF4-AD26-55E96C9E3847}"/>
              </a:ext>
            </a:extLst>
          </p:cNvPr>
          <p:cNvSpPr>
            <a:spLocks xmlns:a="http://schemas.openxmlformats.org/drawingml/2006/main" noGrp="1"/>
          </p:cNvSpPr>
          <p:nvPr/>
        </p:nvSpPr>
        <p:spPr>
          <a:xfrm xmlns:a="http://schemas.openxmlformats.org/drawingml/2006/main">
            <a:off x="685800" y="1200150"/>
            <a:ext cx="108204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99722D2-B074-40DF-A7E2-8384F3F8DBA4}"/>
              </a:ext>
            </a:extLst>
          </p:cNvPr>
          <p:cNvSpPr>
            <a:spLocks xmlns:a="http://schemas.openxmlformats.org/drawingml/2006/main" noGrp="1"/>
          </p:cNvSpPr>
          <p:nvPr/>
        </p:nvSpPr>
        <p:spPr>
          <a:xfrm xmlns:a="http://schemas.openxmlformats.org/drawingml/2006/main">
            <a:off x="685800" y="1571625"/>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8BD1D1"/>
                </a:solidFill>
                <a:latin typeface="Arial"/>
                <a:ea typeface="Arial"/>
                <a:cs typeface="Arial"/>
              </a:defRPr>
            </a:defPPr>
          </a:lstStyle>
          <a:p xmlns:a="http://schemas.openxmlformats.org/drawingml/2006/main">
            <a:pPr algn="l">
              <a:defRPr sz="1050" b="1" i="0">
                <a:solidFill>
                  <a:srgbClr val="8BD1D1"/>
                </a:solidFill>
                <a:latin typeface="Arial"/>
                <a:ea typeface="Arial"/>
                <a:cs typeface="Arial"/>
              </a:defRPr>
            </a:pPr>
            <a:r>
              <a:rPr sz="1050" b="1" i="0">
                <a:solidFill>
                  <a:srgbClr val="8BD1D1"/>
                </a:solidFill>
                <a:latin typeface="Arial"/>
                <a:ea typeface="Arial"/>
                <a:cs typeface="Arial"/>
              </a:rPr>
              <a:t>CORE CONCLUSION</a:t>
            </a:r>
          </a:p>
        </p:txBody>
      </p:sp>
      <p:sp>
        <p:nvSpPr>
          <p:cNvPr id="4" name="">
            <a:extLst xmlns:a="http://schemas.openxmlformats.org/drawingml/2006/main">
              <a:ext uri="{FF2B5EF4-FFF2-40B4-BE49-F238E27FC236}">
                <a16:creationId xmlns:a16="http://schemas.microsoft.com/office/drawing/2014/main" id="{4955FD68-EDE2-47A0-975B-CC8B0EAEFCB2}"/>
              </a:ext>
            </a:extLst>
          </p:cNvPr>
          <p:cNvSpPr>
            <a:spLocks xmlns:a="http://schemas.openxmlformats.org/drawingml/2006/main" noGrp="1"/>
          </p:cNvSpPr>
          <p:nvPr/>
        </p:nvSpPr>
        <p:spPr>
          <a:xfrm xmlns:a="http://schemas.openxmlformats.org/drawingml/2006/main">
            <a:off x="685800" y="188595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2175" b="1" i="0">
                <a:solidFill>
                  <a:srgbClr val="FFFFFF"/>
                </a:solidFill>
                <a:latin typeface="Arial"/>
                <a:ea typeface="Arial"/>
                <a:cs typeface="Arial"/>
              </a:defRPr>
            </a:defPPr>
          </a:lstStyle>
          <a:p xmlns:a="http://schemas.openxmlformats.org/drawingml/2006/main">
            <a:pPr algn="l">
              <a:defRPr sz="2175" b="1" i="0">
                <a:solidFill>
                  <a:srgbClr val="FFFFFF"/>
                </a:solidFill>
                <a:latin typeface="Arial"/>
                <a:ea typeface="Arial"/>
                <a:cs typeface="Arial"/>
              </a:defRPr>
            </a:pPr>
            <a:r>
              <a:rPr sz="2175" b="1" i="0">
                <a:solidFill>
                  <a:srgbClr val="FFFFFF"/>
                </a:solidFill>
                <a:latin typeface="Arial"/>
                <a:ea typeface="Arial"/>
                <a:cs typeface="Arial"/>
              </a:rPr>
              <a:t>June provides a one-month baseline; validate reporting anomalies before operational changes.</a:t>
            </a:r>
          </a:p>
        </p:txBody>
      </p:sp>
      <p:sp>
        <p:nvSpPr>
          <p:cNvPr id="5" name="">
            <a:extLst xmlns:a="http://schemas.openxmlformats.org/drawingml/2006/main">
              <a:ext uri="{FF2B5EF4-FFF2-40B4-BE49-F238E27FC236}">
                <a16:creationId xmlns:a16="http://schemas.microsoft.com/office/drawing/2014/main" id="{40A6F6CC-B319-4E83-B324-6A2E7D381522}"/>
              </a:ext>
            </a:extLst>
          </p:cNvPr>
          <p:cNvSpPr>
            <a:spLocks xmlns:a="http://schemas.openxmlformats.org/drawingml/2006/main" noGrp="1"/>
          </p:cNvSpPr>
          <p:nvPr/>
        </p:nvSpPr>
        <p:spPr>
          <a:xfrm xmlns:a="http://schemas.openxmlformats.org/drawingml/2006/main">
            <a:off x="685800" y="3000375"/>
            <a:ext cx="295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8BD1D1"/>
                </a:solidFill>
                <a:latin typeface="Arial"/>
                <a:ea typeface="Arial"/>
                <a:cs typeface="Arial"/>
              </a:defRPr>
            </a:defPPr>
          </a:lstStyle>
          <a:p xmlns:a="http://schemas.openxmlformats.org/drawingml/2006/main">
            <a:pPr algn="l">
              <a:defRPr sz="1050" b="1" i="0">
                <a:solidFill>
                  <a:srgbClr val="8BD1D1"/>
                </a:solidFill>
                <a:latin typeface="Arial"/>
                <a:ea typeface="Arial"/>
                <a:cs typeface="Arial"/>
              </a:defRPr>
            </a:pPr>
            <a:r>
              <a:rPr sz="1050" b="1" i="0">
                <a:solidFill>
                  <a:srgbClr val="8BD1D1"/>
                </a:solidFill>
                <a:latin typeface="Arial"/>
                <a:ea typeface="Arial"/>
                <a:cs typeface="Arial"/>
              </a:rPr>
              <a:t>RECOMMENDED ACTIONS</a:t>
            </a:r>
          </a:p>
        </p:txBody>
      </p:sp>
      <p:sp>
        <p:nvSpPr>
          <p:cNvPr id="6" name="">
            <a:extLst xmlns:a="http://schemas.openxmlformats.org/drawingml/2006/main">
              <a:ext uri="{FF2B5EF4-FFF2-40B4-BE49-F238E27FC236}">
                <a16:creationId xmlns:a16="http://schemas.microsoft.com/office/drawing/2014/main" id="{1D35ADCF-0AAF-4A2D-AD71-5E95A2D3AFEA}"/>
              </a:ext>
            </a:extLst>
          </p:cNvPr>
          <p:cNvSpPr>
            <a:spLocks xmlns:a="http://schemas.openxmlformats.org/drawingml/2006/main" noGrp="1"/>
          </p:cNvSpPr>
          <p:nvPr/>
        </p:nvSpPr>
        <p:spPr>
          <a:xfrm xmlns:a="http://schemas.openxmlformats.org/drawingml/2006/main">
            <a:off x="685800" y="3352800"/>
            <a:ext cx="10287000"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a:solidFill>
                  <a:srgbClr val="FFFFFF"/>
                </a:solidFill>
                <a:latin typeface="Arial"/>
                <a:ea typeface="Arial"/>
                <a:cs typeface="Arial"/>
              </a:defRPr>
            </a:defPPr>
          </a:lstStyle>
          <a:p xmlns:a="http://schemas.openxmlformats.org/drawingml/2006/main">
            <a:pPr marL="215900" indent="-114300">
              <a:spcAft>
                <a:spcPts val="900"/>
              </a:spcAft>
              <a:buChar char="•"/>
              <a:defRPr sz="1650">
                <a:solidFill>
                  <a:srgbClr val="FFFFFF"/>
                </a:solidFill>
                <a:latin typeface="Arial"/>
                <a:ea typeface="Arial"/>
                <a:cs typeface="Arial"/>
              </a:defRPr>
            </a:pPr>
            <a:r>
              <a:rPr sz="1650">
                <a:solidFill>
                  <a:srgbClr val="FFFFFF"/>
                </a:solidFill>
                <a:latin typeface="Arial"/>
                <a:ea typeface="Arial"/>
                <a:cs typeface="Arial"/>
              </a:rPr>
              <a:t>Verify Sunday volume and insurance capture with source-system owners.</a:t>
            </a:r>
          </a:p>
          <a:p xmlns:a="http://schemas.openxmlformats.org/drawingml/2006/main">
            <a:pPr marL="215900" indent="-114300">
              <a:spcAft>
                <a:spcPts val="900"/>
              </a:spcAft>
              <a:buChar char="•"/>
              <a:defRPr sz="1650">
                <a:solidFill>
                  <a:srgbClr val="FFFFFF"/>
                </a:solidFill>
                <a:latin typeface="Arial"/>
                <a:ea typeface="Arial"/>
                <a:cs typeface="Arial"/>
              </a:defRPr>
            </a:pPr>
            <a:r>
              <a:rPr sz="1650">
                <a:solidFill>
                  <a:srgbClr val="FFFFFF"/>
                </a:solidFill>
                <a:latin typeface="Arial"/>
                <a:ea typeface="Arial"/>
                <a:cs typeface="Arial"/>
              </a:rPr>
              <a:t>Segment cost comparisons by service type and clinical severity.</a:t>
            </a:r>
          </a:p>
          <a:p xmlns:a="http://schemas.openxmlformats.org/drawingml/2006/main">
            <a:pPr marL="215900" indent="-114300">
              <a:spcAft>
                <a:spcPts val="900"/>
              </a:spcAft>
              <a:buChar char="•"/>
              <a:defRPr sz="1650">
                <a:solidFill>
                  <a:srgbClr val="FFFFFF"/>
                </a:solidFill>
                <a:latin typeface="Arial"/>
                <a:ea typeface="Arial"/>
                <a:cs typeface="Arial"/>
              </a:defRPr>
            </a:pPr>
            <a:r>
              <a:rPr sz="1650">
                <a:solidFill>
                  <a:srgbClr val="FFFFFF"/>
                </a:solidFill>
                <a:latin typeface="Arial"/>
                <a:ea typeface="Arial"/>
                <a:cs typeface="Arial"/>
              </a:rPr>
              <a:t>Set separate targets for OPD waiting and IPD room allocation.</a:t>
            </a:r>
          </a:p>
        </p:txBody>
      </p:sp>
      <p:sp>
        <p:nvSpPr>
          <p:cNvPr id="7" name="">
            <a:extLst xmlns:a="http://schemas.openxmlformats.org/drawingml/2006/main">
              <a:ext uri="{FF2B5EF4-FFF2-40B4-BE49-F238E27FC236}">
                <a16:creationId xmlns:a16="http://schemas.microsoft.com/office/drawing/2014/main" id="{AC1DACBF-FBDE-48EB-A5F6-C3E7B82F17E6}"/>
              </a:ext>
            </a:extLst>
          </p:cNvPr>
          <p:cNvSpPr>
            <a:spLocks xmlns:a="http://schemas.openxmlformats.org/drawingml/2006/main" noGrp="1"/>
          </p:cNvSpPr>
          <p:nvPr/>
        </p:nvSpPr>
        <p:spPr>
          <a:xfrm xmlns:a="http://schemas.openxmlformats.org/drawingml/2006/main">
            <a:off x="685800" y="5076825"/>
            <a:ext cx="10820400" cy="9525"/>
          </a:xfrm>
          <a:prstGeom xmlns:a="http://schemas.openxmlformats.org/drawingml/2006/main" prst="rect">
            <a:avLst/>
          </a:prstGeom>
          <a:solidFill xmlns:a="http://schemas.openxmlformats.org/drawingml/2006/main">
            <a:srgbClr val="31556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5CBABCD-9FF3-4ACB-B435-9894BBF66D1C}"/>
              </a:ext>
            </a:extLst>
          </p:cNvPr>
          <p:cNvSpPr>
            <a:spLocks xmlns:a="http://schemas.openxmlformats.org/drawingml/2006/main" noGrp="1"/>
          </p:cNvSpPr>
          <p:nvPr/>
        </p:nvSpPr>
        <p:spPr>
          <a:xfrm xmlns:a="http://schemas.openxmlformats.org/drawingml/2006/main">
            <a:off x="685800" y="52863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1" i="0">
                <a:solidFill>
                  <a:srgbClr val="8BD1D1"/>
                </a:solidFill>
                <a:latin typeface="Arial"/>
                <a:ea typeface="Arial"/>
                <a:cs typeface="Arial"/>
              </a:defRPr>
            </a:defPPr>
          </a:lstStyle>
          <a:p xmlns:a="http://schemas.openxmlformats.org/drawingml/2006/main">
            <a:pPr algn="l">
              <a:defRPr sz="1050" b="1" i="0">
                <a:solidFill>
                  <a:srgbClr val="8BD1D1"/>
                </a:solidFill>
                <a:latin typeface="Arial"/>
                <a:ea typeface="Arial"/>
                <a:cs typeface="Arial"/>
              </a:defRPr>
            </a:pPr>
            <a:r>
              <a:rPr sz="1050" b="1" i="0">
                <a:solidFill>
                  <a:srgbClr val="8BD1D1"/>
                </a:solidFill>
                <a:latin typeface="Arial"/>
                <a:ea typeface="Arial"/>
                <a:cs typeface="Arial"/>
              </a:rPr>
              <a:t>DELIVERED</a:t>
            </a:r>
          </a:p>
        </p:txBody>
      </p:sp>
      <p:sp>
        <p:nvSpPr>
          <p:cNvPr id="9" name="">
            <a:extLst xmlns:a="http://schemas.openxmlformats.org/drawingml/2006/main">
              <a:ext uri="{FF2B5EF4-FFF2-40B4-BE49-F238E27FC236}">
                <a16:creationId xmlns:a16="http://schemas.microsoft.com/office/drawing/2014/main" id="{30A38684-FE07-4CCA-8988-9FCB50E7122E}"/>
              </a:ext>
            </a:extLst>
          </p:cNvPr>
          <p:cNvSpPr>
            <a:spLocks xmlns:a="http://schemas.openxmlformats.org/drawingml/2006/main" noGrp="1"/>
          </p:cNvSpPr>
          <p:nvPr/>
        </p:nvSpPr>
        <p:spPr>
          <a:xfrm xmlns:a="http://schemas.openxmlformats.org/drawingml/2006/main">
            <a:off x="685800" y="561975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650" b="1" i="0">
                <a:solidFill>
                  <a:srgbClr val="FFFFFF"/>
                </a:solidFill>
                <a:latin typeface="Arial"/>
                <a:ea typeface="Arial"/>
                <a:cs typeface="Arial"/>
              </a:defRPr>
            </a:defPPr>
          </a:lstStyle>
          <a:p xmlns:a="http://schemas.openxmlformats.org/drawingml/2006/main">
            <a:pPr algn="l">
              <a:defRPr sz="1650" b="1" i="0">
                <a:solidFill>
                  <a:srgbClr val="FFFFFF"/>
                </a:solidFill>
                <a:latin typeface="Arial"/>
                <a:ea typeface="Arial"/>
                <a:cs typeface="Arial"/>
              </a:defRPr>
            </a:pPr>
            <a:r>
              <a:rPr sz="1650" b="1" i="0">
                <a:solidFill>
                  <a:srgbClr val="FFFFFF"/>
                </a:solidFill>
                <a:latin typeface="Arial"/>
                <a:ea typeface="Arial"/>
                <a:cs typeface="Arial"/>
              </a:rPr>
              <a:t>40,596 cleaned records  •  8 dashboard visuals  •  Operational baseline</a:t>
            </a:r>
          </a:p>
        </p:txBody>
      </p:sp>
      <p:sp>
        <p:nvSpPr>
          <p:cNvPr id="10" name="">
            <a:extLst xmlns:a="http://schemas.openxmlformats.org/drawingml/2006/main">
              <a:ext uri="{FF2B5EF4-FFF2-40B4-BE49-F238E27FC236}">
                <a16:creationId xmlns:a16="http://schemas.microsoft.com/office/drawing/2014/main" id="{3AA89CB0-201C-411E-9097-5A1708160BDD}"/>
              </a:ext>
            </a:extLst>
          </p:cNvPr>
          <p:cNvSpPr>
            <a:spLocks xmlns:a="http://schemas.openxmlformats.org/drawingml/2006/main" noGrp="1"/>
          </p:cNvSpPr>
          <p:nvPr/>
        </p:nvSpPr>
        <p:spPr>
          <a:xfrm xmlns:a="http://schemas.openxmlformats.org/drawingml/2006/main">
            <a:off x="685800" y="6153150"/>
            <a:ext cx="1057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defPPr algn="l">
              <a:defRPr sz="1050" b="0" i="0">
                <a:solidFill>
                  <a:srgbClr val="B8C7D5"/>
                </a:solidFill>
                <a:latin typeface="Arial"/>
                <a:ea typeface="Arial"/>
                <a:cs typeface="Arial"/>
              </a:defRPr>
            </a:defPPr>
          </a:lstStyle>
          <a:p xmlns:a="http://schemas.openxmlformats.org/drawingml/2006/main">
            <a:pPr algn="l">
              <a:defRPr sz="1050" b="0" i="0">
                <a:solidFill>
                  <a:srgbClr val="B8C7D5"/>
                </a:solidFill>
                <a:latin typeface="Arial"/>
                <a:ea typeface="Arial"/>
                <a:cs typeface="Arial"/>
              </a:defRPr>
            </a:pPr>
            <a:r>
              <a:rPr sz="1050" b="0" i="0">
                <a:solidFill>
                  <a:srgbClr val="B8C7D5"/>
                </a:solidFill>
                <a:latin typeface="Arial"/>
                <a:ea typeface="Arial"/>
                <a:cs typeface="Arial"/>
              </a:rPr>
              <a:t>No financial savings or outcome improvement is established by this analysis.</a:t>
            </a:r>
          </a:p>
        </p:txBody>
      </p:sp>
    </p:spTree>
    <p:extLst>
      <p:ext uri="{BB962C8B-B14F-4D97-AF65-F5344CB8AC3E}">
        <p14:creationId xmlns:p14="http://schemas.microsoft.com/office/powerpoint/2010/main" val="1832707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2026-10-16T13:49:13.3610000Z</dcterms:created>
  <dcterms:modified xsi:type="dcterms:W3CDTF">2026-10-16T13:49:13.3610000Z</dcterms:modified>
</coreProperties>
</file>